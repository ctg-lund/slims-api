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78" r:id="rId4"/>
  </p:sldMasterIdLst>
  <p:notesMasterIdLst>
    <p:notesMasterId r:id="rId47"/>
  </p:notesMasterIdLst>
  <p:handoutMasterIdLst>
    <p:handoutMasterId r:id="rId48"/>
  </p:handoutMasterIdLst>
  <p:sldIdLst>
    <p:sldId id="257" r:id="rId5"/>
    <p:sldId id="614" r:id="rId6"/>
    <p:sldId id="645" r:id="rId7"/>
    <p:sldId id="647" r:id="rId8"/>
    <p:sldId id="299" r:id="rId9"/>
    <p:sldId id="615" r:id="rId10"/>
    <p:sldId id="328" r:id="rId11"/>
    <p:sldId id="344" r:id="rId12"/>
    <p:sldId id="333" r:id="rId13"/>
    <p:sldId id="644" r:id="rId14"/>
    <p:sldId id="616" r:id="rId15"/>
    <p:sldId id="618" r:id="rId16"/>
    <p:sldId id="619" r:id="rId17"/>
    <p:sldId id="620" r:id="rId18"/>
    <p:sldId id="621" r:id="rId19"/>
    <p:sldId id="622" r:id="rId20"/>
    <p:sldId id="623" r:id="rId21"/>
    <p:sldId id="624" r:id="rId22"/>
    <p:sldId id="625" r:id="rId23"/>
    <p:sldId id="626" r:id="rId24"/>
    <p:sldId id="627" r:id="rId25"/>
    <p:sldId id="628" r:id="rId26"/>
    <p:sldId id="629" r:id="rId27"/>
    <p:sldId id="630" r:id="rId28"/>
    <p:sldId id="631" r:id="rId29"/>
    <p:sldId id="632" r:id="rId30"/>
    <p:sldId id="633" r:id="rId31"/>
    <p:sldId id="634" r:id="rId32"/>
    <p:sldId id="575" r:id="rId33"/>
    <p:sldId id="635" r:id="rId34"/>
    <p:sldId id="636" r:id="rId35"/>
    <p:sldId id="637" r:id="rId36"/>
    <p:sldId id="638" r:id="rId37"/>
    <p:sldId id="639" r:id="rId38"/>
    <p:sldId id="640" r:id="rId39"/>
    <p:sldId id="641" r:id="rId40"/>
    <p:sldId id="648" r:id="rId41"/>
    <p:sldId id="653" r:id="rId42"/>
    <p:sldId id="650" r:id="rId43"/>
    <p:sldId id="651" r:id="rId44"/>
    <p:sldId id="652" r:id="rId45"/>
    <p:sldId id="642"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D96F5A7-BB4C-4E1F-9895-D5A664F960B2}">
          <p14:sldIdLst>
            <p14:sldId id="257"/>
            <p14:sldId id="614"/>
          </p14:sldIdLst>
        </p14:section>
        <p14:section name="Architecture and Technology" id="{0A9375D5-E8BA-4501-B7D3-969ECCC9D7F3}">
          <p14:sldIdLst>
            <p14:sldId id="645"/>
            <p14:sldId id="647"/>
            <p14:sldId id="299"/>
            <p14:sldId id="615"/>
            <p14:sldId id="328"/>
            <p14:sldId id="344"/>
            <p14:sldId id="333"/>
          </p14:sldIdLst>
        </p14:section>
        <p14:section name="Demo of SLIMS Java API" id="{8E887CB5-2235-413F-AF2D-1C901FC564F3}">
          <p14:sldIdLst>
            <p14:sldId id="644"/>
            <p14:sldId id="616"/>
            <p14:sldId id="618"/>
            <p14:sldId id="619"/>
            <p14:sldId id="620"/>
            <p14:sldId id="621"/>
            <p14:sldId id="622"/>
            <p14:sldId id="623"/>
            <p14:sldId id="624"/>
            <p14:sldId id="625"/>
            <p14:sldId id="626"/>
            <p14:sldId id="627"/>
            <p14:sldId id="628"/>
            <p14:sldId id="629"/>
            <p14:sldId id="630"/>
            <p14:sldId id="631"/>
            <p14:sldId id="632"/>
            <p14:sldId id="633"/>
            <p14:sldId id="634"/>
          </p14:sldIdLst>
        </p14:section>
        <p14:section name="Exercises: Try Running It" id="{864C4945-1A02-448D-ADE2-A0BD5FFA674C}">
          <p14:sldIdLst>
            <p14:sldId id="575"/>
            <p14:sldId id="635"/>
            <p14:sldId id="636"/>
            <p14:sldId id="637"/>
            <p14:sldId id="638"/>
            <p14:sldId id="639"/>
            <p14:sldId id="640"/>
            <p14:sldId id="641"/>
          </p14:sldIdLst>
        </p14:section>
        <p14:section name="Best practices" id="{71670EFA-7A5A-468C-9B15-7A141093C743}">
          <p14:sldIdLst>
            <p14:sldId id="648"/>
            <p14:sldId id="653"/>
            <p14:sldId id="650"/>
            <p14:sldId id="651"/>
            <p14:sldId id="652"/>
          </p14:sldIdLst>
        </p14:section>
        <p14:section name="End" id="{C9B98693-4B02-4EEA-AD13-78431C2048D2}">
          <p14:sldIdLst>
            <p14:sldId id="642"/>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guide id="3" orient="horz" pos="2146">
          <p15:clr>
            <a:srgbClr val="A4A3A4"/>
          </p15:clr>
        </p15:guide>
        <p15:guide id="4" pos="2422">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3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AB3"/>
    <a:srgbClr val="C3C5C7"/>
    <a:srgbClr val="000000"/>
    <a:srgbClr val="00426A"/>
    <a:srgbClr val="E2EEF5"/>
    <a:srgbClr val="659200"/>
    <a:srgbClr val="E29ED3"/>
    <a:srgbClr val="FAB4D5"/>
    <a:srgbClr val="CE0F69"/>
    <a:srgbClr val="E6AC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DF956A-CF14-4713-A624-DB74BA6B79C9}" v="5" dt="2026-02-23T08:58:18.9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74" autoAdjust="0"/>
    <p:restoredTop sz="84052" autoAdjust="0"/>
  </p:normalViewPr>
  <p:slideViewPr>
    <p:cSldViewPr snapToGrid="0" snapToObjects="1">
      <p:cViewPr varScale="1">
        <p:scale>
          <a:sx n="77" d="100"/>
          <a:sy n="77" d="100"/>
        </p:scale>
        <p:origin x="782" y="62"/>
      </p:cViewPr>
      <p:guideLst>
        <p:guide orient="horz" pos="2160"/>
        <p:guide pos="3840"/>
        <p:guide orient="horz" pos="2146"/>
        <p:guide pos="2422"/>
      </p:guideLst>
    </p:cSldViewPr>
  </p:slideViewPr>
  <p:outlineViewPr>
    <p:cViewPr>
      <p:scale>
        <a:sx n="33" d="100"/>
        <a:sy n="33" d="100"/>
      </p:scale>
      <p:origin x="0" y="-1071"/>
    </p:cViewPr>
  </p:outlineViewPr>
  <p:notesTextViewPr>
    <p:cViewPr>
      <p:scale>
        <a:sx n="1" d="1"/>
        <a:sy n="1" d="1"/>
      </p:scale>
      <p:origin x="0" y="0"/>
    </p:cViewPr>
  </p:notesTextViewPr>
  <p:notesViewPr>
    <p:cSldViewPr snapToGrid="0" showGuides="1">
      <p:cViewPr>
        <p:scale>
          <a:sx n="82" d="100"/>
          <a:sy n="82" d="100"/>
        </p:scale>
        <p:origin x="3864" y="52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71500" y="229394"/>
            <a:ext cx="2647950" cy="458788"/>
          </a:xfrm>
          <a:prstGeom prst="rect">
            <a:avLst/>
          </a:prstGeom>
        </p:spPr>
        <p:txBody>
          <a:bodyPr vert="horz" lIns="0" tIns="0" rIns="0" bIns="91440" rtlCol="0"/>
          <a:lstStyle>
            <a:lvl1pPr algn="l">
              <a:defRPr sz="1200"/>
            </a:lvl1pPr>
          </a:lstStyle>
          <a:p>
            <a:r>
              <a:rPr lang="en-US" dirty="0">
                <a:latin typeface="Arial" panose="020B0604020202020204" pitchFamily="34" charset="0"/>
              </a:rPr>
              <a:t>Presentation Title</a:t>
            </a:r>
          </a:p>
        </p:txBody>
      </p:sp>
      <p:sp>
        <p:nvSpPr>
          <p:cNvPr id="3" name="Date Placeholder 2"/>
          <p:cNvSpPr>
            <a:spLocks noGrp="1"/>
          </p:cNvSpPr>
          <p:nvPr>
            <p:ph type="dt" sz="quarter" idx="1"/>
          </p:nvPr>
        </p:nvSpPr>
        <p:spPr>
          <a:xfrm>
            <a:off x="5551796" y="406403"/>
            <a:ext cx="762000" cy="159979"/>
          </a:xfrm>
          <a:prstGeom prst="rect">
            <a:avLst/>
          </a:prstGeom>
        </p:spPr>
        <p:txBody>
          <a:bodyPr vert="horz" lIns="0" tIns="0" rIns="0" bIns="0" rtlCol="0" anchor="t" anchorCtr="0"/>
          <a:lstStyle>
            <a:lvl1pPr algn="r">
              <a:defRPr sz="1200"/>
            </a:lvl1pPr>
          </a:lstStyle>
          <a:p>
            <a:fld id="{BFE5592C-6900-4702-A0D1-EFB346414935}" type="datetime1">
              <a:rPr lang="en-US" sz="700" smtClean="0">
                <a:latin typeface="Arial" panose="020B0604020202020204" pitchFamily="34" charset="0"/>
              </a:rPr>
              <a:t>23-Feb-26</a:t>
            </a:fld>
            <a:endParaRPr lang="en-US" sz="700" dirty="0">
              <a:latin typeface="Arial" panose="020B0604020202020204" pitchFamily="34" charset="0"/>
            </a:endParaRPr>
          </a:p>
        </p:txBody>
      </p:sp>
      <p:sp>
        <p:nvSpPr>
          <p:cNvPr id="4" name="Footer Placeholder 3"/>
          <p:cNvSpPr>
            <a:spLocks noGrp="1"/>
          </p:cNvSpPr>
          <p:nvPr>
            <p:ph type="ftr" sz="quarter" idx="2"/>
          </p:nvPr>
        </p:nvSpPr>
        <p:spPr>
          <a:xfrm>
            <a:off x="4747846" y="581460"/>
            <a:ext cx="1565950" cy="332939"/>
          </a:xfrm>
          <a:prstGeom prst="rect">
            <a:avLst/>
          </a:prstGeom>
        </p:spPr>
        <p:txBody>
          <a:bodyPr vert="horz" lIns="0" tIns="0" rIns="0" bIns="0" rtlCol="0" anchor="t" anchorCtr="0"/>
          <a:lstStyle>
            <a:lvl1pPr algn="l">
              <a:defRPr sz="1200"/>
            </a:lvl1pPr>
          </a:lstStyle>
          <a:p>
            <a:pPr algn="r"/>
            <a:r>
              <a:rPr lang="en-US" sz="700" dirty="0">
                <a:latin typeface="Arial" panose="020B0604020202020204" pitchFamily="34" charset="0"/>
              </a:rPr>
              <a:t>Confidentiality label</a:t>
            </a:r>
          </a:p>
          <a:p>
            <a:pPr algn="r"/>
            <a:r>
              <a:rPr lang="en-US" sz="700" dirty="0">
                <a:latin typeface="Arial" panose="020B0604020202020204" pitchFamily="34" charset="0"/>
              </a:rPr>
              <a:t>Regulatory statement (if applicable)</a:t>
            </a:r>
          </a:p>
        </p:txBody>
      </p:sp>
      <p:sp>
        <p:nvSpPr>
          <p:cNvPr id="5" name="Slide Number Placeholder 4"/>
          <p:cNvSpPr>
            <a:spLocks noGrp="1"/>
          </p:cNvSpPr>
          <p:nvPr>
            <p:ph type="sldNum" sz="quarter" idx="3"/>
          </p:nvPr>
        </p:nvSpPr>
        <p:spPr>
          <a:xfrm>
            <a:off x="5551796" y="229394"/>
            <a:ext cx="762000" cy="161930"/>
          </a:xfrm>
          <a:prstGeom prst="rect">
            <a:avLst/>
          </a:prstGeom>
        </p:spPr>
        <p:txBody>
          <a:bodyPr vert="horz" lIns="0" tIns="0" rIns="0" bIns="0" rtlCol="0" anchor="t" anchorCtr="0"/>
          <a:lstStyle>
            <a:lvl1pPr algn="r">
              <a:defRPr sz="1200"/>
            </a:lvl1pPr>
          </a:lstStyle>
          <a:p>
            <a:fld id="{63D7F7B9-5276-48BD-8702-84F780AA6454}" type="slidenum">
              <a:rPr lang="en-US" sz="700" b="1" smtClean="0">
                <a:latin typeface="Arial" panose="020B0604020202020204" pitchFamily="34" charset="0"/>
              </a:rPr>
              <a:pPr/>
              <a:t>‹#›</a:t>
            </a:fld>
            <a:endParaRPr lang="en-US" sz="700" b="1" dirty="0">
              <a:latin typeface="Arial" panose="020B0604020202020204" pitchFamily="34" charset="0"/>
            </a:endParaRPr>
          </a:p>
        </p:txBody>
      </p:sp>
      <p:grpSp>
        <p:nvGrpSpPr>
          <p:cNvPr id="7" name="Group 6"/>
          <p:cNvGrpSpPr/>
          <p:nvPr/>
        </p:nvGrpSpPr>
        <p:grpSpPr>
          <a:xfrm>
            <a:off x="5234987" y="8487508"/>
            <a:ext cx="1091658" cy="456787"/>
            <a:chOff x="11078804" y="6536967"/>
            <a:chExt cx="682186" cy="285450"/>
          </a:xfrm>
        </p:grpSpPr>
        <p:sp>
          <p:nvSpPr>
            <p:cNvPr id="8" name="Freeform 5"/>
            <p:cNvSpPr>
              <a:spLocks noEditPoints="1"/>
            </p:cNvSpPr>
            <p:nvPr/>
          </p:nvSpPr>
          <p:spPr bwMode="auto">
            <a:xfrm>
              <a:off x="11388208" y="6627792"/>
              <a:ext cx="75355" cy="94817"/>
            </a:xfrm>
            <a:custGeom>
              <a:avLst/>
              <a:gdLst>
                <a:gd name="T0" fmla="*/ 93 w 151"/>
                <a:gd name="T1" fmla="*/ 118 h 190"/>
                <a:gd name="T2" fmla="*/ 56 w 151"/>
                <a:gd name="T3" fmla="*/ 118 h 190"/>
                <a:gd name="T4" fmla="*/ 74 w 151"/>
                <a:gd name="T5" fmla="*/ 37 h 190"/>
                <a:gd name="T6" fmla="*/ 75 w 151"/>
                <a:gd name="T7" fmla="*/ 37 h 190"/>
                <a:gd name="T8" fmla="*/ 93 w 151"/>
                <a:gd name="T9" fmla="*/ 118 h 190"/>
                <a:gd name="T10" fmla="*/ 38 w 151"/>
                <a:gd name="T11" fmla="*/ 190 h 190"/>
                <a:gd name="T12" fmla="*/ 49 w 151"/>
                <a:gd name="T13" fmla="*/ 149 h 190"/>
                <a:gd name="T14" fmla="*/ 102 w 151"/>
                <a:gd name="T15" fmla="*/ 149 h 190"/>
                <a:gd name="T16" fmla="*/ 111 w 151"/>
                <a:gd name="T17" fmla="*/ 190 h 190"/>
                <a:gd name="T18" fmla="*/ 151 w 151"/>
                <a:gd name="T19" fmla="*/ 190 h 190"/>
                <a:gd name="T20" fmla="*/ 102 w 151"/>
                <a:gd name="T21" fmla="*/ 0 h 190"/>
                <a:gd name="T22" fmla="*/ 51 w 151"/>
                <a:gd name="T23" fmla="*/ 0 h 190"/>
                <a:gd name="T24" fmla="*/ 0 w 151"/>
                <a:gd name="T25" fmla="*/ 190 h 190"/>
                <a:gd name="T26" fmla="*/ 38 w 151"/>
                <a:gd name="T27" fmla="*/ 1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190">
                  <a:moveTo>
                    <a:pt x="93" y="118"/>
                  </a:moveTo>
                  <a:lnTo>
                    <a:pt x="56" y="118"/>
                  </a:lnTo>
                  <a:lnTo>
                    <a:pt x="74" y="37"/>
                  </a:lnTo>
                  <a:lnTo>
                    <a:pt x="75" y="37"/>
                  </a:lnTo>
                  <a:lnTo>
                    <a:pt x="93" y="118"/>
                  </a:lnTo>
                  <a:close/>
                  <a:moveTo>
                    <a:pt x="38" y="190"/>
                  </a:moveTo>
                  <a:lnTo>
                    <a:pt x="49" y="149"/>
                  </a:lnTo>
                  <a:lnTo>
                    <a:pt x="102" y="149"/>
                  </a:lnTo>
                  <a:lnTo>
                    <a:pt x="111" y="190"/>
                  </a:lnTo>
                  <a:lnTo>
                    <a:pt x="151" y="190"/>
                  </a:lnTo>
                  <a:lnTo>
                    <a:pt x="102" y="0"/>
                  </a:lnTo>
                  <a:lnTo>
                    <a:pt x="51" y="0"/>
                  </a:lnTo>
                  <a:lnTo>
                    <a:pt x="0" y="190"/>
                  </a:lnTo>
                  <a:lnTo>
                    <a:pt x="38" y="19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 name="Freeform 6"/>
            <p:cNvSpPr>
              <a:spLocks noEditPoints="1"/>
            </p:cNvSpPr>
            <p:nvPr/>
          </p:nvSpPr>
          <p:spPr bwMode="auto">
            <a:xfrm>
              <a:off x="11469551" y="6655239"/>
              <a:ext cx="51401" cy="92821"/>
            </a:xfrm>
            <a:custGeom>
              <a:avLst/>
              <a:gdLst>
                <a:gd name="T0" fmla="*/ 34 w 96"/>
                <a:gd name="T1" fmla="*/ 65 h 167"/>
                <a:gd name="T2" fmla="*/ 49 w 96"/>
                <a:gd name="T3" fmla="*/ 20 h 167"/>
                <a:gd name="T4" fmla="*/ 62 w 96"/>
                <a:gd name="T5" fmla="*/ 61 h 167"/>
                <a:gd name="T6" fmla="*/ 49 w 96"/>
                <a:gd name="T7" fmla="*/ 99 h 167"/>
                <a:gd name="T8" fmla="*/ 34 w 96"/>
                <a:gd name="T9" fmla="*/ 65 h 167"/>
                <a:gd name="T10" fmla="*/ 64 w 96"/>
                <a:gd name="T11" fmla="*/ 2 h 167"/>
                <a:gd name="T12" fmla="*/ 64 w 96"/>
                <a:gd name="T13" fmla="*/ 16 h 167"/>
                <a:gd name="T14" fmla="*/ 63 w 96"/>
                <a:gd name="T15" fmla="*/ 16 h 167"/>
                <a:gd name="T16" fmla="*/ 37 w 96"/>
                <a:gd name="T17" fmla="*/ 0 h 167"/>
                <a:gd name="T18" fmla="*/ 2 w 96"/>
                <a:gd name="T19" fmla="*/ 59 h 167"/>
                <a:gd name="T20" fmla="*/ 37 w 96"/>
                <a:gd name="T21" fmla="*/ 120 h 167"/>
                <a:gd name="T22" fmla="*/ 62 w 96"/>
                <a:gd name="T23" fmla="*/ 106 h 167"/>
                <a:gd name="T24" fmla="*/ 62 w 96"/>
                <a:gd name="T25" fmla="*/ 106 h 167"/>
                <a:gd name="T26" fmla="*/ 62 w 96"/>
                <a:gd name="T27" fmla="*/ 129 h 167"/>
                <a:gd name="T28" fmla="*/ 50 w 96"/>
                <a:gd name="T29" fmla="*/ 148 h 167"/>
                <a:gd name="T30" fmla="*/ 39 w 96"/>
                <a:gd name="T31" fmla="*/ 144 h 167"/>
                <a:gd name="T32" fmla="*/ 36 w 96"/>
                <a:gd name="T33" fmla="*/ 132 h 167"/>
                <a:gd name="T34" fmla="*/ 4 w 96"/>
                <a:gd name="T35" fmla="*/ 132 h 167"/>
                <a:gd name="T36" fmla="*/ 50 w 96"/>
                <a:gd name="T37" fmla="*/ 167 h 167"/>
                <a:gd name="T38" fmla="*/ 95 w 96"/>
                <a:gd name="T39" fmla="*/ 126 h 167"/>
                <a:gd name="T40" fmla="*/ 95 w 96"/>
                <a:gd name="T41" fmla="*/ 2 h 167"/>
                <a:gd name="T42" fmla="*/ 64 w 96"/>
                <a:gd name="T43" fmla="*/ 2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6" h="167">
                  <a:moveTo>
                    <a:pt x="34" y="65"/>
                  </a:moveTo>
                  <a:cubicBezTo>
                    <a:pt x="34" y="29"/>
                    <a:pt x="36" y="20"/>
                    <a:pt x="49" y="20"/>
                  </a:cubicBezTo>
                  <a:cubicBezTo>
                    <a:pt x="61" y="20"/>
                    <a:pt x="62" y="35"/>
                    <a:pt x="62" y="61"/>
                  </a:cubicBezTo>
                  <a:cubicBezTo>
                    <a:pt x="62" y="87"/>
                    <a:pt x="61" y="99"/>
                    <a:pt x="49" y="99"/>
                  </a:cubicBezTo>
                  <a:cubicBezTo>
                    <a:pt x="33" y="99"/>
                    <a:pt x="34" y="77"/>
                    <a:pt x="34" y="65"/>
                  </a:cubicBezTo>
                  <a:close/>
                  <a:moveTo>
                    <a:pt x="64" y="2"/>
                  </a:moveTo>
                  <a:cubicBezTo>
                    <a:pt x="64" y="16"/>
                    <a:pt x="64" y="16"/>
                    <a:pt x="64" y="16"/>
                  </a:cubicBezTo>
                  <a:cubicBezTo>
                    <a:pt x="63" y="16"/>
                    <a:pt x="63" y="16"/>
                    <a:pt x="63" y="16"/>
                  </a:cubicBezTo>
                  <a:cubicBezTo>
                    <a:pt x="59" y="5"/>
                    <a:pt x="49" y="0"/>
                    <a:pt x="37" y="0"/>
                  </a:cubicBezTo>
                  <a:cubicBezTo>
                    <a:pt x="2" y="0"/>
                    <a:pt x="2" y="33"/>
                    <a:pt x="2" y="59"/>
                  </a:cubicBezTo>
                  <a:cubicBezTo>
                    <a:pt x="2" y="86"/>
                    <a:pt x="0" y="120"/>
                    <a:pt x="37" y="120"/>
                  </a:cubicBezTo>
                  <a:cubicBezTo>
                    <a:pt x="47" y="120"/>
                    <a:pt x="57" y="115"/>
                    <a:pt x="62" y="106"/>
                  </a:cubicBezTo>
                  <a:cubicBezTo>
                    <a:pt x="62" y="106"/>
                    <a:pt x="62" y="106"/>
                    <a:pt x="62" y="106"/>
                  </a:cubicBezTo>
                  <a:cubicBezTo>
                    <a:pt x="62" y="129"/>
                    <a:pt x="62" y="129"/>
                    <a:pt x="62" y="129"/>
                  </a:cubicBezTo>
                  <a:cubicBezTo>
                    <a:pt x="62" y="141"/>
                    <a:pt x="58" y="148"/>
                    <a:pt x="50" y="148"/>
                  </a:cubicBezTo>
                  <a:cubicBezTo>
                    <a:pt x="45" y="148"/>
                    <a:pt x="41" y="147"/>
                    <a:pt x="39" y="144"/>
                  </a:cubicBezTo>
                  <a:cubicBezTo>
                    <a:pt x="37" y="141"/>
                    <a:pt x="36" y="137"/>
                    <a:pt x="36" y="132"/>
                  </a:cubicBezTo>
                  <a:cubicBezTo>
                    <a:pt x="4" y="132"/>
                    <a:pt x="4" y="132"/>
                    <a:pt x="4" y="132"/>
                  </a:cubicBezTo>
                  <a:cubicBezTo>
                    <a:pt x="4" y="161"/>
                    <a:pt x="26" y="167"/>
                    <a:pt x="50" y="167"/>
                  </a:cubicBezTo>
                  <a:cubicBezTo>
                    <a:pt x="96" y="167"/>
                    <a:pt x="95" y="134"/>
                    <a:pt x="95" y="126"/>
                  </a:cubicBezTo>
                  <a:cubicBezTo>
                    <a:pt x="95" y="2"/>
                    <a:pt x="95" y="2"/>
                    <a:pt x="95" y="2"/>
                  </a:cubicBezTo>
                  <a:lnTo>
                    <a:pt x="64" y="2"/>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 name="Freeform 7"/>
            <p:cNvSpPr>
              <a:spLocks noEditPoints="1"/>
            </p:cNvSpPr>
            <p:nvPr/>
          </p:nvSpPr>
          <p:spPr bwMode="auto">
            <a:xfrm>
              <a:off x="11536423" y="6627792"/>
              <a:ext cx="17965" cy="94817"/>
            </a:xfrm>
            <a:custGeom>
              <a:avLst/>
              <a:gdLst>
                <a:gd name="T0" fmla="*/ 36 w 36"/>
                <a:gd name="T1" fmla="*/ 190 h 190"/>
                <a:gd name="T2" fmla="*/ 19 w 36"/>
                <a:gd name="T3" fmla="*/ 190 h 190"/>
                <a:gd name="T4" fmla="*/ 0 w 36"/>
                <a:gd name="T5" fmla="*/ 190 h 190"/>
                <a:gd name="T6" fmla="*/ 0 w 36"/>
                <a:gd name="T7" fmla="*/ 124 h 190"/>
                <a:gd name="T8" fmla="*/ 0 w 36"/>
                <a:gd name="T9" fmla="*/ 57 h 190"/>
                <a:gd name="T10" fmla="*/ 19 w 36"/>
                <a:gd name="T11" fmla="*/ 57 h 190"/>
                <a:gd name="T12" fmla="*/ 36 w 36"/>
                <a:gd name="T13" fmla="*/ 57 h 190"/>
                <a:gd name="T14" fmla="*/ 36 w 36"/>
                <a:gd name="T15" fmla="*/ 124 h 190"/>
                <a:gd name="T16" fmla="*/ 36 w 36"/>
                <a:gd name="T17" fmla="*/ 190 h 190"/>
                <a:gd name="T18" fmla="*/ 36 w 36"/>
                <a:gd name="T19" fmla="*/ 0 h 190"/>
                <a:gd name="T20" fmla="*/ 36 w 36"/>
                <a:gd name="T21" fmla="*/ 15 h 190"/>
                <a:gd name="T22" fmla="*/ 36 w 36"/>
                <a:gd name="T23" fmla="*/ 29 h 190"/>
                <a:gd name="T24" fmla="*/ 19 w 36"/>
                <a:gd name="T25" fmla="*/ 29 h 190"/>
                <a:gd name="T26" fmla="*/ 0 w 36"/>
                <a:gd name="T27" fmla="*/ 29 h 190"/>
                <a:gd name="T28" fmla="*/ 0 w 36"/>
                <a:gd name="T29" fmla="*/ 15 h 190"/>
                <a:gd name="T30" fmla="*/ 0 w 36"/>
                <a:gd name="T31" fmla="*/ 0 h 190"/>
                <a:gd name="T32" fmla="*/ 19 w 36"/>
                <a:gd name="T33" fmla="*/ 0 h 190"/>
                <a:gd name="T34" fmla="*/ 36 w 36"/>
                <a:gd name="T35"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 h="190">
                  <a:moveTo>
                    <a:pt x="36" y="190"/>
                  </a:moveTo>
                  <a:lnTo>
                    <a:pt x="19" y="190"/>
                  </a:lnTo>
                  <a:lnTo>
                    <a:pt x="0" y="190"/>
                  </a:lnTo>
                  <a:lnTo>
                    <a:pt x="0" y="124"/>
                  </a:lnTo>
                  <a:lnTo>
                    <a:pt x="0" y="57"/>
                  </a:lnTo>
                  <a:lnTo>
                    <a:pt x="19" y="57"/>
                  </a:lnTo>
                  <a:lnTo>
                    <a:pt x="36" y="57"/>
                  </a:lnTo>
                  <a:lnTo>
                    <a:pt x="36" y="124"/>
                  </a:lnTo>
                  <a:lnTo>
                    <a:pt x="36" y="190"/>
                  </a:lnTo>
                  <a:close/>
                  <a:moveTo>
                    <a:pt x="36" y="0"/>
                  </a:moveTo>
                  <a:lnTo>
                    <a:pt x="36" y="15"/>
                  </a:lnTo>
                  <a:lnTo>
                    <a:pt x="36" y="29"/>
                  </a:lnTo>
                  <a:lnTo>
                    <a:pt x="19" y="29"/>
                  </a:lnTo>
                  <a:lnTo>
                    <a:pt x="0" y="29"/>
                  </a:lnTo>
                  <a:lnTo>
                    <a:pt x="0" y="15"/>
                  </a:lnTo>
                  <a:lnTo>
                    <a:pt x="0" y="0"/>
                  </a:lnTo>
                  <a:lnTo>
                    <a:pt x="19" y="0"/>
                  </a:lnTo>
                  <a:lnTo>
                    <a:pt x="36"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 name="Freeform 8"/>
            <p:cNvSpPr>
              <a:spLocks/>
            </p:cNvSpPr>
            <p:nvPr/>
          </p:nvSpPr>
          <p:spPr bwMode="auto">
            <a:xfrm>
              <a:off x="11571854" y="6627792"/>
              <a:ext cx="17965" cy="94817"/>
            </a:xfrm>
            <a:custGeom>
              <a:avLst/>
              <a:gdLst>
                <a:gd name="T0" fmla="*/ 36 w 36"/>
                <a:gd name="T1" fmla="*/ 0 h 190"/>
                <a:gd name="T2" fmla="*/ 36 w 36"/>
                <a:gd name="T3" fmla="*/ 95 h 190"/>
                <a:gd name="T4" fmla="*/ 36 w 36"/>
                <a:gd name="T5" fmla="*/ 190 h 190"/>
                <a:gd name="T6" fmla="*/ 18 w 36"/>
                <a:gd name="T7" fmla="*/ 190 h 190"/>
                <a:gd name="T8" fmla="*/ 0 w 36"/>
                <a:gd name="T9" fmla="*/ 190 h 190"/>
                <a:gd name="T10" fmla="*/ 0 w 36"/>
                <a:gd name="T11" fmla="*/ 95 h 190"/>
                <a:gd name="T12" fmla="*/ 0 w 36"/>
                <a:gd name="T13" fmla="*/ 0 h 190"/>
                <a:gd name="T14" fmla="*/ 18 w 36"/>
                <a:gd name="T15" fmla="*/ 0 h 190"/>
                <a:gd name="T16" fmla="*/ 36 w 36"/>
                <a:gd name="T17"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90">
                  <a:moveTo>
                    <a:pt x="36" y="0"/>
                  </a:moveTo>
                  <a:lnTo>
                    <a:pt x="36" y="95"/>
                  </a:lnTo>
                  <a:lnTo>
                    <a:pt x="36" y="190"/>
                  </a:lnTo>
                  <a:lnTo>
                    <a:pt x="18" y="190"/>
                  </a:lnTo>
                  <a:lnTo>
                    <a:pt x="0" y="190"/>
                  </a:lnTo>
                  <a:lnTo>
                    <a:pt x="0" y="95"/>
                  </a:lnTo>
                  <a:lnTo>
                    <a:pt x="0" y="0"/>
                  </a:lnTo>
                  <a:lnTo>
                    <a:pt x="18" y="0"/>
                  </a:lnTo>
                  <a:lnTo>
                    <a:pt x="36"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 name="Freeform 9"/>
            <p:cNvSpPr>
              <a:spLocks noEditPoints="1"/>
            </p:cNvSpPr>
            <p:nvPr/>
          </p:nvSpPr>
          <p:spPr bwMode="auto">
            <a:xfrm>
              <a:off x="11603294" y="6655239"/>
              <a:ext cx="52399" cy="68867"/>
            </a:xfrm>
            <a:custGeom>
              <a:avLst/>
              <a:gdLst>
                <a:gd name="T0" fmla="*/ 34 w 98"/>
                <a:gd name="T1" fmla="*/ 48 h 124"/>
                <a:gd name="T2" fmla="*/ 49 w 98"/>
                <a:gd name="T3" fmla="*/ 20 h 124"/>
                <a:gd name="T4" fmla="*/ 64 w 98"/>
                <a:gd name="T5" fmla="*/ 48 h 124"/>
                <a:gd name="T6" fmla="*/ 34 w 98"/>
                <a:gd name="T7" fmla="*/ 48 h 124"/>
                <a:gd name="T8" fmla="*/ 97 w 98"/>
                <a:gd name="T9" fmla="*/ 67 h 124"/>
                <a:gd name="T10" fmla="*/ 49 w 98"/>
                <a:gd name="T11" fmla="*/ 0 h 124"/>
                <a:gd name="T12" fmla="*/ 0 w 98"/>
                <a:gd name="T13" fmla="*/ 60 h 124"/>
                <a:gd name="T14" fmla="*/ 49 w 98"/>
                <a:gd name="T15" fmla="*/ 124 h 124"/>
                <a:gd name="T16" fmla="*/ 84 w 98"/>
                <a:gd name="T17" fmla="*/ 112 h 124"/>
                <a:gd name="T18" fmla="*/ 97 w 98"/>
                <a:gd name="T19" fmla="*/ 81 h 124"/>
                <a:gd name="T20" fmla="*/ 63 w 98"/>
                <a:gd name="T21" fmla="*/ 81 h 124"/>
                <a:gd name="T22" fmla="*/ 49 w 98"/>
                <a:gd name="T23" fmla="*/ 102 h 124"/>
                <a:gd name="T24" fmla="*/ 34 w 98"/>
                <a:gd name="T25" fmla="*/ 67 h 124"/>
                <a:gd name="T26" fmla="*/ 97 w 98"/>
                <a:gd name="T27" fmla="*/ 67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124">
                  <a:moveTo>
                    <a:pt x="34" y="48"/>
                  </a:moveTo>
                  <a:cubicBezTo>
                    <a:pt x="34" y="38"/>
                    <a:pt x="33" y="20"/>
                    <a:pt x="49" y="20"/>
                  </a:cubicBezTo>
                  <a:cubicBezTo>
                    <a:pt x="65" y="20"/>
                    <a:pt x="64" y="37"/>
                    <a:pt x="64" y="48"/>
                  </a:cubicBezTo>
                  <a:lnTo>
                    <a:pt x="34" y="48"/>
                  </a:lnTo>
                  <a:close/>
                  <a:moveTo>
                    <a:pt x="97" y="67"/>
                  </a:moveTo>
                  <a:cubicBezTo>
                    <a:pt x="98" y="29"/>
                    <a:pt x="93" y="0"/>
                    <a:pt x="49" y="0"/>
                  </a:cubicBezTo>
                  <a:cubicBezTo>
                    <a:pt x="5" y="0"/>
                    <a:pt x="0" y="28"/>
                    <a:pt x="0" y="60"/>
                  </a:cubicBezTo>
                  <a:cubicBezTo>
                    <a:pt x="0" y="97"/>
                    <a:pt x="6" y="124"/>
                    <a:pt x="49" y="124"/>
                  </a:cubicBezTo>
                  <a:cubicBezTo>
                    <a:pt x="64" y="124"/>
                    <a:pt x="76" y="119"/>
                    <a:pt x="84" y="112"/>
                  </a:cubicBezTo>
                  <a:cubicBezTo>
                    <a:pt x="92" y="105"/>
                    <a:pt x="96" y="94"/>
                    <a:pt x="97" y="81"/>
                  </a:cubicBezTo>
                  <a:cubicBezTo>
                    <a:pt x="63" y="81"/>
                    <a:pt x="63" y="81"/>
                    <a:pt x="63" y="81"/>
                  </a:cubicBezTo>
                  <a:cubicBezTo>
                    <a:pt x="63" y="91"/>
                    <a:pt x="61" y="102"/>
                    <a:pt x="49" y="102"/>
                  </a:cubicBezTo>
                  <a:cubicBezTo>
                    <a:pt x="34" y="102"/>
                    <a:pt x="34" y="81"/>
                    <a:pt x="34" y="67"/>
                  </a:cubicBezTo>
                  <a:lnTo>
                    <a:pt x="97" y="67"/>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3" name="Freeform 10"/>
            <p:cNvSpPr>
              <a:spLocks/>
            </p:cNvSpPr>
            <p:nvPr/>
          </p:nvSpPr>
          <p:spPr bwMode="auto">
            <a:xfrm>
              <a:off x="11668169" y="6655239"/>
              <a:ext cx="48906" cy="67370"/>
            </a:xfrm>
            <a:custGeom>
              <a:avLst/>
              <a:gdLst>
                <a:gd name="T0" fmla="*/ 33 w 91"/>
                <a:gd name="T1" fmla="*/ 14 h 121"/>
                <a:gd name="T2" fmla="*/ 33 w 91"/>
                <a:gd name="T3" fmla="*/ 14 h 121"/>
                <a:gd name="T4" fmla="*/ 45 w 91"/>
                <a:gd name="T5" fmla="*/ 3 h 121"/>
                <a:gd name="T6" fmla="*/ 62 w 91"/>
                <a:gd name="T7" fmla="*/ 0 h 121"/>
                <a:gd name="T8" fmla="*/ 91 w 91"/>
                <a:gd name="T9" fmla="*/ 26 h 121"/>
                <a:gd name="T10" fmla="*/ 91 w 91"/>
                <a:gd name="T11" fmla="*/ 121 h 121"/>
                <a:gd name="T12" fmla="*/ 58 w 91"/>
                <a:gd name="T13" fmla="*/ 121 h 121"/>
                <a:gd name="T14" fmla="*/ 58 w 91"/>
                <a:gd name="T15" fmla="*/ 39 h 121"/>
                <a:gd name="T16" fmla="*/ 45 w 91"/>
                <a:gd name="T17" fmla="*/ 20 h 121"/>
                <a:gd name="T18" fmla="*/ 33 w 91"/>
                <a:gd name="T19" fmla="*/ 39 h 121"/>
                <a:gd name="T20" fmla="*/ 33 w 91"/>
                <a:gd name="T21" fmla="*/ 121 h 121"/>
                <a:gd name="T22" fmla="*/ 0 w 91"/>
                <a:gd name="T23" fmla="*/ 121 h 121"/>
                <a:gd name="T24" fmla="*/ 0 w 91"/>
                <a:gd name="T25" fmla="*/ 2 h 121"/>
                <a:gd name="T26" fmla="*/ 33 w 91"/>
                <a:gd name="T27" fmla="*/ 2 h 121"/>
                <a:gd name="T28" fmla="*/ 33 w 91"/>
                <a:gd name="T29" fmla="*/ 14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1" h="121">
                  <a:moveTo>
                    <a:pt x="33" y="14"/>
                  </a:moveTo>
                  <a:cubicBezTo>
                    <a:pt x="33" y="14"/>
                    <a:pt x="33" y="14"/>
                    <a:pt x="33" y="14"/>
                  </a:cubicBezTo>
                  <a:cubicBezTo>
                    <a:pt x="37" y="9"/>
                    <a:pt x="41" y="5"/>
                    <a:pt x="45" y="3"/>
                  </a:cubicBezTo>
                  <a:cubicBezTo>
                    <a:pt x="50" y="1"/>
                    <a:pt x="55" y="0"/>
                    <a:pt x="62" y="0"/>
                  </a:cubicBezTo>
                  <a:cubicBezTo>
                    <a:pt x="77" y="0"/>
                    <a:pt x="91" y="9"/>
                    <a:pt x="91" y="26"/>
                  </a:cubicBezTo>
                  <a:cubicBezTo>
                    <a:pt x="91" y="121"/>
                    <a:pt x="91" y="121"/>
                    <a:pt x="91" y="121"/>
                  </a:cubicBezTo>
                  <a:cubicBezTo>
                    <a:pt x="58" y="121"/>
                    <a:pt x="58" y="121"/>
                    <a:pt x="58" y="121"/>
                  </a:cubicBezTo>
                  <a:cubicBezTo>
                    <a:pt x="58" y="39"/>
                    <a:pt x="58" y="39"/>
                    <a:pt x="58" y="39"/>
                  </a:cubicBezTo>
                  <a:cubicBezTo>
                    <a:pt x="58" y="29"/>
                    <a:pt x="56" y="20"/>
                    <a:pt x="45" y="20"/>
                  </a:cubicBezTo>
                  <a:cubicBezTo>
                    <a:pt x="35" y="20"/>
                    <a:pt x="33" y="29"/>
                    <a:pt x="33" y="39"/>
                  </a:cubicBezTo>
                  <a:cubicBezTo>
                    <a:pt x="33" y="121"/>
                    <a:pt x="33" y="121"/>
                    <a:pt x="33" y="121"/>
                  </a:cubicBezTo>
                  <a:cubicBezTo>
                    <a:pt x="0" y="121"/>
                    <a:pt x="0" y="121"/>
                    <a:pt x="0" y="121"/>
                  </a:cubicBezTo>
                  <a:cubicBezTo>
                    <a:pt x="0" y="2"/>
                    <a:pt x="0" y="2"/>
                    <a:pt x="0" y="2"/>
                  </a:cubicBezTo>
                  <a:cubicBezTo>
                    <a:pt x="33" y="2"/>
                    <a:pt x="33" y="2"/>
                    <a:pt x="33" y="2"/>
                  </a:cubicBezTo>
                  <a:lnTo>
                    <a:pt x="33" y="1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4" name="Freeform 11"/>
            <p:cNvSpPr>
              <a:spLocks/>
            </p:cNvSpPr>
            <p:nvPr/>
          </p:nvSpPr>
          <p:spPr bwMode="auto">
            <a:xfrm>
              <a:off x="11726556" y="6637773"/>
              <a:ext cx="34434" cy="85336"/>
            </a:xfrm>
            <a:custGeom>
              <a:avLst/>
              <a:gdLst>
                <a:gd name="T0" fmla="*/ 0 w 64"/>
                <a:gd name="T1" fmla="*/ 33 h 153"/>
                <a:gd name="T2" fmla="*/ 13 w 64"/>
                <a:gd name="T3" fmla="*/ 33 h 153"/>
                <a:gd name="T4" fmla="*/ 13 w 64"/>
                <a:gd name="T5" fmla="*/ 14 h 153"/>
                <a:gd name="T6" fmla="*/ 46 w 64"/>
                <a:gd name="T7" fmla="*/ 0 h 153"/>
                <a:gd name="T8" fmla="*/ 46 w 64"/>
                <a:gd name="T9" fmla="*/ 33 h 153"/>
                <a:gd name="T10" fmla="*/ 64 w 64"/>
                <a:gd name="T11" fmla="*/ 33 h 153"/>
                <a:gd name="T12" fmla="*/ 64 w 64"/>
                <a:gd name="T13" fmla="*/ 54 h 153"/>
                <a:gd name="T14" fmla="*/ 46 w 64"/>
                <a:gd name="T15" fmla="*/ 54 h 153"/>
                <a:gd name="T16" fmla="*/ 46 w 64"/>
                <a:gd name="T17" fmla="*/ 117 h 153"/>
                <a:gd name="T18" fmla="*/ 57 w 64"/>
                <a:gd name="T19" fmla="*/ 132 h 153"/>
                <a:gd name="T20" fmla="*/ 63 w 64"/>
                <a:gd name="T21" fmla="*/ 132 h 153"/>
                <a:gd name="T22" fmla="*/ 63 w 64"/>
                <a:gd name="T23" fmla="*/ 152 h 153"/>
                <a:gd name="T24" fmla="*/ 46 w 64"/>
                <a:gd name="T25" fmla="*/ 153 h 153"/>
                <a:gd name="T26" fmla="*/ 13 w 64"/>
                <a:gd name="T27" fmla="*/ 127 h 153"/>
                <a:gd name="T28" fmla="*/ 13 w 64"/>
                <a:gd name="T29" fmla="*/ 54 h 153"/>
                <a:gd name="T30" fmla="*/ 0 w 64"/>
                <a:gd name="T31" fmla="*/ 54 h 153"/>
                <a:gd name="T32" fmla="*/ 0 w 64"/>
                <a:gd name="T33" fmla="*/ 33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4" h="153">
                  <a:moveTo>
                    <a:pt x="0" y="33"/>
                  </a:moveTo>
                  <a:cubicBezTo>
                    <a:pt x="13" y="33"/>
                    <a:pt x="13" y="33"/>
                    <a:pt x="13" y="33"/>
                  </a:cubicBezTo>
                  <a:cubicBezTo>
                    <a:pt x="13" y="14"/>
                    <a:pt x="13" y="14"/>
                    <a:pt x="13" y="14"/>
                  </a:cubicBezTo>
                  <a:cubicBezTo>
                    <a:pt x="46" y="0"/>
                    <a:pt x="46" y="0"/>
                    <a:pt x="46" y="0"/>
                  </a:cubicBezTo>
                  <a:cubicBezTo>
                    <a:pt x="46" y="33"/>
                    <a:pt x="46" y="33"/>
                    <a:pt x="46" y="33"/>
                  </a:cubicBezTo>
                  <a:cubicBezTo>
                    <a:pt x="64" y="33"/>
                    <a:pt x="64" y="33"/>
                    <a:pt x="64" y="33"/>
                  </a:cubicBezTo>
                  <a:cubicBezTo>
                    <a:pt x="64" y="54"/>
                    <a:pt x="64" y="54"/>
                    <a:pt x="64" y="54"/>
                  </a:cubicBezTo>
                  <a:cubicBezTo>
                    <a:pt x="46" y="54"/>
                    <a:pt x="46" y="54"/>
                    <a:pt x="46" y="54"/>
                  </a:cubicBezTo>
                  <a:cubicBezTo>
                    <a:pt x="46" y="117"/>
                    <a:pt x="46" y="117"/>
                    <a:pt x="46" y="117"/>
                  </a:cubicBezTo>
                  <a:cubicBezTo>
                    <a:pt x="46" y="126"/>
                    <a:pt x="46" y="132"/>
                    <a:pt x="57" y="132"/>
                  </a:cubicBezTo>
                  <a:cubicBezTo>
                    <a:pt x="59" y="132"/>
                    <a:pt x="61" y="132"/>
                    <a:pt x="63" y="132"/>
                  </a:cubicBezTo>
                  <a:cubicBezTo>
                    <a:pt x="63" y="152"/>
                    <a:pt x="63" y="152"/>
                    <a:pt x="63" y="152"/>
                  </a:cubicBezTo>
                  <a:cubicBezTo>
                    <a:pt x="58" y="153"/>
                    <a:pt x="54" y="153"/>
                    <a:pt x="46" y="153"/>
                  </a:cubicBezTo>
                  <a:cubicBezTo>
                    <a:pt x="17" y="153"/>
                    <a:pt x="13" y="134"/>
                    <a:pt x="13" y="127"/>
                  </a:cubicBezTo>
                  <a:cubicBezTo>
                    <a:pt x="13" y="54"/>
                    <a:pt x="13" y="54"/>
                    <a:pt x="13" y="54"/>
                  </a:cubicBezTo>
                  <a:cubicBezTo>
                    <a:pt x="0" y="54"/>
                    <a:pt x="0" y="54"/>
                    <a:pt x="0" y="54"/>
                  </a:cubicBezTo>
                  <a:lnTo>
                    <a:pt x="0" y="33"/>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5" name="Freeform 12"/>
            <p:cNvSpPr>
              <a:spLocks noEditPoints="1"/>
            </p:cNvSpPr>
            <p:nvPr/>
          </p:nvSpPr>
          <p:spPr bwMode="auto">
            <a:xfrm>
              <a:off x="11078804" y="6536967"/>
              <a:ext cx="274970" cy="285450"/>
            </a:xfrm>
            <a:custGeom>
              <a:avLst/>
              <a:gdLst>
                <a:gd name="T0" fmla="*/ 280 w 512"/>
                <a:gd name="T1" fmla="*/ 174 h 512"/>
                <a:gd name="T2" fmla="*/ 239 w 512"/>
                <a:gd name="T3" fmla="*/ 108 h 512"/>
                <a:gd name="T4" fmla="*/ 256 w 512"/>
                <a:gd name="T5" fmla="*/ 43 h 512"/>
                <a:gd name="T6" fmla="*/ 264 w 512"/>
                <a:gd name="T7" fmla="*/ 8 h 512"/>
                <a:gd name="T8" fmla="*/ 264 w 512"/>
                <a:gd name="T9" fmla="*/ 8 h 512"/>
                <a:gd name="T10" fmla="*/ 338 w 512"/>
                <a:gd name="T11" fmla="*/ 281 h 512"/>
                <a:gd name="T12" fmla="*/ 387 w 512"/>
                <a:gd name="T13" fmla="*/ 256 h 512"/>
                <a:gd name="T14" fmla="*/ 457 w 512"/>
                <a:gd name="T15" fmla="*/ 244 h 512"/>
                <a:gd name="T16" fmla="*/ 512 w 512"/>
                <a:gd name="T17" fmla="*/ 256 h 512"/>
                <a:gd name="T18" fmla="*/ 512 w 512"/>
                <a:gd name="T19" fmla="*/ 256 h 512"/>
                <a:gd name="T20" fmla="*/ 256 w 512"/>
                <a:gd name="T21" fmla="*/ 363 h 512"/>
                <a:gd name="T22" fmla="*/ 239 w 512"/>
                <a:gd name="T23" fmla="*/ 404 h 512"/>
                <a:gd name="T24" fmla="*/ 256 w 512"/>
                <a:gd name="T25" fmla="*/ 446 h 512"/>
                <a:gd name="T26" fmla="*/ 264 w 512"/>
                <a:gd name="T27" fmla="*/ 504 h 512"/>
                <a:gd name="T28" fmla="*/ 264 w 512"/>
                <a:gd name="T29" fmla="*/ 504 h 512"/>
                <a:gd name="T30" fmla="*/ 174 w 512"/>
                <a:gd name="T31" fmla="*/ 281 h 512"/>
                <a:gd name="T32" fmla="*/ 91 w 512"/>
                <a:gd name="T33" fmla="*/ 256 h 512"/>
                <a:gd name="T34" fmla="*/ 55 w 512"/>
                <a:gd name="T35" fmla="*/ 244 h 512"/>
                <a:gd name="T36" fmla="*/ 16 w 512"/>
                <a:gd name="T37" fmla="*/ 256 h 512"/>
                <a:gd name="T38" fmla="*/ 16 w 512"/>
                <a:gd name="T39" fmla="*/ 256 h 512"/>
                <a:gd name="T40" fmla="*/ 314 w 512"/>
                <a:gd name="T41" fmla="*/ 174 h 512"/>
                <a:gd name="T42" fmla="*/ 314 w 512"/>
                <a:gd name="T43" fmla="*/ 223 h 512"/>
                <a:gd name="T44" fmla="*/ 360 w 512"/>
                <a:gd name="T45" fmla="*/ 135 h 512"/>
                <a:gd name="T46" fmla="*/ 360 w 512"/>
                <a:gd name="T47" fmla="*/ 169 h 512"/>
                <a:gd name="T48" fmla="*/ 407 w 512"/>
                <a:gd name="T49" fmla="*/ 106 h 512"/>
                <a:gd name="T50" fmla="*/ 390 w 512"/>
                <a:gd name="T51" fmla="*/ 123 h 512"/>
                <a:gd name="T52" fmla="*/ 437 w 512"/>
                <a:gd name="T53" fmla="*/ 75 h 512"/>
                <a:gd name="T54" fmla="*/ 437 w 512"/>
                <a:gd name="T55" fmla="*/ 87 h 512"/>
                <a:gd name="T56" fmla="*/ 297 w 512"/>
                <a:gd name="T57" fmla="*/ 297 h 512"/>
                <a:gd name="T58" fmla="*/ 373 w 512"/>
                <a:gd name="T59" fmla="*/ 373 h 512"/>
                <a:gd name="T60" fmla="*/ 343 w 512"/>
                <a:gd name="T61" fmla="*/ 361 h 512"/>
                <a:gd name="T62" fmla="*/ 407 w 512"/>
                <a:gd name="T63" fmla="*/ 407 h 512"/>
                <a:gd name="T64" fmla="*/ 390 w 512"/>
                <a:gd name="T65" fmla="*/ 390 h 512"/>
                <a:gd name="T66" fmla="*/ 407 w 512"/>
                <a:gd name="T67" fmla="*/ 407 h 512"/>
                <a:gd name="T68" fmla="*/ 426 w 512"/>
                <a:gd name="T69" fmla="*/ 426 h 512"/>
                <a:gd name="T70" fmla="*/ 437 w 512"/>
                <a:gd name="T71" fmla="*/ 437 h 512"/>
                <a:gd name="T72" fmla="*/ 181 w 512"/>
                <a:gd name="T73" fmla="*/ 297 h 512"/>
                <a:gd name="T74" fmla="*/ 215 w 512"/>
                <a:gd name="T75" fmla="*/ 332 h 512"/>
                <a:gd name="T76" fmla="*/ 151 w 512"/>
                <a:gd name="T77" fmla="*/ 344 h 512"/>
                <a:gd name="T78" fmla="*/ 164 w 512"/>
                <a:gd name="T79" fmla="*/ 373 h 512"/>
                <a:gd name="T80" fmla="*/ 114 w 512"/>
                <a:gd name="T81" fmla="*/ 387 h 512"/>
                <a:gd name="T82" fmla="*/ 114 w 512"/>
                <a:gd name="T83" fmla="*/ 411 h 512"/>
                <a:gd name="T84" fmla="*/ 86 w 512"/>
                <a:gd name="T85" fmla="*/ 426 h 512"/>
                <a:gd name="T86" fmla="*/ 86 w 512"/>
                <a:gd name="T87" fmla="*/ 437 h 512"/>
                <a:gd name="T88" fmla="*/ 181 w 512"/>
                <a:gd name="T89" fmla="*/ 181 h 512"/>
                <a:gd name="T90" fmla="*/ 215 w 512"/>
                <a:gd name="T91" fmla="*/ 216 h 512"/>
                <a:gd name="T92" fmla="*/ 151 w 512"/>
                <a:gd name="T93" fmla="*/ 135 h 512"/>
                <a:gd name="T94" fmla="*/ 151 w 512"/>
                <a:gd name="T95" fmla="*/ 169 h 512"/>
                <a:gd name="T96" fmla="*/ 122 w 512"/>
                <a:gd name="T97" fmla="*/ 106 h 512"/>
                <a:gd name="T98" fmla="*/ 114 w 512"/>
                <a:gd name="T99" fmla="*/ 126 h 512"/>
                <a:gd name="T100" fmla="*/ 86 w 512"/>
                <a:gd name="T101" fmla="*/ 75 h 512"/>
                <a:gd name="T102" fmla="*/ 86 w 512"/>
                <a:gd name="T103" fmla="*/ 8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12" h="512">
                  <a:moveTo>
                    <a:pt x="256" y="198"/>
                  </a:moveTo>
                  <a:cubicBezTo>
                    <a:pt x="243" y="198"/>
                    <a:pt x="232" y="188"/>
                    <a:pt x="232" y="174"/>
                  </a:cubicBezTo>
                  <a:cubicBezTo>
                    <a:pt x="232" y="161"/>
                    <a:pt x="243" y="150"/>
                    <a:pt x="256" y="150"/>
                  </a:cubicBezTo>
                  <a:cubicBezTo>
                    <a:pt x="269" y="150"/>
                    <a:pt x="280" y="161"/>
                    <a:pt x="280" y="174"/>
                  </a:cubicBezTo>
                  <a:cubicBezTo>
                    <a:pt x="280" y="188"/>
                    <a:pt x="269" y="198"/>
                    <a:pt x="256" y="198"/>
                  </a:cubicBezTo>
                  <a:close/>
                  <a:moveTo>
                    <a:pt x="273" y="108"/>
                  </a:moveTo>
                  <a:cubicBezTo>
                    <a:pt x="273" y="99"/>
                    <a:pt x="265" y="91"/>
                    <a:pt x="256" y="91"/>
                  </a:cubicBezTo>
                  <a:cubicBezTo>
                    <a:pt x="246" y="91"/>
                    <a:pt x="239" y="99"/>
                    <a:pt x="239" y="108"/>
                  </a:cubicBezTo>
                  <a:cubicBezTo>
                    <a:pt x="239" y="118"/>
                    <a:pt x="246" y="126"/>
                    <a:pt x="256" y="126"/>
                  </a:cubicBezTo>
                  <a:cubicBezTo>
                    <a:pt x="265" y="126"/>
                    <a:pt x="273" y="118"/>
                    <a:pt x="273" y="108"/>
                  </a:cubicBezTo>
                  <a:close/>
                  <a:moveTo>
                    <a:pt x="268" y="55"/>
                  </a:moveTo>
                  <a:cubicBezTo>
                    <a:pt x="268" y="49"/>
                    <a:pt x="263" y="43"/>
                    <a:pt x="256" y="43"/>
                  </a:cubicBezTo>
                  <a:cubicBezTo>
                    <a:pt x="249" y="43"/>
                    <a:pt x="244" y="49"/>
                    <a:pt x="244" y="55"/>
                  </a:cubicBezTo>
                  <a:cubicBezTo>
                    <a:pt x="244" y="62"/>
                    <a:pt x="249" y="67"/>
                    <a:pt x="256" y="67"/>
                  </a:cubicBezTo>
                  <a:cubicBezTo>
                    <a:pt x="263" y="67"/>
                    <a:pt x="268" y="62"/>
                    <a:pt x="268" y="55"/>
                  </a:cubicBezTo>
                  <a:close/>
                  <a:moveTo>
                    <a:pt x="264" y="8"/>
                  </a:moveTo>
                  <a:cubicBezTo>
                    <a:pt x="264" y="4"/>
                    <a:pt x="260" y="0"/>
                    <a:pt x="256" y="0"/>
                  </a:cubicBezTo>
                  <a:cubicBezTo>
                    <a:pt x="252" y="0"/>
                    <a:pt x="248" y="4"/>
                    <a:pt x="248" y="8"/>
                  </a:cubicBezTo>
                  <a:cubicBezTo>
                    <a:pt x="248" y="13"/>
                    <a:pt x="252" y="16"/>
                    <a:pt x="256" y="16"/>
                  </a:cubicBezTo>
                  <a:cubicBezTo>
                    <a:pt x="260" y="16"/>
                    <a:pt x="264" y="13"/>
                    <a:pt x="264" y="8"/>
                  </a:cubicBezTo>
                  <a:close/>
                  <a:moveTo>
                    <a:pt x="363" y="256"/>
                  </a:moveTo>
                  <a:cubicBezTo>
                    <a:pt x="363" y="243"/>
                    <a:pt x="352" y="232"/>
                    <a:pt x="338" y="232"/>
                  </a:cubicBezTo>
                  <a:cubicBezTo>
                    <a:pt x="325" y="232"/>
                    <a:pt x="314" y="243"/>
                    <a:pt x="314" y="256"/>
                  </a:cubicBezTo>
                  <a:cubicBezTo>
                    <a:pt x="314" y="270"/>
                    <a:pt x="325" y="281"/>
                    <a:pt x="338" y="281"/>
                  </a:cubicBezTo>
                  <a:cubicBezTo>
                    <a:pt x="352" y="281"/>
                    <a:pt x="363" y="270"/>
                    <a:pt x="363" y="256"/>
                  </a:cubicBezTo>
                  <a:close/>
                  <a:moveTo>
                    <a:pt x="421" y="256"/>
                  </a:moveTo>
                  <a:cubicBezTo>
                    <a:pt x="421" y="247"/>
                    <a:pt x="413" y="239"/>
                    <a:pt x="404" y="239"/>
                  </a:cubicBezTo>
                  <a:cubicBezTo>
                    <a:pt x="394" y="239"/>
                    <a:pt x="387" y="247"/>
                    <a:pt x="387" y="256"/>
                  </a:cubicBezTo>
                  <a:cubicBezTo>
                    <a:pt x="387" y="266"/>
                    <a:pt x="394" y="274"/>
                    <a:pt x="404" y="274"/>
                  </a:cubicBezTo>
                  <a:cubicBezTo>
                    <a:pt x="413" y="274"/>
                    <a:pt x="421" y="266"/>
                    <a:pt x="421" y="256"/>
                  </a:cubicBezTo>
                  <a:close/>
                  <a:moveTo>
                    <a:pt x="469" y="256"/>
                  </a:moveTo>
                  <a:cubicBezTo>
                    <a:pt x="469" y="250"/>
                    <a:pt x="464" y="244"/>
                    <a:pt x="457" y="244"/>
                  </a:cubicBezTo>
                  <a:cubicBezTo>
                    <a:pt x="451" y="244"/>
                    <a:pt x="445" y="250"/>
                    <a:pt x="445" y="256"/>
                  </a:cubicBezTo>
                  <a:cubicBezTo>
                    <a:pt x="445" y="263"/>
                    <a:pt x="451" y="268"/>
                    <a:pt x="457" y="268"/>
                  </a:cubicBezTo>
                  <a:cubicBezTo>
                    <a:pt x="464" y="268"/>
                    <a:pt x="469" y="263"/>
                    <a:pt x="469" y="256"/>
                  </a:cubicBezTo>
                  <a:close/>
                  <a:moveTo>
                    <a:pt x="512" y="256"/>
                  </a:moveTo>
                  <a:cubicBezTo>
                    <a:pt x="512" y="252"/>
                    <a:pt x="508" y="248"/>
                    <a:pt x="504" y="248"/>
                  </a:cubicBezTo>
                  <a:cubicBezTo>
                    <a:pt x="500" y="248"/>
                    <a:pt x="496" y="252"/>
                    <a:pt x="496" y="256"/>
                  </a:cubicBezTo>
                  <a:cubicBezTo>
                    <a:pt x="496" y="261"/>
                    <a:pt x="500" y="264"/>
                    <a:pt x="504" y="264"/>
                  </a:cubicBezTo>
                  <a:cubicBezTo>
                    <a:pt x="508" y="264"/>
                    <a:pt x="512" y="261"/>
                    <a:pt x="512" y="256"/>
                  </a:cubicBezTo>
                  <a:close/>
                  <a:moveTo>
                    <a:pt x="280" y="339"/>
                  </a:moveTo>
                  <a:cubicBezTo>
                    <a:pt x="280" y="325"/>
                    <a:pt x="269" y="314"/>
                    <a:pt x="256" y="314"/>
                  </a:cubicBezTo>
                  <a:cubicBezTo>
                    <a:pt x="243" y="314"/>
                    <a:pt x="232" y="325"/>
                    <a:pt x="232" y="339"/>
                  </a:cubicBezTo>
                  <a:cubicBezTo>
                    <a:pt x="232" y="352"/>
                    <a:pt x="243" y="363"/>
                    <a:pt x="256" y="363"/>
                  </a:cubicBezTo>
                  <a:cubicBezTo>
                    <a:pt x="269" y="363"/>
                    <a:pt x="280" y="352"/>
                    <a:pt x="280" y="339"/>
                  </a:cubicBezTo>
                  <a:close/>
                  <a:moveTo>
                    <a:pt x="273" y="404"/>
                  </a:moveTo>
                  <a:cubicBezTo>
                    <a:pt x="273" y="395"/>
                    <a:pt x="265" y="387"/>
                    <a:pt x="256" y="387"/>
                  </a:cubicBezTo>
                  <a:cubicBezTo>
                    <a:pt x="246" y="387"/>
                    <a:pt x="239" y="395"/>
                    <a:pt x="239" y="404"/>
                  </a:cubicBezTo>
                  <a:cubicBezTo>
                    <a:pt x="239" y="414"/>
                    <a:pt x="246" y="421"/>
                    <a:pt x="256" y="421"/>
                  </a:cubicBezTo>
                  <a:cubicBezTo>
                    <a:pt x="265" y="421"/>
                    <a:pt x="273" y="414"/>
                    <a:pt x="273" y="404"/>
                  </a:cubicBezTo>
                  <a:close/>
                  <a:moveTo>
                    <a:pt x="268" y="457"/>
                  </a:moveTo>
                  <a:cubicBezTo>
                    <a:pt x="268" y="451"/>
                    <a:pt x="263" y="446"/>
                    <a:pt x="256" y="446"/>
                  </a:cubicBezTo>
                  <a:cubicBezTo>
                    <a:pt x="249" y="446"/>
                    <a:pt x="244" y="451"/>
                    <a:pt x="244" y="457"/>
                  </a:cubicBezTo>
                  <a:cubicBezTo>
                    <a:pt x="244" y="464"/>
                    <a:pt x="249" y="469"/>
                    <a:pt x="256" y="469"/>
                  </a:cubicBezTo>
                  <a:cubicBezTo>
                    <a:pt x="263" y="469"/>
                    <a:pt x="268" y="464"/>
                    <a:pt x="268" y="457"/>
                  </a:cubicBezTo>
                  <a:close/>
                  <a:moveTo>
                    <a:pt x="264" y="504"/>
                  </a:moveTo>
                  <a:cubicBezTo>
                    <a:pt x="264" y="500"/>
                    <a:pt x="260" y="496"/>
                    <a:pt x="256" y="496"/>
                  </a:cubicBezTo>
                  <a:cubicBezTo>
                    <a:pt x="252" y="496"/>
                    <a:pt x="248" y="500"/>
                    <a:pt x="248" y="504"/>
                  </a:cubicBezTo>
                  <a:cubicBezTo>
                    <a:pt x="248" y="509"/>
                    <a:pt x="252" y="512"/>
                    <a:pt x="256" y="512"/>
                  </a:cubicBezTo>
                  <a:cubicBezTo>
                    <a:pt x="260" y="512"/>
                    <a:pt x="264" y="509"/>
                    <a:pt x="264" y="504"/>
                  </a:cubicBezTo>
                  <a:close/>
                  <a:moveTo>
                    <a:pt x="198" y="256"/>
                  </a:moveTo>
                  <a:cubicBezTo>
                    <a:pt x="198" y="243"/>
                    <a:pt x="187" y="232"/>
                    <a:pt x="174" y="232"/>
                  </a:cubicBezTo>
                  <a:cubicBezTo>
                    <a:pt x="160" y="232"/>
                    <a:pt x="149" y="243"/>
                    <a:pt x="149" y="256"/>
                  </a:cubicBezTo>
                  <a:cubicBezTo>
                    <a:pt x="149" y="270"/>
                    <a:pt x="160" y="281"/>
                    <a:pt x="174" y="281"/>
                  </a:cubicBezTo>
                  <a:cubicBezTo>
                    <a:pt x="187" y="281"/>
                    <a:pt x="198" y="270"/>
                    <a:pt x="198" y="256"/>
                  </a:cubicBezTo>
                  <a:close/>
                  <a:moveTo>
                    <a:pt x="126" y="256"/>
                  </a:moveTo>
                  <a:cubicBezTo>
                    <a:pt x="126" y="247"/>
                    <a:pt x="118" y="239"/>
                    <a:pt x="108" y="239"/>
                  </a:cubicBezTo>
                  <a:cubicBezTo>
                    <a:pt x="99" y="239"/>
                    <a:pt x="91" y="247"/>
                    <a:pt x="91" y="256"/>
                  </a:cubicBezTo>
                  <a:cubicBezTo>
                    <a:pt x="91" y="266"/>
                    <a:pt x="99" y="274"/>
                    <a:pt x="108" y="274"/>
                  </a:cubicBezTo>
                  <a:cubicBezTo>
                    <a:pt x="118" y="274"/>
                    <a:pt x="126" y="266"/>
                    <a:pt x="126" y="256"/>
                  </a:cubicBezTo>
                  <a:close/>
                  <a:moveTo>
                    <a:pt x="67" y="256"/>
                  </a:moveTo>
                  <a:cubicBezTo>
                    <a:pt x="67" y="250"/>
                    <a:pt x="62" y="244"/>
                    <a:pt x="55" y="244"/>
                  </a:cubicBezTo>
                  <a:cubicBezTo>
                    <a:pt x="48" y="244"/>
                    <a:pt x="43" y="250"/>
                    <a:pt x="43" y="256"/>
                  </a:cubicBezTo>
                  <a:cubicBezTo>
                    <a:pt x="43" y="263"/>
                    <a:pt x="48" y="268"/>
                    <a:pt x="55" y="268"/>
                  </a:cubicBezTo>
                  <a:cubicBezTo>
                    <a:pt x="62" y="268"/>
                    <a:pt x="67" y="263"/>
                    <a:pt x="67" y="256"/>
                  </a:cubicBezTo>
                  <a:close/>
                  <a:moveTo>
                    <a:pt x="16" y="256"/>
                  </a:moveTo>
                  <a:cubicBezTo>
                    <a:pt x="16" y="252"/>
                    <a:pt x="12" y="248"/>
                    <a:pt x="8" y="248"/>
                  </a:cubicBezTo>
                  <a:cubicBezTo>
                    <a:pt x="4" y="248"/>
                    <a:pt x="0" y="252"/>
                    <a:pt x="0" y="256"/>
                  </a:cubicBezTo>
                  <a:cubicBezTo>
                    <a:pt x="0" y="261"/>
                    <a:pt x="4" y="264"/>
                    <a:pt x="8" y="264"/>
                  </a:cubicBezTo>
                  <a:cubicBezTo>
                    <a:pt x="12" y="264"/>
                    <a:pt x="16" y="261"/>
                    <a:pt x="16" y="256"/>
                  </a:cubicBezTo>
                  <a:close/>
                  <a:moveTo>
                    <a:pt x="331" y="215"/>
                  </a:moveTo>
                  <a:cubicBezTo>
                    <a:pt x="336" y="211"/>
                    <a:pt x="338" y="205"/>
                    <a:pt x="338" y="198"/>
                  </a:cubicBezTo>
                  <a:cubicBezTo>
                    <a:pt x="338" y="192"/>
                    <a:pt x="336" y="186"/>
                    <a:pt x="331" y="181"/>
                  </a:cubicBezTo>
                  <a:cubicBezTo>
                    <a:pt x="327" y="176"/>
                    <a:pt x="321" y="174"/>
                    <a:pt x="314" y="174"/>
                  </a:cubicBezTo>
                  <a:cubicBezTo>
                    <a:pt x="308" y="174"/>
                    <a:pt x="301" y="176"/>
                    <a:pt x="297" y="181"/>
                  </a:cubicBezTo>
                  <a:cubicBezTo>
                    <a:pt x="292" y="186"/>
                    <a:pt x="290" y="192"/>
                    <a:pt x="290" y="198"/>
                  </a:cubicBezTo>
                  <a:cubicBezTo>
                    <a:pt x="290" y="205"/>
                    <a:pt x="292" y="211"/>
                    <a:pt x="297" y="215"/>
                  </a:cubicBezTo>
                  <a:cubicBezTo>
                    <a:pt x="301" y="220"/>
                    <a:pt x="308" y="223"/>
                    <a:pt x="314" y="223"/>
                  </a:cubicBezTo>
                  <a:cubicBezTo>
                    <a:pt x="321" y="223"/>
                    <a:pt x="327" y="220"/>
                    <a:pt x="331" y="215"/>
                  </a:cubicBezTo>
                  <a:close/>
                  <a:moveTo>
                    <a:pt x="373" y="164"/>
                  </a:moveTo>
                  <a:cubicBezTo>
                    <a:pt x="379" y="157"/>
                    <a:pt x="379" y="146"/>
                    <a:pt x="373" y="140"/>
                  </a:cubicBezTo>
                  <a:cubicBezTo>
                    <a:pt x="369" y="136"/>
                    <a:pt x="365" y="135"/>
                    <a:pt x="360" y="135"/>
                  </a:cubicBezTo>
                  <a:cubicBezTo>
                    <a:pt x="356" y="135"/>
                    <a:pt x="351" y="136"/>
                    <a:pt x="348" y="140"/>
                  </a:cubicBezTo>
                  <a:cubicBezTo>
                    <a:pt x="345" y="143"/>
                    <a:pt x="343" y="147"/>
                    <a:pt x="343" y="152"/>
                  </a:cubicBezTo>
                  <a:cubicBezTo>
                    <a:pt x="343" y="156"/>
                    <a:pt x="345" y="161"/>
                    <a:pt x="348" y="164"/>
                  </a:cubicBezTo>
                  <a:cubicBezTo>
                    <a:pt x="351" y="167"/>
                    <a:pt x="356" y="169"/>
                    <a:pt x="360" y="169"/>
                  </a:cubicBezTo>
                  <a:cubicBezTo>
                    <a:pt x="365" y="169"/>
                    <a:pt x="369" y="167"/>
                    <a:pt x="373" y="164"/>
                  </a:cubicBezTo>
                  <a:close/>
                  <a:moveTo>
                    <a:pt x="407" y="123"/>
                  </a:moveTo>
                  <a:cubicBezTo>
                    <a:pt x="409" y="120"/>
                    <a:pt x="410" y="117"/>
                    <a:pt x="410" y="114"/>
                  </a:cubicBezTo>
                  <a:cubicBezTo>
                    <a:pt x="410" y="111"/>
                    <a:pt x="409" y="108"/>
                    <a:pt x="407" y="106"/>
                  </a:cubicBezTo>
                  <a:cubicBezTo>
                    <a:pt x="404" y="103"/>
                    <a:pt x="401" y="102"/>
                    <a:pt x="398" y="102"/>
                  </a:cubicBezTo>
                  <a:cubicBezTo>
                    <a:pt x="395" y="102"/>
                    <a:pt x="392" y="103"/>
                    <a:pt x="390" y="106"/>
                  </a:cubicBezTo>
                  <a:cubicBezTo>
                    <a:pt x="387" y="108"/>
                    <a:pt x="386" y="111"/>
                    <a:pt x="386" y="114"/>
                  </a:cubicBezTo>
                  <a:cubicBezTo>
                    <a:pt x="386" y="117"/>
                    <a:pt x="387" y="120"/>
                    <a:pt x="390" y="123"/>
                  </a:cubicBezTo>
                  <a:cubicBezTo>
                    <a:pt x="392" y="125"/>
                    <a:pt x="395" y="126"/>
                    <a:pt x="398" y="126"/>
                  </a:cubicBezTo>
                  <a:cubicBezTo>
                    <a:pt x="401" y="126"/>
                    <a:pt x="404" y="125"/>
                    <a:pt x="407" y="123"/>
                  </a:cubicBezTo>
                  <a:close/>
                  <a:moveTo>
                    <a:pt x="437" y="87"/>
                  </a:moveTo>
                  <a:cubicBezTo>
                    <a:pt x="440" y="84"/>
                    <a:pt x="440" y="79"/>
                    <a:pt x="437" y="75"/>
                  </a:cubicBezTo>
                  <a:cubicBezTo>
                    <a:pt x="434" y="72"/>
                    <a:pt x="429" y="72"/>
                    <a:pt x="426" y="75"/>
                  </a:cubicBezTo>
                  <a:cubicBezTo>
                    <a:pt x="423" y="79"/>
                    <a:pt x="423" y="84"/>
                    <a:pt x="426" y="87"/>
                  </a:cubicBezTo>
                  <a:cubicBezTo>
                    <a:pt x="427" y="88"/>
                    <a:pt x="429" y="89"/>
                    <a:pt x="431" y="89"/>
                  </a:cubicBezTo>
                  <a:cubicBezTo>
                    <a:pt x="433" y="89"/>
                    <a:pt x="435" y="88"/>
                    <a:pt x="437" y="87"/>
                  </a:cubicBezTo>
                  <a:close/>
                  <a:moveTo>
                    <a:pt x="331" y="332"/>
                  </a:moveTo>
                  <a:cubicBezTo>
                    <a:pt x="341" y="322"/>
                    <a:pt x="341" y="307"/>
                    <a:pt x="331" y="297"/>
                  </a:cubicBezTo>
                  <a:cubicBezTo>
                    <a:pt x="327" y="293"/>
                    <a:pt x="321" y="290"/>
                    <a:pt x="314" y="290"/>
                  </a:cubicBezTo>
                  <a:cubicBezTo>
                    <a:pt x="308" y="290"/>
                    <a:pt x="302" y="293"/>
                    <a:pt x="297" y="297"/>
                  </a:cubicBezTo>
                  <a:cubicBezTo>
                    <a:pt x="287" y="307"/>
                    <a:pt x="287" y="322"/>
                    <a:pt x="297" y="332"/>
                  </a:cubicBezTo>
                  <a:cubicBezTo>
                    <a:pt x="302" y="336"/>
                    <a:pt x="308" y="339"/>
                    <a:pt x="314" y="339"/>
                  </a:cubicBezTo>
                  <a:cubicBezTo>
                    <a:pt x="321" y="339"/>
                    <a:pt x="327" y="336"/>
                    <a:pt x="331" y="332"/>
                  </a:cubicBezTo>
                  <a:close/>
                  <a:moveTo>
                    <a:pt x="373" y="373"/>
                  </a:moveTo>
                  <a:cubicBezTo>
                    <a:pt x="379" y="366"/>
                    <a:pt x="379" y="355"/>
                    <a:pt x="373" y="349"/>
                  </a:cubicBezTo>
                  <a:cubicBezTo>
                    <a:pt x="369" y="346"/>
                    <a:pt x="365" y="344"/>
                    <a:pt x="360" y="344"/>
                  </a:cubicBezTo>
                  <a:cubicBezTo>
                    <a:pt x="356" y="344"/>
                    <a:pt x="352" y="346"/>
                    <a:pt x="348" y="349"/>
                  </a:cubicBezTo>
                  <a:cubicBezTo>
                    <a:pt x="345" y="352"/>
                    <a:pt x="343" y="356"/>
                    <a:pt x="343" y="361"/>
                  </a:cubicBezTo>
                  <a:cubicBezTo>
                    <a:pt x="343" y="366"/>
                    <a:pt x="345" y="370"/>
                    <a:pt x="348" y="373"/>
                  </a:cubicBezTo>
                  <a:cubicBezTo>
                    <a:pt x="352" y="376"/>
                    <a:pt x="356" y="378"/>
                    <a:pt x="360" y="378"/>
                  </a:cubicBezTo>
                  <a:cubicBezTo>
                    <a:pt x="365" y="378"/>
                    <a:pt x="369" y="376"/>
                    <a:pt x="373" y="373"/>
                  </a:cubicBezTo>
                  <a:close/>
                  <a:moveTo>
                    <a:pt x="407" y="407"/>
                  </a:moveTo>
                  <a:cubicBezTo>
                    <a:pt x="409" y="405"/>
                    <a:pt x="410" y="402"/>
                    <a:pt x="410" y="399"/>
                  </a:cubicBezTo>
                  <a:cubicBezTo>
                    <a:pt x="410" y="395"/>
                    <a:pt x="409" y="392"/>
                    <a:pt x="407" y="390"/>
                  </a:cubicBezTo>
                  <a:cubicBezTo>
                    <a:pt x="404" y="388"/>
                    <a:pt x="401" y="387"/>
                    <a:pt x="398" y="387"/>
                  </a:cubicBezTo>
                  <a:cubicBezTo>
                    <a:pt x="395" y="387"/>
                    <a:pt x="392" y="388"/>
                    <a:pt x="390" y="390"/>
                  </a:cubicBezTo>
                  <a:cubicBezTo>
                    <a:pt x="388" y="392"/>
                    <a:pt x="386" y="395"/>
                    <a:pt x="386" y="399"/>
                  </a:cubicBezTo>
                  <a:cubicBezTo>
                    <a:pt x="386" y="402"/>
                    <a:pt x="387" y="405"/>
                    <a:pt x="390" y="407"/>
                  </a:cubicBezTo>
                  <a:cubicBezTo>
                    <a:pt x="392" y="409"/>
                    <a:pt x="395" y="411"/>
                    <a:pt x="398" y="411"/>
                  </a:cubicBezTo>
                  <a:cubicBezTo>
                    <a:pt x="401" y="411"/>
                    <a:pt x="404" y="409"/>
                    <a:pt x="407" y="407"/>
                  </a:cubicBezTo>
                  <a:close/>
                  <a:moveTo>
                    <a:pt x="437" y="437"/>
                  </a:moveTo>
                  <a:cubicBezTo>
                    <a:pt x="439" y="436"/>
                    <a:pt x="439" y="434"/>
                    <a:pt x="439" y="432"/>
                  </a:cubicBezTo>
                  <a:cubicBezTo>
                    <a:pt x="439" y="430"/>
                    <a:pt x="438" y="428"/>
                    <a:pt x="437" y="426"/>
                  </a:cubicBezTo>
                  <a:cubicBezTo>
                    <a:pt x="434" y="423"/>
                    <a:pt x="429" y="423"/>
                    <a:pt x="426" y="426"/>
                  </a:cubicBezTo>
                  <a:cubicBezTo>
                    <a:pt x="424" y="428"/>
                    <a:pt x="423" y="430"/>
                    <a:pt x="423" y="432"/>
                  </a:cubicBezTo>
                  <a:cubicBezTo>
                    <a:pt x="423" y="434"/>
                    <a:pt x="424" y="436"/>
                    <a:pt x="426" y="437"/>
                  </a:cubicBezTo>
                  <a:cubicBezTo>
                    <a:pt x="427" y="439"/>
                    <a:pt x="429" y="440"/>
                    <a:pt x="431" y="440"/>
                  </a:cubicBezTo>
                  <a:cubicBezTo>
                    <a:pt x="433" y="440"/>
                    <a:pt x="435" y="439"/>
                    <a:pt x="437" y="437"/>
                  </a:cubicBezTo>
                  <a:close/>
                  <a:moveTo>
                    <a:pt x="215" y="332"/>
                  </a:moveTo>
                  <a:cubicBezTo>
                    <a:pt x="224" y="322"/>
                    <a:pt x="224" y="307"/>
                    <a:pt x="215" y="297"/>
                  </a:cubicBezTo>
                  <a:cubicBezTo>
                    <a:pt x="210" y="293"/>
                    <a:pt x="204" y="290"/>
                    <a:pt x="198" y="290"/>
                  </a:cubicBezTo>
                  <a:cubicBezTo>
                    <a:pt x="191" y="290"/>
                    <a:pt x="185" y="293"/>
                    <a:pt x="181" y="297"/>
                  </a:cubicBezTo>
                  <a:cubicBezTo>
                    <a:pt x="176" y="302"/>
                    <a:pt x="173" y="308"/>
                    <a:pt x="173" y="314"/>
                  </a:cubicBezTo>
                  <a:cubicBezTo>
                    <a:pt x="173" y="321"/>
                    <a:pt x="176" y="327"/>
                    <a:pt x="181" y="332"/>
                  </a:cubicBezTo>
                  <a:cubicBezTo>
                    <a:pt x="185" y="336"/>
                    <a:pt x="191" y="339"/>
                    <a:pt x="198" y="339"/>
                  </a:cubicBezTo>
                  <a:cubicBezTo>
                    <a:pt x="204" y="339"/>
                    <a:pt x="210" y="336"/>
                    <a:pt x="215" y="332"/>
                  </a:cubicBezTo>
                  <a:close/>
                  <a:moveTo>
                    <a:pt x="164" y="373"/>
                  </a:moveTo>
                  <a:cubicBezTo>
                    <a:pt x="167" y="370"/>
                    <a:pt x="169" y="365"/>
                    <a:pt x="169" y="361"/>
                  </a:cubicBezTo>
                  <a:cubicBezTo>
                    <a:pt x="169" y="356"/>
                    <a:pt x="167" y="352"/>
                    <a:pt x="164" y="349"/>
                  </a:cubicBezTo>
                  <a:cubicBezTo>
                    <a:pt x="160" y="345"/>
                    <a:pt x="156" y="344"/>
                    <a:pt x="151" y="344"/>
                  </a:cubicBezTo>
                  <a:cubicBezTo>
                    <a:pt x="147" y="344"/>
                    <a:pt x="142" y="345"/>
                    <a:pt x="139" y="349"/>
                  </a:cubicBezTo>
                  <a:cubicBezTo>
                    <a:pt x="132" y="355"/>
                    <a:pt x="132" y="366"/>
                    <a:pt x="139" y="373"/>
                  </a:cubicBezTo>
                  <a:cubicBezTo>
                    <a:pt x="142" y="376"/>
                    <a:pt x="147" y="378"/>
                    <a:pt x="151" y="378"/>
                  </a:cubicBezTo>
                  <a:cubicBezTo>
                    <a:pt x="156" y="378"/>
                    <a:pt x="160" y="376"/>
                    <a:pt x="164" y="373"/>
                  </a:cubicBezTo>
                  <a:close/>
                  <a:moveTo>
                    <a:pt x="122" y="407"/>
                  </a:moveTo>
                  <a:cubicBezTo>
                    <a:pt x="124" y="405"/>
                    <a:pt x="126" y="402"/>
                    <a:pt x="126" y="399"/>
                  </a:cubicBezTo>
                  <a:cubicBezTo>
                    <a:pt x="126" y="395"/>
                    <a:pt x="124" y="392"/>
                    <a:pt x="122" y="390"/>
                  </a:cubicBezTo>
                  <a:cubicBezTo>
                    <a:pt x="120" y="388"/>
                    <a:pt x="117" y="387"/>
                    <a:pt x="114" y="387"/>
                  </a:cubicBezTo>
                  <a:cubicBezTo>
                    <a:pt x="110" y="387"/>
                    <a:pt x="107" y="388"/>
                    <a:pt x="105" y="390"/>
                  </a:cubicBezTo>
                  <a:cubicBezTo>
                    <a:pt x="103" y="392"/>
                    <a:pt x="102" y="395"/>
                    <a:pt x="102" y="399"/>
                  </a:cubicBezTo>
                  <a:cubicBezTo>
                    <a:pt x="102" y="402"/>
                    <a:pt x="103" y="405"/>
                    <a:pt x="105" y="407"/>
                  </a:cubicBezTo>
                  <a:cubicBezTo>
                    <a:pt x="107" y="409"/>
                    <a:pt x="110" y="411"/>
                    <a:pt x="114" y="411"/>
                  </a:cubicBezTo>
                  <a:cubicBezTo>
                    <a:pt x="117" y="411"/>
                    <a:pt x="120" y="409"/>
                    <a:pt x="122" y="407"/>
                  </a:cubicBezTo>
                  <a:close/>
                  <a:moveTo>
                    <a:pt x="86" y="437"/>
                  </a:moveTo>
                  <a:cubicBezTo>
                    <a:pt x="88" y="436"/>
                    <a:pt x="88" y="434"/>
                    <a:pt x="88" y="432"/>
                  </a:cubicBezTo>
                  <a:cubicBezTo>
                    <a:pt x="88" y="430"/>
                    <a:pt x="88" y="428"/>
                    <a:pt x="86" y="426"/>
                  </a:cubicBezTo>
                  <a:cubicBezTo>
                    <a:pt x="83" y="423"/>
                    <a:pt x="78" y="423"/>
                    <a:pt x="75" y="426"/>
                  </a:cubicBezTo>
                  <a:cubicBezTo>
                    <a:pt x="72" y="429"/>
                    <a:pt x="72" y="434"/>
                    <a:pt x="75" y="437"/>
                  </a:cubicBezTo>
                  <a:cubicBezTo>
                    <a:pt x="76" y="439"/>
                    <a:pt x="78" y="440"/>
                    <a:pt x="81" y="440"/>
                  </a:cubicBezTo>
                  <a:cubicBezTo>
                    <a:pt x="83" y="440"/>
                    <a:pt x="85" y="439"/>
                    <a:pt x="86" y="437"/>
                  </a:cubicBezTo>
                  <a:close/>
                  <a:moveTo>
                    <a:pt x="215" y="216"/>
                  </a:moveTo>
                  <a:cubicBezTo>
                    <a:pt x="225" y="206"/>
                    <a:pt x="225" y="191"/>
                    <a:pt x="215" y="181"/>
                  </a:cubicBezTo>
                  <a:cubicBezTo>
                    <a:pt x="210" y="176"/>
                    <a:pt x="204" y="174"/>
                    <a:pt x="198" y="174"/>
                  </a:cubicBezTo>
                  <a:cubicBezTo>
                    <a:pt x="191" y="174"/>
                    <a:pt x="185" y="176"/>
                    <a:pt x="181" y="181"/>
                  </a:cubicBezTo>
                  <a:cubicBezTo>
                    <a:pt x="176" y="186"/>
                    <a:pt x="174" y="192"/>
                    <a:pt x="174" y="198"/>
                  </a:cubicBezTo>
                  <a:cubicBezTo>
                    <a:pt x="174" y="205"/>
                    <a:pt x="176" y="211"/>
                    <a:pt x="181" y="216"/>
                  </a:cubicBezTo>
                  <a:cubicBezTo>
                    <a:pt x="185" y="220"/>
                    <a:pt x="191" y="223"/>
                    <a:pt x="198" y="223"/>
                  </a:cubicBezTo>
                  <a:cubicBezTo>
                    <a:pt x="204" y="223"/>
                    <a:pt x="210" y="220"/>
                    <a:pt x="215" y="216"/>
                  </a:cubicBezTo>
                  <a:close/>
                  <a:moveTo>
                    <a:pt x="164" y="164"/>
                  </a:moveTo>
                  <a:cubicBezTo>
                    <a:pt x="167" y="161"/>
                    <a:pt x="169" y="157"/>
                    <a:pt x="169" y="152"/>
                  </a:cubicBezTo>
                  <a:cubicBezTo>
                    <a:pt x="169" y="147"/>
                    <a:pt x="167" y="143"/>
                    <a:pt x="164" y="140"/>
                  </a:cubicBezTo>
                  <a:cubicBezTo>
                    <a:pt x="160" y="137"/>
                    <a:pt x="156" y="135"/>
                    <a:pt x="151" y="135"/>
                  </a:cubicBezTo>
                  <a:cubicBezTo>
                    <a:pt x="147" y="135"/>
                    <a:pt x="143" y="137"/>
                    <a:pt x="139" y="140"/>
                  </a:cubicBezTo>
                  <a:cubicBezTo>
                    <a:pt x="136" y="143"/>
                    <a:pt x="134" y="147"/>
                    <a:pt x="134" y="152"/>
                  </a:cubicBezTo>
                  <a:cubicBezTo>
                    <a:pt x="134" y="157"/>
                    <a:pt x="136" y="161"/>
                    <a:pt x="139" y="164"/>
                  </a:cubicBezTo>
                  <a:cubicBezTo>
                    <a:pt x="143" y="167"/>
                    <a:pt x="147" y="169"/>
                    <a:pt x="151" y="169"/>
                  </a:cubicBezTo>
                  <a:cubicBezTo>
                    <a:pt x="156" y="169"/>
                    <a:pt x="160" y="167"/>
                    <a:pt x="164" y="164"/>
                  </a:cubicBezTo>
                  <a:close/>
                  <a:moveTo>
                    <a:pt x="122" y="123"/>
                  </a:moveTo>
                  <a:cubicBezTo>
                    <a:pt x="125" y="120"/>
                    <a:pt x="126" y="117"/>
                    <a:pt x="126" y="114"/>
                  </a:cubicBezTo>
                  <a:cubicBezTo>
                    <a:pt x="126" y="111"/>
                    <a:pt x="124" y="108"/>
                    <a:pt x="122" y="106"/>
                  </a:cubicBezTo>
                  <a:cubicBezTo>
                    <a:pt x="120" y="104"/>
                    <a:pt x="117" y="102"/>
                    <a:pt x="114" y="102"/>
                  </a:cubicBezTo>
                  <a:cubicBezTo>
                    <a:pt x="111" y="102"/>
                    <a:pt x="108" y="104"/>
                    <a:pt x="105" y="106"/>
                  </a:cubicBezTo>
                  <a:cubicBezTo>
                    <a:pt x="101" y="110"/>
                    <a:pt x="101" y="118"/>
                    <a:pt x="105" y="123"/>
                  </a:cubicBezTo>
                  <a:cubicBezTo>
                    <a:pt x="108" y="125"/>
                    <a:pt x="111" y="126"/>
                    <a:pt x="114" y="126"/>
                  </a:cubicBezTo>
                  <a:cubicBezTo>
                    <a:pt x="117" y="126"/>
                    <a:pt x="120" y="125"/>
                    <a:pt x="122" y="123"/>
                  </a:cubicBezTo>
                  <a:close/>
                  <a:moveTo>
                    <a:pt x="86" y="87"/>
                  </a:moveTo>
                  <a:cubicBezTo>
                    <a:pt x="88" y="85"/>
                    <a:pt x="89" y="83"/>
                    <a:pt x="89" y="81"/>
                  </a:cubicBezTo>
                  <a:cubicBezTo>
                    <a:pt x="89" y="79"/>
                    <a:pt x="88" y="77"/>
                    <a:pt x="86" y="75"/>
                  </a:cubicBezTo>
                  <a:cubicBezTo>
                    <a:pt x="83" y="72"/>
                    <a:pt x="78" y="72"/>
                    <a:pt x="75" y="76"/>
                  </a:cubicBezTo>
                  <a:cubicBezTo>
                    <a:pt x="72" y="79"/>
                    <a:pt x="72" y="84"/>
                    <a:pt x="75" y="87"/>
                  </a:cubicBezTo>
                  <a:cubicBezTo>
                    <a:pt x="77" y="88"/>
                    <a:pt x="79" y="89"/>
                    <a:pt x="81" y="89"/>
                  </a:cubicBezTo>
                  <a:cubicBezTo>
                    <a:pt x="83" y="89"/>
                    <a:pt x="85" y="88"/>
                    <a:pt x="86" y="8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57194751"/>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57200" y="457200"/>
            <a:ext cx="3534508" cy="388452"/>
          </a:xfrm>
          <a:prstGeom prst="rect">
            <a:avLst/>
          </a:prstGeom>
        </p:spPr>
        <p:txBody>
          <a:bodyPr vert="horz" lIns="0" tIns="0" rIns="0" bIns="45720" rtlCol="0" anchor="t" anchorCtr="0"/>
          <a:lstStyle>
            <a:lvl1pPr algn="l">
              <a:defRPr sz="1200">
                <a:latin typeface="Arial" panose="020B0604020202020204" pitchFamily="34" charset="0"/>
              </a:defRPr>
            </a:lvl1pPr>
          </a:lstStyle>
          <a:p>
            <a:r>
              <a:rPr lang="en-US" dirty="0"/>
              <a:t>Presentation Title</a:t>
            </a:r>
          </a:p>
        </p:txBody>
      </p:sp>
      <p:sp>
        <p:nvSpPr>
          <p:cNvPr id="4" name="Slide Image Placeholder 3"/>
          <p:cNvSpPr>
            <a:spLocks noGrp="1" noRot="1" noChangeAspect="1"/>
          </p:cNvSpPr>
          <p:nvPr>
            <p:ph type="sldImg" idx="2"/>
          </p:nvPr>
        </p:nvSpPr>
        <p:spPr>
          <a:xfrm>
            <a:off x="453221" y="931863"/>
            <a:ext cx="3963988" cy="2230437"/>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248634"/>
            <a:ext cx="5978769" cy="4863924"/>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2"/>
          <p:cNvSpPr>
            <a:spLocks noGrp="1"/>
          </p:cNvSpPr>
          <p:nvPr>
            <p:ph type="dt" idx="1"/>
          </p:nvPr>
        </p:nvSpPr>
        <p:spPr>
          <a:xfrm>
            <a:off x="5698541" y="606409"/>
            <a:ext cx="737428" cy="133066"/>
          </a:xfrm>
          <a:prstGeom prst="rect">
            <a:avLst/>
          </a:prstGeom>
        </p:spPr>
        <p:txBody>
          <a:bodyPr vert="horz" lIns="0" tIns="0" rIns="0" bIns="0" rtlCol="0" anchor="t" anchorCtr="0"/>
          <a:lstStyle>
            <a:lvl1pPr algn="r">
              <a:defRPr sz="700">
                <a:latin typeface="Arial" panose="020B0604020202020204" pitchFamily="34" charset="0"/>
              </a:defRPr>
            </a:lvl1pPr>
          </a:lstStyle>
          <a:p>
            <a:fld id="{B2DC8C54-9E5A-4F12-BBD8-67F0CB2085DF}" type="datetime1">
              <a:rPr lang="en-US" smtClean="0"/>
              <a:t>23-Feb-26</a:t>
            </a:fld>
            <a:endParaRPr lang="en-US" dirty="0"/>
          </a:p>
        </p:txBody>
      </p:sp>
      <p:sp>
        <p:nvSpPr>
          <p:cNvPr id="9" name="Footer Placeholder 5"/>
          <p:cNvSpPr>
            <a:spLocks noGrp="1"/>
          </p:cNvSpPr>
          <p:nvPr>
            <p:ph type="ftr" sz="quarter" idx="4"/>
          </p:nvPr>
        </p:nvSpPr>
        <p:spPr>
          <a:xfrm>
            <a:off x="4417209" y="759275"/>
            <a:ext cx="2018760" cy="440446"/>
          </a:xfrm>
          <a:prstGeom prst="rect">
            <a:avLst/>
          </a:prstGeom>
        </p:spPr>
        <p:txBody>
          <a:bodyPr vert="horz" lIns="0" tIns="0" rIns="0" bIns="0" rtlCol="0" anchor="t" anchorCtr="0"/>
          <a:lstStyle>
            <a:lvl1pPr algn="r">
              <a:defRPr sz="700">
                <a:latin typeface="Roboto" panose="02000000000000000000" pitchFamily="2" charset="0"/>
              </a:defRPr>
            </a:lvl1pPr>
          </a:lstStyle>
          <a:p>
            <a:r>
              <a:rPr lang="en-US" dirty="0">
                <a:latin typeface="Arial" panose="020B0604020202020204" pitchFamily="34" charset="0"/>
              </a:rPr>
              <a:t>Confidentiality label</a:t>
            </a:r>
          </a:p>
          <a:p>
            <a:r>
              <a:rPr lang="en-US" dirty="0">
                <a:latin typeface="Arial" panose="020B0604020202020204" pitchFamily="34" charset="0"/>
              </a:rPr>
              <a:t>Regulatory statement (if applicable))</a:t>
            </a:r>
          </a:p>
        </p:txBody>
      </p:sp>
      <p:sp>
        <p:nvSpPr>
          <p:cNvPr id="10" name="Slide Number Placeholder 6"/>
          <p:cNvSpPr>
            <a:spLocks noGrp="1"/>
          </p:cNvSpPr>
          <p:nvPr>
            <p:ph type="sldNum" sz="quarter" idx="5"/>
          </p:nvPr>
        </p:nvSpPr>
        <p:spPr>
          <a:xfrm>
            <a:off x="5929850" y="457200"/>
            <a:ext cx="506119" cy="129408"/>
          </a:xfrm>
          <a:prstGeom prst="rect">
            <a:avLst/>
          </a:prstGeom>
        </p:spPr>
        <p:txBody>
          <a:bodyPr vert="horz" lIns="0" tIns="0" rIns="0" bIns="0" rtlCol="0" anchor="t" anchorCtr="0"/>
          <a:lstStyle>
            <a:lvl1pPr algn="r">
              <a:defRPr sz="700" b="1">
                <a:latin typeface="Arial" panose="020B0604020202020204" pitchFamily="34" charset="0"/>
              </a:defRPr>
            </a:lvl1pPr>
          </a:lstStyle>
          <a:p>
            <a:fld id="{57788AFD-C26B-478C-B2D8-3A933D69C95F}" type="slidenum">
              <a:rPr lang="en-US" smtClean="0"/>
              <a:pPr/>
              <a:t>‹#›</a:t>
            </a:fld>
            <a:endParaRPr lang="en-US" dirty="0"/>
          </a:p>
        </p:txBody>
      </p:sp>
      <p:grpSp>
        <p:nvGrpSpPr>
          <p:cNvPr id="11" name="Group 10"/>
          <p:cNvGrpSpPr/>
          <p:nvPr/>
        </p:nvGrpSpPr>
        <p:grpSpPr>
          <a:xfrm>
            <a:off x="5372723" y="8546123"/>
            <a:ext cx="1035625" cy="433341"/>
            <a:chOff x="11078804" y="6536967"/>
            <a:chExt cx="682186" cy="285450"/>
          </a:xfrm>
        </p:grpSpPr>
        <p:sp>
          <p:nvSpPr>
            <p:cNvPr id="13" name="Freeform 5"/>
            <p:cNvSpPr>
              <a:spLocks noEditPoints="1"/>
            </p:cNvSpPr>
            <p:nvPr/>
          </p:nvSpPr>
          <p:spPr bwMode="auto">
            <a:xfrm>
              <a:off x="11388208" y="6627792"/>
              <a:ext cx="75355" cy="94817"/>
            </a:xfrm>
            <a:custGeom>
              <a:avLst/>
              <a:gdLst>
                <a:gd name="T0" fmla="*/ 93 w 151"/>
                <a:gd name="T1" fmla="*/ 118 h 190"/>
                <a:gd name="T2" fmla="*/ 56 w 151"/>
                <a:gd name="T3" fmla="*/ 118 h 190"/>
                <a:gd name="T4" fmla="*/ 74 w 151"/>
                <a:gd name="T5" fmla="*/ 37 h 190"/>
                <a:gd name="T6" fmla="*/ 75 w 151"/>
                <a:gd name="T7" fmla="*/ 37 h 190"/>
                <a:gd name="T8" fmla="*/ 93 w 151"/>
                <a:gd name="T9" fmla="*/ 118 h 190"/>
                <a:gd name="T10" fmla="*/ 38 w 151"/>
                <a:gd name="T11" fmla="*/ 190 h 190"/>
                <a:gd name="T12" fmla="*/ 49 w 151"/>
                <a:gd name="T13" fmla="*/ 149 h 190"/>
                <a:gd name="T14" fmla="*/ 102 w 151"/>
                <a:gd name="T15" fmla="*/ 149 h 190"/>
                <a:gd name="T16" fmla="*/ 111 w 151"/>
                <a:gd name="T17" fmla="*/ 190 h 190"/>
                <a:gd name="T18" fmla="*/ 151 w 151"/>
                <a:gd name="T19" fmla="*/ 190 h 190"/>
                <a:gd name="T20" fmla="*/ 102 w 151"/>
                <a:gd name="T21" fmla="*/ 0 h 190"/>
                <a:gd name="T22" fmla="*/ 51 w 151"/>
                <a:gd name="T23" fmla="*/ 0 h 190"/>
                <a:gd name="T24" fmla="*/ 0 w 151"/>
                <a:gd name="T25" fmla="*/ 190 h 190"/>
                <a:gd name="T26" fmla="*/ 38 w 151"/>
                <a:gd name="T27" fmla="*/ 1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190">
                  <a:moveTo>
                    <a:pt x="93" y="118"/>
                  </a:moveTo>
                  <a:lnTo>
                    <a:pt x="56" y="118"/>
                  </a:lnTo>
                  <a:lnTo>
                    <a:pt x="74" y="37"/>
                  </a:lnTo>
                  <a:lnTo>
                    <a:pt x="75" y="37"/>
                  </a:lnTo>
                  <a:lnTo>
                    <a:pt x="93" y="118"/>
                  </a:lnTo>
                  <a:close/>
                  <a:moveTo>
                    <a:pt x="38" y="190"/>
                  </a:moveTo>
                  <a:lnTo>
                    <a:pt x="49" y="149"/>
                  </a:lnTo>
                  <a:lnTo>
                    <a:pt x="102" y="149"/>
                  </a:lnTo>
                  <a:lnTo>
                    <a:pt x="111" y="190"/>
                  </a:lnTo>
                  <a:lnTo>
                    <a:pt x="151" y="190"/>
                  </a:lnTo>
                  <a:lnTo>
                    <a:pt x="102" y="0"/>
                  </a:lnTo>
                  <a:lnTo>
                    <a:pt x="51" y="0"/>
                  </a:lnTo>
                  <a:lnTo>
                    <a:pt x="0" y="190"/>
                  </a:lnTo>
                  <a:lnTo>
                    <a:pt x="38" y="19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4" name="Freeform 6"/>
            <p:cNvSpPr>
              <a:spLocks noEditPoints="1"/>
            </p:cNvSpPr>
            <p:nvPr/>
          </p:nvSpPr>
          <p:spPr bwMode="auto">
            <a:xfrm>
              <a:off x="11469551" y="6655239"/>
              <a:ext cx="51401" cy="92821"/>
            </a:xfrm>
            <a:custGeom>
              <a:avLst/>
              <a:gdLst>
                <a:gd name="T0" fmla="*/ 34 w 96"/>
                <a:gd name="T1" fmla="*/ 65 h 167"/>
                <a:gd name="T2" fmla="*/ 49 w 96"/>
                <a:gd name="T3" fmla="*/ 20 h 167"/>
                <a:gd name="T4" fmla="*/ 62 w 96"/>
                <a:gd name="T5" fmla="*/ 61 h 167"/>
                <a:gd name="T6" fmla="*/ 49 w 96"/>
                <a:gd name="T7" fmla="*/ 99 h 167"/>
                <a:gd name="T8" fmla="*/ 34 w 96"/>
                <a:gd name="T9" fmla="*/ 65 h 167"/>
                <a:gd name="T10" fmla="*/ 64 w 96"/>
                <a:gd name="T11" fmla="*/ 2 h 167"/>
                <a:gd name="T12" fmla="*/ 64 w 96"/>
                <a:gd name="T13" fmla="*/ 16 h 167"/>
                <a:gd name="T14" fmla="*/ 63 w 96"/>
                <a:gd name="T15" fmla="*/ 16 h 167"/>
                <a:gd name="T16" fmla="*/ 37 w 96"/>
                <a:gd name="T17" fmla="*/ 0 h 167"/>
                <a:gd name="T18" fmla="*/ 2 w 96"/>
                <a:gd name="T19" fmla="*/ 59 h 167"/>
                <a:gd name="T20" fmla="*/ 37 w 96"/>
                <a:gd name="T21" fmla="*/ 120 h 167"/>
                <a:gd name="T22" fmla="*/ 62 w 96"/>
                <a:gd name="T23" fmla="*/ 106 h 167"/>
                <a:gd name="T24" fmla="*/ 62 w 96"/>
                <a:gd name="T25" fmla="*/ 106 h 167"/>
                <a:gd name="T26" fmla="*/ 62 w 96"/>
                <a:gd name="T27" fmla="*/ 129 h 167"/>
                <a:gd name="T28" fmla="*/ 50 w 96"/>
                <a:gd name="T29" fmla="*/ 148 h 167"/>
                <a:gd name="T30" fmla="*/ 39 w 96"/>
                <a:gd name="T31" fmla="*/ 144 h 167"/>
                <a:gd name="T32" fmla="*/ 36 w 96"/>
                <a:gd name="T33" fmla="*/ 132 h 167"/>
                <a:gd name="T34" fmla="*/ 4 w 96"/>
                <a:gd name="T35" fmla="*/ 132 h 167"/>
                <a:gd name="T36" fmla="*/ 50 w 96"/>
                <a:gd name="T37" fmla="*/ 167 h 167"/>
                <a:gd name="T38" fmla="*/ 95 w 96"/>
                <a:gd name="T39" fmla="*/ 126 h 167"/>
                <a:gd name="T40" fmla="*/ 95 w 96"/>
                <a:gd name="T41" fmla="*/ 2 h 167"/>
                <a:gd name="T42" fmla="*/ 64 w 96"/>
                <a:gd name="T43" fmla="*/ 2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6" h="167">
                  <a:moveTo>
                    <a:pt x="34" y="65"/>
                  </a:moveTo>
                  <a:cubicBezTo>
                    <a:pt x="34" y="29"/>
                    <a:pt x="36" y="20"/>
                    <a:pt x="49" y="20"/>
                  </a:cubicBezTo>
                  <a:cubicBezTo>
                    <a:pt x="61" y="20"/>
                    <a:pt x="62" y="35"/>
                    <a:pt x="62" y="61"/>
                  </a:cubicBezTo>
                  <a:cubicBezTo>
                    <a:pt x="62" y="87"/>
                    <a:pt x="61" y="99"/>
                    <a:pt x="49" y="99"/>
                  </a:cubicBezTo>
                  <a:cubicBezTo>
                    <a:pt x="33" y="99"/>
                    <a:pt x="34" y="77"/>
                    <a:pt x="34" y="65"/>
                  </a:cubicBezTo>
                  <a:close/>
                  <a:moveTo>
                    <a:pt x="64" y="2"/>
                  </a:moveTo>
                  <a:cubicBezTo>
                    <a:pt x="64" y="16"/>
                    <a:pt x="64" y="16"/>
                    <a:pt x="64" y="16"/>
                  </a:cubicBezTo>
                  <a:cubicBezTo>
                    <a:pt x="63" y="16"/>
                    <a:pt x="63" y="16"/>
                    <a:pt x="63" y="16"/>
                  </a:cubicBezTo>
                  <a:cubicBezTo>
                    <a:pt x="59" y="5"/>
                    <a:pt x="49" y="0"/>
                    <a:pt x="37" y="0"/>
                  </a:cubicBezTo>
                  <a:cubicBezTo>
                    <a:pt x="2" y="0"/>
                    <a:pt x="2" y="33"/>
                    <a:pt x="2" y="59"/>
                  </a:cubicBezTo>
                  <a:cubicBezTo>
                    <a:pt x="2" y="86"/>
                    <a:pt x="0" y="120"/>
                    <a:pt x="37" y="120"/>
                  </a:cubicBezTo>
                  <a:cubicBezTo>
                    <a:pt x="47" y="120"/>
                    <a:pt x="57" y="115"/>
                    <a:pt x="62" y="106"/>
                  </a:cubicBezTo>
                  <a:cubicBezTo>
                    <a:pt x="62" y="106"/>
                    <a:pt x="62" y="106"/>
                    <a:pt x="62" y="106"/>
                  </a:cubicBezTo>
                  <a:cubicBezTo>
                    <a:pt x="62" y="129"/>
                    <a:pt x="62" y="129"/>
                    <a:pt x="62" y="129"/>
                  </a:cubicBezTo>
                  <a:cubicBezTo>
                    <a:pt x="62" y="141"/>
                    <a:pt x="58" y="148"/>
                    <a:pt x="50" y="148"/>
                  </a:cubicBezTo>
                  <a:cubicBezTo>
                    <a:pt x="45" y="148"/>
                    <a:pt x="41" y="147"/>
                    <a:pt x="39" y="144"/>
                  </a:cubicBezTo>
                  <a:cubicBezTo>
                    <a:pt x="37" y="141"/>
                    <a:pt x="36" y="137"/>
                    <a:pt x="36" y="132"/>
                  </a:cubicBezTo>
                  <a:cubicBezTo>
                    <a:pt x="4" y="132"/>
                    <a:pt x="4" y="132"/>
                    <a:pt x="4" y="132"/>
                  </a:cubicBezTo>
                  <a:cubicBezTo>
                    <a:pt x="4" y="161"/>
                    <a:pt x="26" y="167"/>
                    <a:pt x="50" y="167"/>
                  </a:cubicBezTo>
                  <a:cubicBezTo>
                    <a:pt x="96" y="167"/>
                    <a:pt x="95" y="134"/>
                    <a:pt x="95" y="126"/>
                  </a:cubicBezTo>
                  <a:cubicBezTo>
                    <a:pt x="95" y="2"/>
                    <a:pt x="95" y="2"/>
                    <a:pt x="95" y="2"/>
                  </a:cubicBezTo>
                  <a:lnTo>
                    <a:pt x="64" y="2"/>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5" name="Freeform 7"/>
            <p:cNvSpPr>
              <a:spLocks noEditPoints="1"/>
            </p:cNvSpPr>
            <p:nvPr/>
          </p:nvSpPr>
          <p:spPr bwMode="auto">
            <a:xfrm>
              <a:off x="11536423" y="6627792"/>
              <a:ext cx="17965" cy="94817"/>
            </a:xfrm>
            <a:custGeom>
              <a:avLst/>
              <a:gdLst>
                <a:gd name="T0" fmla="*/ 36 w 36"/>
                <a:gd name="T1" fmla="*/ 190 h 190"/>
                <a:gd name="T2" fmla="*/ 19 w 36"/>
                <a:gd name="T3" fmla="*/ 190 h 190"/>
                <a:gd name="T4" fmla="*/ 0 w 36"/>
                <a:gd name="T5" fmla="*/ 190 h 190"/>
                <a:gd name="T6" fmla="*/ 0 w 36"/>
                <a:gd name="T7" fmla="*/ 124 h 190"/>
                <a:gd name="T8" fmla="*/ 0 w 36"/>
                <a:gd name="T9" fmla="*/ 57 h 190"/>
                <a:gd name="T10" fmla="*/ 19 w 36"/>
                <a:gd name="T11" fmla="*/ 57 h 190"/>
                <a:gd name="T12" fmla="*/ 36 w 36"/>
                <a:gd name="T13" fmla="*/ 57 h 190"/>
                <a:gd name="T14" fmla="*/ 36 w 36"/>
                <a:gd name="T15" fmla="*/ 124 h 190"/>
                <a:gd name="T16" fmla="*/ 36 w 36"/>
                <a:gd name="T17" fmla="*/ 190 h 190"/>
                <a:gd name="T18" fmla="*/ 36 w 36"/>
                <a:gd name="T19" fmla="*/ 0 h 190"/>
                <a:gd name="T20" fmla="*/ 36 w 36"/>
                <a:gd name="T21" fmla="*/ 15 h 190"/>
                <a:gd name="T22" fmla="*/ 36 w 36"/>
                <a:gd name="T23" fmla="*/ 29 h 190"/>
                <a:gd name="T24" fmla="*/ 19 w 36"/>
                <a:gd name="T25" fmla="*/ 29 h 190"/>
                <a:gd name="T26" fmla="*/ 0 w 36"/>
                <a:gd name="T27" fmla="*/ 29 h 190"/>
                <a:gd name="T28" fmla="*/ 0 w 36"/>
                <a:gd name="T29" fmla="*/ 15 h 190"/>
                <a:gd name="T30" fmla="*/ 0 w 36"/>
                <a:gd name="T31" fmla="*/ 0 h 190"/>
                <a:gd name="T32" fmla="*/ 19 w 36"/>
                <a:gd name="T33" fmla="*/ 0 h 190"/>
                <a:gd name="T34" fmla="*/ 36 w 36"/>
                <a:gd name="T35"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 h="190">
                  <a:moveTo>
                    <a:pt x="36" y="190"/>
                  </a:moveTo>
                  <a:lnTo>
                    <a:pt x="19" y="190"/>
                  </a:lnTo>
                  <a:lnTo>
                    <a:pt x="0" y="190"/>
                  </a:lnTo>
                  <a:lnTo>
                    <a:pt x="0" y="124"/>
                  </a:lnTo>
                  <a:lnTo>
                    <a:pt x="0" y="57"/>
                  </a:lnTo>
                  <a:lnTo>
                    <a:pt x="19" y="57"/>
                  </a:lnTo>
                  <a:lnTo>
                    <a:pt x="36" y="57"/>
                  </a:lnTo>
                  <a:lnTo>
                    <a:pt x="36" y="124"/>
                  </a:lnTo>
                  <a:lnTo>
                    <a:pt x="36" y="190"/>
                  </a:lnTo>
                  <a:close/>
                  <a:moveTo>
                    <a:pt x="36" y="0"/>
                  </a:moveTo>
                  <a:lnTo>
                    <a:pt x="36" y="15"/>
                  </a:lnTo>
                  <a:lnTo>
                    <a:pt x="36" y="29"/>
                  </a:lnTo>
                  <a:lnTo>
                    <a:pt x="19" y="29"/>
                  </a:lnTo>
                  <a:lnTo>
                    <a:pt x="0" y="29"/>
                  </a:lnTo>
                  <a:lnTo>
                    <a:pt x="0" y="15"/>
                  </a:lnTo>
                  <a:lnTo>
                    <a:pt x="0" y="0"/>
                  </a:lnTo>
                  <a:lnTo>
                    <a:pt x="19" y="0"/>
                  </a:lnTo>
                  <a:lnTo>
                    <a:pt x="36"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8"/>
            <p:cNvSpPr>
              <a:spLocks/>
            </p:cNvSpPr>
            <p:nvPr/>
          </p:nvSpPr>
          <p:spPr bwMode="auto">
            <a:xfrm>
              <a:off x="11571854" y="6627792"/>
              <a:ext cx="17965" cy="94817"/>
            </a:xfrm>
            <a:custGeom>
              <a:avLst/>
              <a:gdLst>
                <a:gd name="T0" fmla="*/ 36 w 36"/>
                <a:gd name="T1" fmla="*/ 0 h 190"/>
                <a:gd name="T2" fmla="*/ 36 w 36"/>
                <a:gd name="T3" fmla="*/ 95 h 190"/>
                <a:gd name="T4" fmla="*/ 36 w 36"/>
                <a:gd name="T5" fmla="*/ 190 h 190"/>
                <a:gd name="T6" fmla="*/ 18 w 36"/>
                <a:gd name="T7" fmla="*/ 190 h 190"/>
                <a:gd name="T8" fmla="*/ 0 w 36"/>
                <a:gd name="T9" fmla="*/ 190 h 190"/>
                <a:gd name="T10" fmla="*/ 0 w 36"/>
                <a:gd name="T11" fmla="*/ 95 h 190"/>
                <a:gd name="T12" fmla="*/ 0 w 36"/>
                <a:gd name="T13" fmla="*/ 0 h 190"/>
                <a:gd name="T14" fmla="*/ 18 w 36"/>
                <a:gd name="T15" fmla="*/ 0 h 190"/>
                <a:gd name="T16" fmla="*/ 36 w 36"/>
                <a:gd name="T17"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90">
                  <a:moveTo>
                    <a:pt x="36" y="0"/>
                  </a:moveTo>
                  <a:lnTo>
                    <a:pt x="36" y="95"/>
                  </a:lnTo>
                  <a:lnTo>
                    <a:pt x="36" y="190"/>
                  </a:lnTo>
                  <a:lnTo>
                    <a:pt x="18" y="190"/>
                  </a:lnTo>
                  <a:lnTo>
                    <a:pt x="0" y="190"/>
                  </a:lnTo>
                  <a:lnTo>
                    <a:pt x="0" y="95"/>
                  </a:lnTo>
                  <a:lnTo>
                    <a:pt x="0" y="0"/>
                  </a:lnTo>
                  <a:lnTo>
                    <a:pt x="18" y="0"/>
                  </a:lnTo>
                  <a:lnTo>
                    <a:pt x="36"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7" name="Freeform 9"/>
            <p:cNvSpPr>
              <a:spLocks noEditPoints="1"/>
            </p:cNvSpPr>
            <p:nvPr/>
          </p:nvSpPr>
          <p:spPr bwMode="auto">
            <a:xfrm>
              <a:off x="11603294" y="6655239"/>
              <a:ext cx="52399" cy="68867"/>
            </a:xfrm>
            <a:custGeom>
              <a:avLst/>
              <a:gdLst>
                <a:gd name="T0" fmla="*/ 34 w 98"/>
                <a:gd name="T1" fmla="*/ 48 h 124"/>
                <a:gd name="T2" fmla="*/ 49 w 98"/>
                <a:gd name="T3" fmla="*/ 20 h 124"/>
                <a:gd name="T4" fmla="*/ 64 w 98"/>
                <a:gd name="T5" fmla="*/ 48 h 124"/>
                <a:gd name="T6" fmla="*/ 34 w 98"/>
                <a:gd name="T7" fmla="*/ 48 h 124"/>
                <a:gd name="T8" fmla="*/ 97 w 98"/>
                <a:gd name="T9" fmla="*/ 67 h 124"/>
                <a:gd name="T10" fmla="*/ 49 w 98"/>
                <a:gd name="T11" fmla="*/ 0 h 124"/>
                <a:gd name="T12" fmla="*/ 0 w 98"/>
                <a:gd name="T13" fmla="*/ 60 h 124"/>
                <a:gd name="T14" fmla="*/ 49 w 98"/>
                <a:gd name="T15" fmla="*/ 124 h 124"/>
                <a:gd name="T16" fmla="*/ 84 w 98"/>
                <a:gd name="T17" fmla="*/ 112 h 124"/>
                <a:gd name="T18" fmla="*/ 97 w 98"/>
                <a:gd name="T19" fmla="*/ 81 h 124"/>
                <a:gd name="T20" fmla="*/ 63 w 98"/>
                <a:gd name="T21" fmla="*/ 81 h 124"/>
                <a:gd name="T22" fmla="*/ 49 w 98"/>
                <a:gd name="T23" fmla="*/ 102 h 124"/>
                <a:gd name="T24" fmla="*/ 34 w 98"/>
                <a:gd name="T25" fmla="*/ 67 h 124"/>
                <a:gd name="T26" fmla="*/ 97 w 98"/>
                <a:gd name="T27" fmla="*/ 67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124">
                  <a:moveTo>
                    <a:pt x="34" y="48"/>
                  </a:moveTo>
                  <a:cubicBezTo>
                    <a:pt x="34" y="38"/>
                    <a:pt x="33" y="20"/>
                    <a:pt x="49" y="20"/>
                  </a:cubicBezTo>
                  <a:cubicBezTo>
                    <a:pt x="65" y="20"/>
                    <a:pt x="64" y="37"/>
                    <a:pt x="64" y="48"/>
                  </a:cubicBezTo>
                  <a:lnTo>
                    <a:pt x="34" y="48"/>
                  </a:lnTo>
                  <a:close/>
                  <a:moveTo>
                    <a:pt x="97" y="67"/>
                  </a:moveTo>
                  <a:cubicBezTo>
                    <a:pt x="98" y="29"/>
                    <a:pt x="93" y="0"/>
                    <a:pt x="49" y="0"/>
                  </a:cubicBezTo>
                  <a:cubicBezTo>
                    <a:pt x="5" y="0"/>
                    <a:pt x="0" y="28"/>
                    <a:pt x="0" y="60"/>
                  </a:cubicBezTo>
                  <a:cubicBezTo>
                    <a:pt x="0" y="97"/>
                    <a:pt x="6" y="124"/>
                    <a:pt x="49" y="124"/>
                  </a:cubicBezTo>
                  <a:cubicBezTo>
                    <a:pt x="64" y="124"/>
                    <a:pt x="76" y="119"/>
                    <a:pt x="84" y="112"/>
                  </a:cubicBezTo>
                  <a:cubicBezTo>
                    <a:pt x="92" y="105"/>
                    <a:pt x="96" y="94"/>
                    <a:pt x="97" y="81"/>
                  </a:cubicBezTo>
                  <a:cubicBezTo>
                    <a:pt x="63" y="81"/>
                    <a:pt x="63" y="81"/>
                    <a:pt x="63" y="81"/>
                  </a:cubicBezTo>
                  <a:cubicBezTo>
                    <a:pt x="63" y="91"/>
                    <a:pt x="61" y="102"/>
                    <a:pt x="49" y="102"/>
                  </a:cubicBezTo>
                  <a:cubicBezTo>
                    <a:pt x="34" y="102"/>
                    <a:pt x="34" y="81"/>
                    <a:pt x="34" y="67"/>
                  </a:cubicBezTo>
                  <a:lnTo>
                    <a:pt x="97" y="67"/>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8" name="Freeform 10"/>
            <p:cNvSpPr>
              <a:spLocks/>
            </p:cNvSpPr>
            <p:nvPr/>
          </p:nvSpPr>
          <p:spPr bwMode="auto">
            <a:xfrm>
              <a:off x="11668169" y="6655239"/>
              <a:ext cx="48906" cy="67370"/>
            </a:xfrm>
            <a:custGeom>
              <a:avLst/>
              <a:gdLst>
                <a:gd name="T0" fmla="*/ 33 w 91"/>
                <a:gd name="T1" fmla="*/ 14 h 121"/>
                <a:gd name="T2" fmla="*/ 33 w 91"/>
                <a:gd name="T3" fmla="*/ 14 h 121"/>
                <a:gd name="T4" fmla="*/ 45 w 91"/>
                <a:gd name="T5" fmla="*/ 3 h 121"/>
                <a:gd name="T6" fmla="*/ 62 w 91"/>
                <a:gd name="T7" fmla="*/ 0 h 121"/>
                <a:gd name="T8" fmla="*/ 91 w 91"/>
                <a:gd name="T9" fmla="*/ 26 h 121"/>
                <a:gd name="T10" fmla="*/ 91 w 91"/>
                <a:gd name="T11" fmla="*/ 121 h 121"/>
                <a:gd name="T12" fmla="*/ 58 w 91"/>
                <a:gd name="T13" fmla="*/ 121 h 121"/>
                <a:gd name="T14" fmla="*/ 58 w 91"/>
                <a:gd name="T15" fmla="*/ 39 h 121"/>
                <a:gd name="T16" fmla="*/ 45 w 91"/>
                <a:gd name="T17" fmla="*/ 20 h 121"/>
                <a:gd name="T18" fmla="*/ 33 w 91"/>
                <a:gd name="T19" fmla="*/ 39 h 121"/>
                <a:gd name="T20" fmla="*/ 33 w 91"/>
                <a:gd name="T21" fmla="*/ 121 h 121"/>
                <a:gd name="T22" fmla="*/ 0 w 91"/>
                <a:gd name="T23" fmla="*/ 121 h 121"/>
                <a:gd name="T24" fmla="*/ 0 w 91"/>
                <a:gd name="T25" fmla="*/ 2 h 121"/>
                <a:gd name="T26" fmla="*/ 33 w 91"/>
                <a:gd name="T27" fmla="*/ 2 h 121"/>
                <a:gd name="T28" fmla="*/ 33 w 91"/>
                <a:gd name="T29" fmla="*/ 14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1" h="121">
                  <a:moveTo>
                    <a:pt x="33" y="14"/>
                  </a:moveTo>
                  <a:cubicBezTo>
                    <a:pt x="33" y="14"/>
                    <a:pt x="33" y="14"/>
                    <a:pt x="33" y="14"/>
                  </a:cubicBezTo>
                  <a:cubicBezTo>
                    <a:pt x="37" y="9"/>
                    <a:pt x="41" y="5"/>
                    <a:pt x="45" y="3"/>
                  </a:cubicBezTo>
                  <a:cubicBezTo>
                    <a:pt x="50" y="1"/>
                    <a:pt x="55" y="0"/>
                    <a:pt x="62" y="0"/>
                  </a:cubicBezTo>
                  <a:cubicBezTo>
                    <a:pt x="77" y="0"/>
                    <a:pt x="91" y="9"/>
                    <a:pt x="91" y="26"/>
                  </a:cubicBezTo>
                  <a:cubicBezTo>
                    <a:pt x="91" y="121"/>
                    <a:pt x="91" y="121"/>
                    <a:pt x="91" y="121"/>
                  </a:cubicBezTo>
                  <a:cubicBezTo>
                    <a:pt x="58" y="121"/>
                    <a:pt x="58" y="121"/>
                    <a:pt x="58" y="121"/>
                  </a:cubicBezTo>
                  <a:cubicBezTo>
                    <a:pt x="58" y="39"/>
                    <a:pt x="58" y="39"/>
                    <a:pt x="58" y="39"/>
                  </a:cubicBezTo>
                  <a:cubicBezTo>
                    <a:pt x="58" y="29"/>
                    <a:pt x="56" y="20"/>
                    <a:pt x="45" y="20"/>
                  </a:cubicBezTo>
                  <a:cubicBezTo>
                    <a:pt x="35" y="20"/>
                    <a:pt x="33" y="29"/>
                    <a:pt x="33" y="39"/>
                  </a:cubicBezTo>
                  <a:cubicBezTo>
                    <a:pt x="33" y="121"/>
                    <a:pt x="33" y="121"/>
                    <a:pt x="33" y="121"/>
                  </a:cubicBezTo>
                  <a:cubicBezTo>
                    <a:pt x="0" y="121"/>
                    <a:pt x="0" y="121"/>
                    <a:pt x="0" y="121"/>
                  </a:cubicBezTo>
                  <a:cubicBezTo>
                    <a:pt x="0" y="2"/>
                    <a:pt x="0" y="2"/>
                    <a:pt x="0" y="2"/>
                  </a:cubicBezTo>
                  <a:cubicBezTo>
                    <a:pt x="33" y="2"/>
                    <a:pt x="33" y="2"/>
                    <a:pt x="33" y="2"/>
                  </a:cubicBezTo>
                  <a:lnTo>
                    <a:pt x="33" y="1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9" name="Freeform 11"/>
            <p:cNvSpPr>
              <a:spLocks/>
            </p:cNvSpPr>
            <p:nvPr/>
          </p:nvSpPr>
          <p:spPr bwMode="auto">
            <a:xfrm>
              <a:off x="11726556" y="6637773"/>
              <a:ext cx="34434" cy="85336"/>
            </a:xfrm>
            <a:custGeom>
              <a:avLst/>
              <a:gdLst>
                <a:gd name="T0" fmla="*/ 0 w 64"/>
                <a:gd name="T1" fmla="*/ 33 h 153"/>
                <a:gd name="T2" fmla="*/ 13 w 64"/>
                <a:gd name="T3" fmla="*/ 33 h 153"/>
                <a:gd name="T4" fmla="*/ 13 w 64"/>
                <a:gd name="T5" fmla="*/ 14 h 153"/>
                <a:gd name="T6" fmla="*/ 46 w 64"/>
                <a:gd name="T7" fmla="*/ 0 h 153"/>
                <a:gd name="T8" fmla="*/ 46 w 64"/>
                <a:gd name="T9" fmla="*/ 33 h 153"/>
                <a:gd name="T10" fmla="*/ 64 w 64"/>
                <a:gd name="T11" fmla="*/ 33 h 153"/>
                <a:gd name="T12" fmla="*/ 64 w 64"/>
                <a:gd name="T13" fmla="*/ 54 h 153"/>
                <a:gd name="T14" fmla="*/ 46 w 64"/>
                <a:gd name="T15" fmla="*/ 54 h 153"/>
                <a:gd name="T16" fmla="*/ 46 w 64"/>
                <a:gd name="T17" fmla="*/ 117 h 153"/>
                <a:gd name="T18" fmla="*/ 57 w 64"/>
                <a:gd name="T19" fmla="*/ 132 h 153"/>
                <a:gd name="T20" fmla="*/ 63 w 64"/>
                <a:gd name="T21" fmla="*/ 132 h 153"/>
                <a:gd name="T22" fmla="*/ 63 w 64"/>
                <a:gd name="T23" fmla="*/ 152 h 153"/>
                <a:gd name="T24" fmla="*/ 46 w 64"/>
                <a:gd name="T25" fmla="*/ 153 h 153"/>
                <a:gd name="T26" fmla="*/ 13 w 64"/>
                <a:gd name="T27" fmla="*/ 127 h 153"/>
                <a:gd name="T28" fmla="*/ 13 w 64"/>
                <a:gd name="T29" fmla="*/ 54 h 153"/>
                <a:gd name="T30" fmla="*/ 0 w 64"/>
                <a:gd name="T31" fmla="*/ 54 h 153"/>
                <a:gd name="T32" fmla="*/ 0 w 64"/>
                <a:gd name="T33" fmla="*/ 33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4" h="153">
                  <a:moveTo>
                    <a:pt x="0" y="33"/>
                  </a:moveTo>
                  <a:cubicBezTo>
                    <a:pt x="13" y="33"/>
                    <a:pt x="13" y="33"/>
                    <a:pt x="13" y="33"/>
                  </a:cubicBezTo>
                  <a:cubicBezTo>
                    <a:pt x="13" y="14"/>
                    <a:pt x="13" y="14"/>
                    <a:pt x="13" y="14"/>
                  </a:cubicBezTo>
                  <a:cubicBezTo>
                    <a:pt x="46" y="0"/>
                    <a:pt x="46" y="0"/>
                    <a:pt x="46" y="0"/>
                  </a:cubicBezTo>
                  <a:cubicBezTo>
                    <a:pt x="46" y="33"/>
                    <a:pt x="46" y="33"/>
                    <a:pt x="46" y="33"/>
                  </a:cubicBezTo>
                  <a:cubicBezTo>
                    <a:pt x="64" y="33"/>
                    <a:pt x="64" y="33"/>
                    <a:pt x="64" y="33"/>
                  </a:cubicBezTo>
                  <a:cubicBezTo>
                    <a:pt x="64" y="54"/>
                    <a:pt x="64" y="54"/>
                    <a:pt x="64" y="54"/>
                  </a:cubicBezTo>
                  <a:cubicBezTo>
                    <a:pt x="46" y="54"/>
                    <a:pt x="46" y="54"/>
                    <a:pt x="46" y="54"/>
                  </a:cubicBezTo>
                  <a:cubicBezTo>
                    <a:pt x="46" y="117"/>
                    <a:pt x="46" y="117"/>
                    <a:pt x="46" y="117"/>
                  </a:cubicBezTo>
                  <a:cubicBezTo>
                    <a:pt x="46" y="126"/>
                    <a:pt x="46" y="132"/>
                    <a:pt x="57" y="132"/>
                  </a:cubicBezTo>
                  <a:cubicBezTo>
                    <a:pt x="59" y="132"/>
                    <a:pt x="61" y="132"/>
                    <a:pt x="63" y="132"/>
                  </a:cubicBezTo>
                  <a:cubicBezTo>
                    <a:pt x="63" y="152"/>
                    <a:pt x="63" y="152"/>
                    <a:pt x="63" y="152"/>
                  </a:cubicBezTo>
                  <a:cubicBezTo>
                    <a:pt x="58" y="153"/>
                    <a:pt x="54" y="153"/>
                    <a:pt x="46" y="153"/>
                  </a:cubicBezTo>
                  <a:cubicBezTo>
                    <a:pt x="17" y="153"/>
                    <a:pt x="13" y="134"/>
                    <a:pt x="13" y="127"/>
                  </a:cubicBezTo>
                  <a:cubicBezTo>
                    <a:pt x="13" y="54"/>
                    <a:pt x="13" y="54"/>
                    <a:pt x="13" y="54"/>
                  </a:cubicBezTo>
                  <a:cubicBezTo>
                    <a:pt x="0" y="54"/>
                    <a:pt x="0" y="54"/>
                    <a:pt x="0" y="54"/>
                  </a:cubicBezTo>
                  <a:lnTo>
                    <a:pt x="0" y="33"/>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12"/>
            <p:cNvSpPr>
              <a:spLocks noEditPoints="1"/>
            </p:cNvSpPr>
            <p:nvPr/>
          </p:nvSpPr>
          <p:spPr bwMode="auto">
            <a:xfrm>
              <a:off x="11078804" y="6536967"/>
              <a:ext cx="274970" cy="285450"/>
            </a:xfrm>
            <a:custGeom>
              <a:avLst/>
              <a:gdLst>
                <a:gd name="T0" fmla="*/ 280 w 512"/>
                <a:gd name="T1" fmla="*/ 174 h 512"/>
                <a:gd name="T2" fmla="*/ 239 w 512"/>
                <a:gd name="T3" fmla="*/ 108 h 512"/>
                <a:gd name="T4" fmla="*/ 256 w 512"/>
                <a:gd name="T5" fmla="*/ 43 h 512"/>
                <a:gd name="T6" fmla="*/ 264 w 512"/>
                <a:gd name="T7" fmla="*/ 8 h 512"/>
                <a:gd name="T8" fmla="*/ 264 w 512"/>
                <a:gd name="T9" fmla="*/ 8 h 512"/>
                <a:gd name="T10" fmla="*/ 338 w 512"/>
                <a:gd name="T11" fmla="*/ 281 h 512"/>
                <a:gd name="T12" fmla="*/ 387 w 512"/>
                <a:gd name="T13" fmla="*/ 256 h 512"/>
                <a:gd name="T14" fmla="*/ 457 w 512"/>
                <a:gd name="T15" fmla="*/ 244 h 512"/>
                <a:gd name="T16" fmla="*/ 512 w 512"/>
                <a:gd name="T17" fmla="*/ 256 h 512"/>
                <a:gd name="T18" fmla="*/ 512 w 512"/>
                <a:gd name="T19" fmla="*/ 256 h 512"/>
                <a:gd name="T20" fmla="*/ 256 w 512"/>
                <a:gd name="T21" fmla="*/ 363 h 512"/>
                <a:gd name="T22" fmla="*/ 239 w 512"/>
                <a:gd name="T23" fmla="*/ 404 h 512"/>
                <a:gd name="T24" fmla="*/ 256 w 512"/>
                <a:gd name="T25" fmla="*/ 446 h 512"/>
                <a:gd name="T26" fmla="*/ 264 w 512"/>
                <a:gd name="T27" fmla="*/ 504 h 512"/>
                <a:gd name="T28" fmla="*/ 264 w 512"/>
                <a:gd name="T29" fmla="*/ 504 h 512"/>
                <a:gd name="T30" fmla="*/ 174 w 512"/>
                <a:gd name="T31" fmla="*/ 281 h 512"/>
                <a:gd name="T32" fmla="*/ 91 w 512"/>
                <a:gd name="T33" fmla="*/ 256 h 512"/>
                <a:gd name="T34" fmla="*/ 55 w 512"/>
                <a:gd name="T35" fmla="*/ 244 h 512"/>
                <a:gd name="T36" fmla="*/ 16 w 512"/>
                <a:gd name="T37" fmla="*/ 256 h 512"/>
                <a:gd name="T38" fmla="*/ 16 w 512"/>
                <a:gd name="T39" fmla="*/ 256 h 512"/>
                <a:gd name="T40" fmla="*/ 314 w 512"/>
                <a:gd name="T41" fmla="*/ 174 h 512"/>
                <a:gd name="T42" fmla="*/ 314 w 512"/>
                <a:gd name="T43" fmla="*/ 223 h 512"/>
                <a:gd name="T44" fmla="*/ 360 w 512"/>
                <a:gd name="T45" fmla="*/ 135 h 512"/>
                <a:gd name="T46" fmla="*/ 360 w 512"/>
                <a:gd name="T47" fmla="*/ 169 h 512"/>
                <a:gd name="T48" fmla="*/ 407 w 512"/>
                <a:gd name="T49" fmla="*/ 106 h 512"/>
                <a:gd name="T50" fmla="*/ 390 w 512"/>
                <a:gd name="T51" fmla="*/ 123 h 512"/>
                <a:gd name="T52" fmla="*/ 437 w 512"/>
                <a:gd name="T53" fmla="*/ 75 h 512"/>
                <a:gd name="T54" fmla="*/ 437 w 512"/>
                <a:gd name="T55" fmla="*/ 87 h 512"/>
                <a:gd name="T56" fmla="*/ 297 w 512"/>
                <a:gd name="T57" fmla="*/ 297 h 512"/>
                <a:gd name="T58" fmla="*/ 373 w 512"/>
                <a:gd name="T59" fmla="*/ 373 h 512"/>
                <a:gd name="T60" fmla="*/ 343 w 512"/>
                <a:gd name="T61" fmla="*/ 361 h 512"/>
                <a:gd name="T62" fmla="*/ 407 w 512"/>
                <a:gd name="T63" fmla="*/ 407 h 512"/>
                <a:gd name="T64" fmla="*/ 390 w 512"/>
                <a:gd name="T65" fmla="*/ 390 h 512"/>
                <a:gd name="T66" fmla="*/ 407 w 512"/>
                <a:gd name="T67" fmla="*/ 407 h 512"/>
                <a:gd name="T68" fmla="*/ 426 w 512"/>
                <a:gd name="T69" fmla="*/ 426 h 512"/>
                <a:gd name="T70" fmla="*/ 437 w 512"/>
                <a:gd name="T71" fmla="*/ 437 h 512"/>
                <a:gd name="T72" fmla="*/ 181 w 512"/>
                <a:gd name="T73" fmla="*/ 297 h 512"/>
                <a:gd name="T74" fmla="*/ 215 w 512"/>
                <a:gd name="T75" fmla="*/ 332 h 512"/>
                <a:gd name="T76" fmla="*/ 151 w 512"/>
                <a:gd name="T77" fmla="*/ 344 h 512"/>
                <a:gd name="T78" fmla="*/ 164 w 512"/>
                <a:gd name="T79" fmla="*/ 373 h 512"/>
                <a:gd name="T80" fmla="*/ 114 w 512"/>
                <a:gd name="T81" fmla="*/ 387 h 512"/>
                <a:gd name="T82" fmla="*/ 114 w 512"/>
                <a:gd name="T83" fmla="*/ 411 h 512"/>
                <a:gd name="T84" fmla="*/ 86 w 512"/>
                <a:gd name="T85" fmla="*/ 426 h 512"/>
                <a:gd name="T86" fmla="*/ 86 w 512"/>
                <a:gd name="T87" fmla="*/ 437 h 512"/>
                <a:gd name="T88" fmla="*/ 181 w 512"/>
                <a:gd name="T89" fmla="*/ 181 h 512"/>
                <a:gd name="T90" fmla="*/ 215 w 512"/>
                <a:gd name="T91" fmla="*/ 216 h 512"/>
                <a:gd name="T92" fmla="*/ 151 w 512"/>
                <a:gd name="T93" fmla="*/ 135 h 512"/>
                <a:gd name="T94" fmla="*/ 151 w 512"/>
                <a:gd name="T95" fmla="*/ 169 h 512"/>
                <a:gd name="T96" fmla="*/ 122 w 512"/>
                <a:gd name="T97" fmla="*/ 106 h 512"/>
                <a:gd name="T98" fmla="*/ 114 w 512"/>
                <a:gd name="T99" fmla="*/ 126 h 512"/>
                <a:gd name="T100" fmla="*/ 86 w 512"/>
                <a:gd name="T101" fmla="*/ 75 h 512"/>
                <a:gd name="T102" fmla="*/ 86 w 512"/>
                <a:gd name="T103" fmla="*/ 8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12" h="512">
                  <a:moveTo>
                    <a:pt x="256" y="198"/>
                  </a:moveTo>
                  <a:cubicBezTo>
                    <a:pt x="243" y="198"/>
                    <a:pt x="232" y="188"/>
                    <a:pt x="232" y="174"/>
                  </a:cubicBezTo>
                  <a:cubicBezTo>
                    <a:pt x="232" y="161"/>
                    <a:pt x="243" y="150"/>
                    <a:pt x="256" y="150"/>
                  </a:cubicBezTo>
                  <a:cubicBezTo>
                    <a:pt x="269" y="150"/>
                    <a:pt x="280" y="161"/>
                    <a:pt x="280" y="174"/>
                  </a:cubicBezTo>
                  <a:cubicBezTo>
                    <a:pt x="280" y="188"/>
                    <a:pt x="269" y="198"/>
                    <a:pt x="256" y="198"/>
                  </a:cubicBezTo>
                  <a:close/>
                  <a:moveTo>
                    <a:pt x="273" y="108"/>
                  </a:moveTo>
                  <a:cubicBezTo>
                    <a:pt x="273" y="99"/>
                    <a:pt x="265" y="91"/>
                    <a:pt x="256" y="91"/>
                  </a:cubicBezTo>
                  <a:cubicBezTo>
                    <a:pt x="246" y="91"/>
                    <a:pt x="239" y="99"/>
                    <a:pt x="239" y="108"/>
                  </a:cubicBezTo>
                  <a:cubicBezTo>
                    <a:pt x="239" y="118"/>
                    <a:pt x="246" y="126"/>
                    <a:pt x="256" y="126"/>
                  </a:cubicBezTo>
                  <a:cubicBezTo>
                    <a:pt x="265" y="126"/>
                    <a:pt x="273" y="118"/>
                    <a:pt x="273" y="108"/>
                  </a:cubicBezTo>
                  <a:close/>
                  <a:moveTo>
                    <a:pt x="268" y="55"/>
                  </a:moveTo>
                  <a:cubicBezTo>
                    <a:pt x="268" y="49"/>
                    <a:pt x="263" y="43"/>
                    <a:pt x="256" y="43"/>
                  </a:cubicBezTo>
                  <a:cubicBezTo>
                    <a:pt x="249" y="43"/>
                    <a:pt x="244" y="49"/>
                    <a:pt x="244" y="55"/>
                  </a:cubicBezTo>
                  <a:cubicBezTo>
                    <a:pt x="244" y="62"/>
                    <a:pt x="249" y="67"/>
                    <a:pt x="256" y="67"/>
                  </a:cubicBezTo>
                  <a:cubicBezTo>
                    <a:pt x="263" y="67"/>
                    <a:pt x="268" y="62"/>
                    <a:pt x="268" y="55"/>
                  </a:cubicBezTo>
                  <a:close/>
                  <a:moveTo>
                    <a:pt x="264" y="8"/>
                  </a:moveTo>
                  <a:cubicBezTo>
                    <a:pt x="264" y="4"/>
                    <a:pt x="260" y="0"/>
                    <a:pt x="256" y="0"/>
                  </a:cubicBezTo>
                  <a:cubicBezTo>
                    <a:pt x="252" y="0"/>
                    <a:pt x="248" y="4"/>
                    <a:pt x="248" y="8"/>
                  </a:cubicBezTo>
                  <a:cubicBezTo>
                    <a:pt x="248" y="13"/>
                    <a:pt x="252" y="16"/>
                    <a:pt x="256" y="16"/>
                  </a:cubicBezTo>
                  <a:cubicBezTo>
                    <a:pt x="260" y="16"/>
                    <a:pt x="264" y="13"/>
                    <a:pt x="264" y="8"/>
                  </a:cubicBezTo>
                  <a:close/>
                  <a:moveTo>
                    <a:pt x="363" y="256"/>
                  </a:moveTo>
                  <a:cubicBezTo>
                    <a:pt x="363" y="243"/>
                    <a:pt x="352" y="232"/>
                    <a:pt x="338" y="232"/>
                  </a:cubicBezTo>
                  <a:cubicBezTo>
                    <a:pt x="325" y="232"/>
                    <a:pt x="314" y="243"/>
                    <a:pt x="314" y="256"/>
                  </a:cubicBezTo>
                  <a:cubicBezTo>
                    <a:pt x="314" y="270"/>
                    <a:pt x="325" y="281"/>
                    <a:pt x="338" y="281"/>
                  </a:cubicBezTo>
                  <a:cubicBezTo>
                    <a:pt x="352" y="281"/>
                    <a:pt x="363" y="270"/>
                    <a:pt x="363" y="256"/>
                  </a:cubicBezTo>
                  <a:close/>
                  <a:moveTo>
                    <a:pt x="421" y="256"/>
                  </a:moveTo>
                  <a:cubicBezTo>
                    <a:pt x="421" y="247"/>
                    <a:pt x="413" y="239"/>
                    <a:pt x="404" y="239"/>
                  </a:cubicBezTo>
                  <a:cubicBezTo>
                    <a:pt x="394" y="239"/>
                    <a:pt x="387" y="247"/>
                    <a:pt x="387" y="256"/>
                  </a:cubicBezTo>
                  <a:cubicBezTo>
                    <a:pt x="387" y="266"/>
                    <a:pt x="394" y="274"/>
                    <a:pt x="404" y="274"/>
                  </a:cubicBezTo>
                  <a:cubicBezTo>
                    <a:pt x="413" y="274"/>
                    <a:pt x="421" y="266"/>
                    <a:pt x="421" y="256"/>
                  </a:cubicBezTo>
                  <a:close/>
                  <a:moveTo>
                    <a:pt x="469" y="256"/>
                  </a:moveTo>
                  <a:cubicBezTo>
                    <a:pt x="469" y="250"/>
                    <a:pt x="464" y="244"/>
                    <a:pt x="457" y="244"/>
                  </a:cubicBezTo>
                  <a:cubicBezTo>
                    <a:pt x="451" y="244"/>
                    <a:pt x="445" y="250"/>
                    <a:pt x="445" y="256"/>
                  </a:cubicBezTo>
                  <a:cubicBezTo>
                    <a:pt x="445" y="263"/>
                    <a:pt x="451" y="268"/>
                    <a:pt x="457" y="268"/>
                  </a:cubicBezTo>
                  <a:cubicBezTo>
                    <a:pt x="464" y="268"/>
                    <a:pt x="469" y="263"/>
                    <a:pt x="469" y="256"/>
                  </a:cubicBezTo>
                  <a:close/>
                  <a:moveTo>
                    <a:pt x="512" y="256"/>
                  </a:moveTo>
                  <a:cubicBezTo>
                    <a:pt x="512" y="252"/>
                    <a:pt x="508" y="248"/>
                    <a:pt x="504" y="248"/>
                  </a:cubicBezTo>
                  <a:cubicBezTo>
                    <a:pt x="500" y="248"/>
                    <a:pt x="496" y="252"/>
                    <a:pt x="496" y="256"/>
                  </a:cubicBezTo>
                  <a:cubicBezTo>
                    <a:pt x="496" y="261"/>
                    <a:pt x="500" y="264"/>
                    <a:pt x="504" y="264"/>
                  </a:cubicBezTo>
                  <a:cubicBezTo>
                    <a:pt x="508" y="264"/>
                    <a:pt x="512" y="261"/>
                    <a:pt x="512" y="256"/>
                  </a:cubicBezTo>
                  <a:close/>
                  <a:moveTo>
                    <a:pt x="280" y="339"/>
                  </a:moveTo>
                  <a:cubicBezTo>
                    <a:pt x="280" y="325"/>
                    <a:pt x="269" y="314"/>
                    <a:pt x="256" y="314"/>
                  </a:cubicBezTo>
                  <a:cubicBezTo>
                    <a:pt x="243" y="314"/>
                    <a:pt x="232" y="325"/>
                    <a:pt x="232" y="339"/>
                  </a:cubicBezTo>
                  <a:cubicBezTo>
                    <a:pt x="232" y="352"/>
                    <a:pt x="243" y="363"/>
                    <a:pt x="256" y="363"/>
                  </a:cubicBezTo>
                  <a:cubicBezTo>
                    <a:pt x="269" y="363"/>
                    <a:pt x="280" y="352"/>
                    <a:pt x="280" y="339"/>
                  </a:cubicBezTo>
                  <a:close/>
                  <a:moveTo>
                    <a:pt x="273" y="404"/>
                  </a:moveTo>
                  <a:cubicBezTo>
                    <a:pt x="273" y="395"/>
                    <a:pt x="265" y="387"/>
                    <a:pt x="256" y="387"/>
                  </a:cubicBezTo>
                  <a:cubicBezTo>
                    <a:pt x="246" y="387"/>
                    <a:pt x="239" y="395"/>
                    <a:pt x="239" y="404"/>
                  </a:cubicBezTo>
                  <a:cubicBezTo>
                    <a:pt x="239" y="414"/>
                    <a:pt x="246" y="421"/>
                    <a:pt x="256" y="421"/>
                  </a:cubicBezTo>
                  <a:cubicBezTo>
                    <a:pt x="265" y="421"/>
                    <a:pt x="273" y="414"/>
                    <a:pt x="273" y="404"/>
                  </a:cubicBezTo>
                  <a:close/>
                  <a:moveTo>
                    <a:pt x="268" y="457"/>
                  </a:moveTo>
                  <a:cubicBezTo>
                    <a:pt x="268" y="451"/>
                    <a:pt x="263" y="446"/>
                    <a:pt x="256" y="446"/>
                  </a:cubicBezTo>
                  <a:cubicBezTo>
                    <a:pt x="249" y="446"/>
                    <a:pt x="244" y="451"/>
                    <a:pt x="244" y="457"/>
                  </a:cubicBezTo>
                  <a:cubicBezTo>
                    <a:pt x="244" y="464"/>
                    <a:pt x="249" y="469"/>
                    <a:pt x="256" y="469"/>
                  </a:cubicBezTo>
                  <a:cubicBezTo>
                    <a:pt x="263" y="469"/>
                    <a:pt x="268" y="464"/>
                    <a:pt x="268" y="457"/>
                  </a:cubicBezTo>
                  <a:close/>
                  <a:moveTo>
                    <a:pt x="264" y="504"/>
                  </a:moveTo>
                  <a:cubicBezTo>
                    <a:pt x="264" y="500"/>
                    <a:pt x="260" y="496"/>
                    <a:pt x="256" y="496"/>
                  </a:cubicBezTo>
                  <a:cubicBezTo>
                    <a:pt x="252" y="496"/>
                    <a:pt x="248" y="500"/>
                    <a:pt x="248" y="504"/>
                  </a:cubicBezTo>
                  <a:cubicBezTo>
                    <a:pt x="248" y="509"/>
                    <a:pt x="252" y="512"/>
                    <a:pt x="256" y="512"/>
                  </a:cubicBezTo>
                  <a:cubicBezTo>
                    <a:pt x="260" y="512"/>
                    <a:pt x="264" y="509"/>
                    <a:pt x="264" y="504"/>
                  </a:cubicBezTo>
                  <a:close/>
                  <a:moveTo>
                    <a:pt x="198" y="256"/>
                  </a:moveTo>
                  <a:cubicBezTo>
                    <a:pt x="198" y="243"/>
                    <a:pt x="187" y="232"/>
                    <a:pt x="174" y="232"/>
                  </a:cubicBezTo>
                  <a:cubicBezTo>
                    <a:pt x="160" y="232"/>
                    <a:pt x="149" y="243"/>
                    <a:pt x="149" y="256"/>
                  </a:cubicBezTo>
                  <a:cubicBezTo>
                    <a:pt x="149" y="270"/>
                    <a:pt x="160" y="281"/>
                    <a:pt x="174" y="281"/>
                  </a:cubicBezTo>
                  <a:cubicBezTo>
                    <a:pt x="187" y="281"/>
                    <a:pt x="198" y="270"/>
                    <a:pt x="198" y="256"/>
                  </a:cubicBezTo>
                  <a:close/>
                  <a:moveTo>
                    <a:pt x="126" y="256"/>
                  </a:moveTo>
                  <a:cubicBezTo>
                    <a:pt x="126" y="247"/>
                    <a:pt x="118" y="239"/>
                    <a:pt x="108" y="239"/>
                  </a:cubicBezTo>
                  <a:cubicBezTo>
                    <a:pt x="99" y="239"/>
                    <a:pt x="91" y="247"/>
                    <a:pt x="91" y="256"/>
                  </a:cubicBezTo>
                  <a:cubicBezTo>
                    <a:pt x="91" y="266"/>
                    <a:pt x="99" y="274"/>
                    <a:pt x="108" y="274"/>
                  </a:cubicBezTo>
                  <a:cubicBezTo>
                    <a:pt x="118" y="274"/>
                    <a:pt x="126" y="266"/>
                    <a:pt x="126" y="256"/>
                  </a:cubicBezTo>
                  <a:close/>
                  <a:moveTo>
                    <a:pt x="67" y="256"/>
                  </a:moveTo>
                  <a:cubicBezTo>
                    <a:pt x="67" y="250"/>
                    <a:pt x="62" y="244"/>
                    <a:pt x="55" y="244"/>
                  </a:cubicBezTo>
                  <a:cubicBezTo>
                    <a:pt x="48" y="244"/>
                    <a:pt x="43" y="250"/>
                    <a:pt x="43" y="256"/>
                  </a:cubicBezTo>
                  <a:cubicBezTo>
                    <a:pt x="43" y="263"/>
                    <a:pt x="48" y="268"/>
                    <a:pt x="55" y="268"/>
                  </a:cubicBezTo>
                  <a:cubicBezTo>
                    <a:pt x="62" y="268"/>
                    <a:pt x="67" y="263"/>
                    <a:pt x="67" y="256"/>
                  </a:cubicBezTo>
                  <a:close/>
                  <a:moveTo>
                    <a:pt x="16" y="256"/>
                  </a:moveTo>
                  <a:cubicBezTo>
                    <a:pt x="16" y="252"/>
                    <a:pt x="12" y="248"/>
                    <a:pt x="8" y="248"/>
                  </a:cubicBezTo>
                  <a:cubicBezTo>
                    <a:pt x="4" y="248"/>
                    <a:pt x="0" y="252"/>
                    <a:pt x="0" y="256"/>
                  </a:cubicBezTo>
                  <a:cubicBezTo>
                    <a:pt x="0" y="261"/>
                    <a:pt x="4" y="264"/>
                    <a:pt x="8" y="264"/>
                  </a:cubicBezTo>
                  <a:cubicBezTo>
                    <a:pt x="12" y="264"/>
                    <a:pt x="16" y="261"/>
                    <a:pt x="16" y="256"/>
                  </a:cubicBezTo>
                  <a:close/>
                  <a:moveTo>
                    <a:pt x="331" y="215"/>
                  </a:moveTo>
                  <a:cubicBezTo>
                    <a:pt x="336" y="211"/>
                    <a:pt x="338" y="205"/>
                    <a:pt x="338" y="198"/>
                  </a:cubicBezTo>
                  <a:cubicBezTo>
                    <a:pt x="338" y="192"/>
                    <a:pt x="336" y="186"/>
                    <a:pt x="331" y="181"/>
                  </a:cubicBezTo>
                  <a:cubicBezTo>
                    <a:pt x="327" y="176"/>
                    <a:pt x="321" y="174"/>
                    <a:pt x="314" y="174"/>
                  </a:cubicBezTo>
                  <a:cubicBezTo>
                    <a:pt x="308" y="174"/>
                    <a:pt x="301" y="176"/>
                    <a:pt x="297" y="181"/>
                  </a:cubicBezTo>
                  <a:cubicBezTo>
                    <a:pt x="292" y="186"/>
                    <a:pt x="290" y="192"/>
                    <a:pt x="290" y="198"/>
                  </a:cubicBezTo>
                  <a:cubicBezTo>
                    <a:pt x="290" y="205"/>
                    <a:pt x="292" y="211"/>
                    <a:pt x="297" y="215"/>
                  </a:cubicBezTo>
                  <a:cubicBezTo>
                    <a:pt x="301" y="220"/>
                    <a:pt x="308" y="223"/>
                    <a:pt x="314" y="223"/>
                  </a:cubicBezTo>
                  <a:cubicBezTo>
                    <a:pt x="321" y="223"/>
                    <a:pt x="327" y="220"/>
                    <a:pt x="331" y="215"/>
                  </a:cubicBezTo>
                  <a:close/>
                  <a:moveTo>
                    <a:pt x="373" y="164"/>
                  </a:moveTo>
                  <a:cubicBezTo>
                    <a:pt x="379" y="157"/>
                    <a:pt x="379" y="146"/>
                    <a:pt x="373" y="140"/>
                  </a:cubicBezTo>
                  <a:cubicBezTo>
                    <a:pt x="369" y="136"/>
                    <a:pt x="365" y="135"/>
                    <a:pt x="360" y="135"/>
                  </a:cubicBezTo>
                  <a:cubicBezTo>
                    <a:pt x="356" y="135"/>
                    <a:pt x="351" y="136"/>
                    <a:pt x="348" y="140"/>
                  </a:cubicBezTo>
                  <a:cubicBezTo>
                    <a:pt x="345" y="143"/>
                    <a:pt x="343" y="147"/>
                    <a:pt x="343" y="152"/>
                  </a:cubicBezTo>
                  <a:cubicBezTo>
                    <a:pt x="343" y="156"/>
                    <a:pt x="345" y="161"/>
                    <a:pt x="348" y="164"/>
                  </a:cubicBezTo>
                  <a:cubicBezTo>
                    <a:pt x="351" y="167"/>
                    <a:pt x="356" y="169"/>
                    <a:pt x="360" y="169"/>
                  </a:cubicBezTo>
                  <a:cubicBezTo>
                    <a:pt x="365" y="169"/>
                    <a:pt x="369" y="167"/>
                    <a:pt x="373" y="164"/>
                  </a:cubicBezTo>
                  <a:close/>
                  <a:moveTo>
                    <a:pt x="407" y="123"/>
                  </a:moveTo>
                  <a:cubicBezTo>
                    <a:pt x="409" y="120"/>
                    <a:pt x="410" y="117"/>
                    <a:pt x="410" y="114"/>
                  </a:cubicBezTo>
                  <a:cubicBezTo>
                    <a:pt x="410" y="111"/>
                    <a:pt x="409" y="108"/>
                    <a:pt x="407" y="106"/>
                  </a:cubicBezTo>
                  <a:cubicBezTo>
                    <a:pt x="404" y="103"/>
                    <a:pt x="401" y="102"/>
                    <a:pt x="398" y="102"/>
                  </a:cubicBezTo>
                  <a:cubicBezTo>
                    <a:pt x="395" y="102"/>
                    <a:pt x="392" y="103"/>
                    <a:pt x="390" y="106"/>
                  </a:cubicBezTo>
                  <a:cubicBezTo>
                    <a:pt x="387" y="108"/>
                    <a:pt x="386" y="111"/>
                    <a:pt x="386" y="114"/>
                  </a:cubicBezTo>
                  <a:cubicBezTo>
                    <a:pt x="386" y="117"/>
                    <a:pt x="387" y="120"/>
                    <a:pt x="390" y="123"/>
                  </a:cubicBezTo>
                  <a:cubicBezTo>
                    <a:pt x="392" y="125"/>
                    <a:pt x="395" y="126"/>
                    <a:pt x="398" y="126"/>
                  </a:cubicBezTo>
                  <a:cubicBezTo>
                    <a:pt x="401" y="126"/>
                    <a:pt x="404" y="125"/>
                    <a:pt x="407" y="123"/>
                  </a:cubicBezTo>
                  <a:close/>
                  <a:moveTo>
                    <a:pt x="437" y="87"/>
                  </a:moveTo>
                  <a:cubicBezTo>
                    <a:pt x="440" y="84"/>
                    <a:pt x="440" y="79"/>
                    <a:pt x="437" y="75"/>
                  </a:cubicBezTo>
                  <a:cubicBezTo>
                    <a:pt x="434" y="72"/>
                    <a:pt x="429" y="72"/>
                    <a:pt x="426" y="75"/>
                  </a:cubicBezTo>
                  <a:cubicBezTo>
                    <a:pt x="423" y="79"/>
                    <a:pt x="423" y="84"/>
                    <a:pt x="426" y="87"/>
                  </a:cubicBezTo>
                  <a:cubicBezTo>
                    <a:pt x="427" y="88"/>
                    <a:pt x="429" y="89"/>
                    <a:pt x="431" y="89"/>
                  </a:cubicBezTo>
                  <a:cubicBezTo>
                    <a:pt x="433" y="89"/>
                    <a:pt x="435" y="88"/>
                    <a:pt x="437" y="87"/>
                  </a:cubicBezTo>
                  <a:close/>
                  <a:moveTo>
                    <a:pt x="331" y="332"/>
                  </a:moveTo>
                  <a:cubicBezTo>
                    <a:pt x="341" y="322"/>
                    <a:pt x="341" y="307"/>
                    <a:pt x="331" y="297"/>
                  </a:cubicBezTo>
                  <a:cubicBezTo>
                    <a:pt x="327" y="293"/>
                    <a:pt x="321" y="290"/>
                    <a:pt x="314" y="290"/>
                  </a:cubicBezTo>
                  <a:cubicBezTo>
                    <a:pt x="308" y="290"/>
                    <a:pt x="302" y="293"/>
                    <a:pt x="297" y="297"/>
                  </a:cubicBezTo>
                  <a:cubicBezTo>
                    <a:pt x="287" y="307"/>
                    <a:pt x="287" y="322"/>
                    <a:pt x="297" y="332"/>
                  </a:cubicBezTo>
                  <a:cubicBezTo>
                    <a:pt x="302" y="336"/>
                    <a:pt x="308" y="339"/>
                    <a:pt x="314" y="339"/>
                  </a:cubicBezTo>
                  <a:cubicBezTo>
                    <a:pt x="321" y="339"/>
                    <a:pt x="327" y="336"/>
                    <a:pt x="331" y="332"/>
                  </a:cubicBezTo>
                  <a:close/>
                  <a:moveTo>
                    <a:pt x="373" y="373"/>
                  </a:moveTo>
                  <a:cubicBezTo>
                    <a:pt x="379" y="366"/>
                    <a:pt x="379" y="355"/>
                    <a:pt x="373" y="349"/>
                  </a:cubicBezTo>
                  <a:cubicBezTo>
                    <a:pt x="369" y="346"/>
                    <a:pt x="365" y="344"/>
                    <a:pt x="360" y="344"/>
                  </a:cubicBezTo>
                  <a:cubicBezTo>
                    <a:pt x="356" y="344"/>
                    <a:pt x="352" y="346"/>
                    <a:pt x="348" y="349"/>
                  </a:cubicBezTo>
                  <a:cubicBezTo>
                    <a:pt x="345" y="352"/>
                    <a:pt x="343" y="356"/>
                    <a:pt x="343" y="361"/>
                  </a:cubicBezTo>
                  <a:cubicBezTo>
                    <a:pt x="343" y="366"/>
                    <a:pt x="345" y="370"/>
                    <a:pt x="348" y="373"/>
                  </a:cubicBezTo>
                  <a:cubicBezTo>
                    <a:pt x="352" y="376"/>
                    <a:pt x="356" y="378"/>
                    <a:pt x="360" y="378"/>
                  </a:cubicBezTo>
                  <a:cubicBezTo>
                    <a:pt x="365" y="378"/>
                    <a:pt x="369" y="376"/>
                    <a:pt x="373" y="373"/>
                  </a:cubicBezTo>
                  <a:close/>
                  <a:moveTo>
                    <a:pt x="407" y="407"/>
                  </a:moveTo>
                  <a:cubicBezTo>
                    <a:pt x="409" y="405"/>
                    <a:pt x="410" y="402"/>
                    <a:pt x="410" y="399"/>
                  </a:cubicBezTo>
                  <a:cubicBezTo>
                    <a:pt x="410" y="395"/>
                    <a:pt x="409" y="392"/>
                    <a:pt x="407" y="390"/>
                  </a:cubicBezTo>
                  <a:cubicBezTo>
                    <a:pt x="404" y="388"/>
                    <a:pt x="401" y="387"/>
                    <a:pt x="398" y="387"/>
                  </a:cubicBezTo>
                  <a:cubicBezTo>
                    <a:pt x="395" y="387"/>
                    <a:pt x="392" y="388"/>
                    <a:pt x="390" y="390"/>
                  </a:cubicBezTo>
                  <a:cubicBezTo>
                    <a:pt x="388" y="392"/>
                    <a:pt x="386" y="395"/>
                    <a:pt x="386" y="399"/>
                  </a:cubicBezTo>
                  <a:cubicBezTo>
                    <a:pt x="386" y="402"/>
                    <a:pt x="387" y="405"/>
                    <a:pt x="390" y="407"/>
                  </a:cubicBezTo>
                  <a:cubicBezTo>
                    <a:pt x="392" y="409"/>
                    <a:pt x="395" y="411"/>
                    <a:pt x="398" y="411"/>
                  </a:cubicBezTo>
                  <a:cubicBezTo>
                    <a:pt x="401" y="411"/>
                    <a:pt x="404" y="409"/>
                    <a:pt x="407" y="407"/>
                  </a:cubicBezTo>
                  <a:close/>
                  <a:moveTo>
                    <a:pt x="437" y="437"/>
                  </a:moveTo>
                  <a:cubicBezTo>
                    <a:pt x="439" y="436"/>
                    <a:pt x="439" y="434"/>
                    <a:pt x="439" y="432"/>
                  </a:cubicBezTo>
                  <a:cubicBezTo>
                    <a:pt x="439" y="430"/>
                    <a:pt x="438" y="428"/>
                    <a:pt x="437" y="426"/>
                  </a:cubicBezTo>
                  <a:cubicBezTo>
                    <a:pt x="434" y="423"/>
                    <a:pt x="429" y="423"/>
                    <a:pt x="426" y="426"/>
                  </a:cubicBezTo>
                  <a:cubicBezTo>
                    <a:pt x="424" y="428"/>
                    <a:pt x="423" y="430"/>
                    <a:pt x="423" y="432"/>
                  </a:cubicBezTo>
                  <a:cubicBezTo>
                    <a:pt x="423" y="434"/>
                    <a:pt x="424" y="436"/>
                    <a:pt x="426" y="437"/>
                  </a:cubicBezTo>
                  <a:cubicBezTo>
                    <a:pt x="427" y="439"/>
                    <a:pt x="429" y="440"/>
                    <a:pt x="431" y="440"/>
                  </a:cubicBezTo>
                  <a:cubicBezTo>
                    <a:pt x="433" y="440"/>
                    <a:pt x="435" y="439"/>
                    <a:pt x="437" y="437"/>
                  </a:cubicBezTo>
                  <a:close/>
                  <a:moveTo>
                    <a:pt x="215" y="332"/>
                  </a:moveTo>
                  <a:cubicBezTo>
                    <a:pt x="224" y="322"/>
                    <a:pt x="224" y="307"/>
                    <a:pt x="215" y="297"/>
                  </a:cubicBezTo>
                  <a:cubicBezTo>
                    <a:pt x="210" y="293"/>
                    <a:pt x="204" y="290"/>
                    <a:pt x="198" y="290"/>
                  </a:cubicBezTo>
                  <a:cubicBezTo>
                    <a:pt x="191" y="290"/>
                    <a:pt x="185" y="293"/>
                    <a:pt x="181" y="297"/>
                  </a:cubicBezTo>
                  <a:cubicBezTo>
                    <a:pt x="176" y="302"/>
                    <a:pt x="173" y="308"/>
                    <a:pt x="173" y="314"/>
                  </a:cubicBezTo>
                  <a:cubicBezTo>
                    <a:pt x="173" y="321"/>
                    <a:pt x="176" y="327"/>
                    <a:pt x="181" y="332"/>
                  </a:cubicBezTo>
                  <a:cubicBezTo>
                    <a:pt x="185" y="336"/>
                    <a:pt x="191" y="339"/>
                    <a:pt x="198" y="339"/>
                  </a:cubicBezTo>
                  <a:cubicBezTo>
                    <a:pt x="204" y="339"/>
                    <a:pt x="210" y="336"/>
                    <a:pt x="215" y="332"/>
                  </a:cubicBezTo>
                  <a:close/>
                  <a:moveTo>
                    <a:pt x="164" y="373"/>
                  </a:moveTo>
                  <a:cubicBezTo>
                    <a:pt x="167" y="370"/>
                    <a:pt x="169" y="365"/>
                    <a:pt x="169" y="361"/>
                  </a:cubicBezTo>
                  <a:cubicBezTo>
                    <a:pt x="169" y="356"/>
                    <a:pt x="167" y="352"/>
                    <a:pt x="164" y="349"/>
                  </a:cubicBezTo>
                  <a:cubicBezTo>
                    <a:pt x="160" y="345"/>
                    <a:pt x="156" y="344"/>
                    <a:pt x="151" y="344"/>
                  </a:cubicBezTo>
                  <a:cubicBezTo>
                    <a:pt x="147" y="344"/>
                    <a:pt x="142" y="345"/>
                    <a:pt x="139" y="349"/>
                  </a:cubicBezTo>
                  <a:cubicBezTo>
                    <a:pt x="132" y="355"/>
                    <a:pt x="132" y="366"/>
                    <a:pt x="139" y="373"/>
                  </a:cubicBezTo>
                  <a:cubicBezTo>
                    <a:pt x="142" y="376"/>
                    <a:pt x="147" y="378"/>
                    <a:pt x="151" y="378"/>
                  </a:cubicBezTo>
                  <a:cubicBezTo>
                    <a:pt x="156" y="378"/>
                    <a:pt x="160" y="376"/>
                    <a:pt x="164" y="373"/>
                  </a:cubicBezTo>
                  <a:close/>
                  <a:moveTo>
                    <a:pt x="122" y="407"/>
                  </a:moveTo>
                  <a:cubicBezTo>
                    <a:pt x="124" y="405"/>
                    <a:pt x="126" y="402"/>
                    <a:pt x="126" y="399"/>
                  </a:cubicBezTo>
                  <a:cubicBezTo>
                    <a:pt x="126" y="395"/>
                    <a:pt x="124" y="392"/>
                    <a:pt x="122" y="390"/>
                  </a:cubicBezTo>
                  <a:cubicBezTo>
                    <a:pt x="120" y="388"/>
                    <a:pt x="117" y="387"/>
                    <a:pt x="114" y="387"/>
                  </a:cubicBezTo>
                  <a:cubicBezTo>
                    <a:pt x="110" y="387"/>
                    <a:pt x="107" y="388"/>
                    <a:pt x="105" y="390"/>
                  </a:cubicBezTo>
                  <a:cubicBezTo>
                    <a:pt x="103" y="392"/>
                    <a:pt x="102" y="395"/>
                    <a:pt x="102" y="399"/>
                  </a:cubicBezTo>
                  <a:cubicBezTo>
                    <a:pt x="102" y="402"/>
                    <a:pt x="103" y="405"/>
                    <a:pt x="105" y="407"/>
                  </a:cubicBezTo>
                  <a:cubicBezTo>
                    <a:pt x="107" y="409"/>
                    <a:pt x="110" y="411"/>
                    <a:pt x="114" y="411"/>
                  </a:cubicBezTo>
                  <a:cubicBezTo>
                    <a:pt x="117" y="411"/>
                    <a:pt x="120" y="409"/>
                    <a:pt x="122" y="407"/>
                  </a:cubicBezTo>
                  <a:close/>
                  <a:moveTo>
                    <a:pt x="86" y="437"/>
                  </a:moveTo>
                  <a:cubicBezTo>
                    <a:pt x="88" y="436"/>
                    <a:pt x="88" y="434"/>
                    <a:pt x="88" y="432"/>
                  </a:cubicBezTo>
                  <a:cubicBezTo>
                    <a:pt x="88" y="430"/>
                    <a:pt x="88" y="428"/>
                    <a:pt x="86" y="426"/>
                  </a:cubicBezTo>
                  <a:cubicBezTo>
                    <a:pt x="83" y="423"/>
                    <a:pt x="78" y="423"/>
                    <a:pt x="75" y="426"/>
                  </a:cubicBezTo>
                  <a:cubicBezTo>
                    <a:pt x="72" y="429"/>
                    <a:pt x="72" y="434"/>
                    <a:pt x="75" y="437"/>
                  </a:cubicBezTo>
                  <a:cubicBezTo>
                    <a:pt x="76" y="439"/>
                    <a:pt x="78" y="440"/>
                    <a:pt x="81" y="440"/>
                  </a:cubicBezTo>
                  <a:cubicBezTo>
                    <a:pt x="83" y="440"/>
                    <a:pt x="85" y="439"/>
                    <a:pt x="86" y="437"/>
                  </a:cubicBezTo>
                  <a:close/>
                  <a:moveTo>
                    <a:pt x="215" y="216"/>
                  </a:moveTo>
                  <a:cubicBezTo>
                    <a:pt x="225" y="206"/>
                    <a:pt x="225" y="191"/>
                    <a:pt x="215" y="181"/>
                  </a:cubicBezTo>
                  <a:cubicBezTo>
                    <a:pt x="210" y="176"/>
                    <a:pt x="204" y="174"/>
                    <a:pt x="198" y="174"/>
                  </a:cubicBezTo>
                  <a:cubicBezTo>
                    <a:pt x="191" y="174"/>
                    <a:pt x="185" y="176"/>
                    <a:pt x="181" y="181"/>
                  </a:cubicBezTo>
                  <a:cubicBezTo>
                    <a:pt x="176" y="186"/>
                    <a:pt x="174" y="192"/>
                    <a:pt x="174" y="198"/>
                  </a:cubicBezTo>
                  <a:cubicBezTo>
                    <a:pt x="174" y="205"/>
                    <a:pt x="176" y="211"/>
                    <a:pt x="181" y="216"/>
                  </a:cubicBezTo>
                  <a:cubicBezTo>
                    <a:pt x="185" y="220"/>
                    <a:pt x="191" y="223"/>
                    <a:pt x="198" y="223"/>
                  </a:cubicBezTo>
                  <a:cubicBezTo>
                    <a:pt x="204" y="223"/>
                    <a:pt x="210" y="220"/>
                    <a:pt x="215" y="216"/>
                  </a:cubicBezTo>
                  <a:close/>
                  <a:moveTo>
                    <a:pt x="164" y="164"/>
                  </a:moveTo>
                  <a:cubicBezTo>
                    <a:pt x="167" y="161"/>
                    <a:pt x="169" y="157"/>
                    <a:pt x="169" y="152"/>
                  </a:cubicBezTo>
                  <a:cubicBezTo>
                    <a:pt x="169" y="147"/>
                    <a:pt x="167" y="143"/>
                    <a:pt x="164" y="140"/>
                  </a:cubicBezTo>
                  <a:cubicBezTo>
                    <a:pt x="160" y="137"/>
                    <a:pt x="156" y="135"/>
                    <a:pt x="151" y="135"/>
                  </a:cubicBezTo>
                  <a:cubicBezTo>
                    <a:pt x="147" y="135"/>
                    <a:pt x="143" y="137"/>
                    <a:pt x="139" y="140"/>
                  </a:cubicBezTo>
                  <a:cubicBezTo>
                    <a:pt x="136" y="143"/>
                    <a:pt x="134" y="147"/>
                    <a:pt x="134" y="152"/>
                  </a:cubicBezTo>
                  <a:cubicBezTo>
                    <a:pt x="134" y="157"/>
                    <a:pt x="136" y="161"/>
                    <a:pt x="139" y="164"/>
                  </a:cubicBezTo>
                  <a:cubicBezTo>
                    <a:pt x="143" y="167"/>
                    <a:pt x="147" y="169"/>
                    <a:pt x="151" y="169"/>
                  </a:cubicBezTo>
                  <a:cubicBezTo>
                    <a:pt x="156" y="169"/>
                    <a:pt x="160" y="167"/>
                    <a:pt x="164" y="164"/>
                  </a:cubicBezTo>
                  <a:close/>
                  <a:moveTo>
                    <a:pt x="122" y="123"/>
                  </a:moveTo>
                  <a:cubicBezTo>
                    <a:pt x="125" y="120"/>
                    <a:pt x="126" y="117"/>
                    <a:pt x="126" y="114"/>
                  </a:cubicBezTo>
                  <a:cubicBezTo>
                    <a:pt x="126" y="111"/>
                    <a:pt x="124" y="108"/>
                    <a:pt x="122" y="106"/>
                  </a:cubicBezTo>
                  <a:cubicBezTo>
                    <a:pt x="120" y="104"/>
                    <a:pt x="117" y="102"/>
                    <a:pt x="114" y="102"/>
                  </a:cubicBezTo>
                  <a:cubicBezTo>
                    <a:pt x="111" y="102"/>
                    <a:pt x="108" y="104"/>
                    <a:pt x="105" y="106"/>
                  </a:cubicBezTo>
                  <a:cubicBezTo>
                    <a:pt x="101" y="110"/>
                    <a:pt x="101" y="118"/>
                    <a:pt x="105" y="123"/>
                  </a:cubicBezTo>
                  <a:cubicBezTo>
                    <a:pt x="108" y="125"/>
                    <a:pt x="111" y="126"/>
                    <a:pt x="114" y="126"/>
                  </a:cubicBezTo>
                  <a:cubicBezTo>
                    <a:pt x="117" y="126"/>
                    <a:pt x="120" y="125"/>
                    <a:pt x="122" y="123"/>
                  </a:cubicBezTo>
                  <a:close/>
                  <a:moveTo>
                    <a:pt x="86" y="87"/>
                  </a:moveTo>
                  <a:cubicBezTo>
                    <a:pt x="88" y="85"/>
                    <a:pt x="89" y="83"/>
                    <a:pt x="89" y="81"/>
                  </a:cubicBezTo>
                  <a:cubicBezTo>
                    <a:pt x="89" y="79"/>
                    <a:pt x="88" y="77"/>
                    <a:pt x="86" y="75"/>
                  </a:cubicBezTo>
                  <a:cubicBezTo>
                    <a:pt x="83" y="72"/>
                    <a:pt x="78" y="72"/>
                    <a:pt x="75" y="76"/>
                  </a:cubicBezTo>
                  <a:cubicBezTo>
                    <a:pt x="72" y="79"/>
                    <a:pt x="72" y="84"/>
                    <a:pt x="75" y="87"/>
                  </a:cubicBezTo>
                  <a:cubicBezTo>
                    <a:pt x="77" y="88"/>
                    <a:pt x="79" y="89"/>
                    <a:pt x="81" y="89"/>
                  </a:cubicBezTo>
                  <a:cubicBezTo>
                    <a:pt x="83" y="89"/>
                    <a:pt x="85" y="88"/>
                    <a:pt x="86" y="8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76851268"/>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Presentation Title</a:t>
            </a:r>
            <a:endParaRPr lang="en-US" dirty="0"/>
          </a:p>
        </p:txBody>
      </p:sp>
      <p:sp>
        <p:nvSpPr>
          <p:cNvPr id="5" name="Date Placeholder 4"/>
          <p:cNvSpPr>
            <a:spLocks noGrp="1"/>
          </p:cNvSpPr>
          <p:nvPr>
            <p:ph type="dt" idx="11"/>
          </p:nvPr>
        </p:nvSpPr>
        <p:spPr/>
        <p:txBody>
          <a:bodyPr/>
          <a:lstStyle/>
          <a:p>
            <a:fld id="{3DA8DF0E-8E6B-44A1-966E-462BACA1F84A}" type="datetime1">
              <a:rPr lang="en-US" smtClean="0"/>
              <a:t>23-Feb-26</a:t>
            </a:fld>
            <a:endParaRPr lang="en-US"/>
          </a:p>
        </p:txBody>
      </p:sp>
      <p:sp>
        <p:nvSpPr>
          <p:cNvPr id="6" name="Footer Placeholder 5"/>
          <p:cNvSpPr>
            <a:spLocks noGrp="1"/>
          </p:cNvSpPr>
          <p:nvPr>
            <p:ph type="ftr" sz="quarter" idx="12"/>
          </p:nvPr>
        </p:nvSpPr>
        <p:spPr/>
        <p:txBody>
          <a:bodyPr/>
          <a:lstStyle/>
          <a:p>
            <a:r>
              <a:rPr lang="en-US" dirty="0">
                <a:latin typeface="Arial" panose="020B0604020202020204" pitchFamily="34" charset="0"/>
              </a:rPr>
              <a:t>Confidentiality Label</a:t>
            </a:r>
          </a:p>
        </p:txBody>
      </p:sp>
      <p:sp>
        <p:nvSpPr>
          <p:cNvPr id="7" name="Slide Number Placeholder 6"/>
          <p:cNvSpPr>
            <a:spLocks noGrp="1"/>
          </p:cNvSpPr>
          <p:nvPr>
            <p:ph type="sldNum" sz="quarter" idx="13"/>
          </p:nvPr>
        </p:nvSpPr>
        <p:spPr/>
        <p:txBody>
          <a:bodyPr/>
          <a:lstStyle/>
          <a:p>
            <a:fld id="{57788AFD-C26B-478C-B2D8-3A933D69C95F}" type="slidenum">
              <a:rPr lang="en-US" smtClean="0"/>
              <a:pPr/>
              <a:t>1</a:t>
            </a:fld>
            <a:endParaRPr lang="en-US"/>
          </a:p>
        </p:txBody>
      </p:sp>
    </p:spTree>
    <p:extLst>
      <p:ext uri="{BB962C8B-B14F-4D97-AF65-F5344CB8AC3E}">
        <p14:creationId xmlns:p14="http://schemas.microsoft.com/office/powerpoint/2010/main" val="2219889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5baac50a1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5baac50a1a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g5baac50a1a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B5AF7-9675-7DDC-D565-83E00F150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0AC28A-E6C3-A462-7C5E-E7F22BCCFB0F}"/>
              </a:ext>
            </a:extLst>
          </p:cNvPr>
          <p:cNvSpPr>
            <a:spLocks noGrp="1" noRot="1" noChangeAspect="1"/>
          </p:cNvSpPr>
          <p:nvPr>
            <p:ph type="sldImg"/>
          </p:nvPr>
        </p:nvSpPr>
        <p:spPr>
          <a:xfrm>
            <a:off x="452438" y="931863"/>
            <a:ext cx="3963987" cy="2230437"/>
          </a:xfrm>
        </p:spPr>
      </p:sp>
      <p:sp>
        <p:nvSpPr>
          <p:cNvPr id="3" name="Notes Placeholder 2">
            <a:extLst>
              <a:ext uri="{FF2B5EF4-FFF2-40B4-BE49-F238E27FC236}">
                <a16:creationId xmlns:a16="http://schemas.microsoft.com/office/drawing/2014/main" id="{D1B42E54-08C1-0945-610B-1BB9118B0FDE}"/>
              </a:ext>
            </a:extLst>
          </p:cNvPr>
          <p:cNvSpPr>
            <a:spLocks noGrp="1"/>
          </p:cNvSpPr>
          <p:nvPr>
            <p:ph type="body" idx="1"/>
          </p:nvPr>
        </p:nvSpPr>
        <p:spPr/>
        <p:txBody>
          <a:bodyPr/>
          <a:lstStyle/>
          <a:p>
            <a:pPr marL="0" lvl="0" indent="0" algn="l" rtl="0">
              <a:spcBef>
                <a:spcPts val="0"/>
              </a:spcBef>
              <a:spcAft>
                <a:spcPts val="0"/>
              </a:spcAft>
              <a:buNone/>
            </a:pPr>
            <a:r>
              <a:rPr lang="en-US" dirty="0"/>
              <a:t>This is an overview of our architecture.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SLIMS client (SLIMS web application) runs as a Tomcat web application on the SLIMS Server.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SLIMS Rest runs on the SLIMS server, also as a Tomcat web application.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SLIMS GATE service runs on the SLIMS Server as a separate java application. The code of the plugins are loaded in SLIMS GATE.</a:t>
            </a:r>
          </a:p>
          <a:p>
            <a:pPr marL="0" lvl="0" indent="0" algn="l" rtl="0">
              <a:spcBef>
                <a:spcPts val="0"/>
              </a:spcBef>
              <a:spcAft>
                <a:spcPts val="0"/>
              </a:spcAft>
              <a:buNone/>
            </a:pPr>
            <a:r>
              <a:rPr lang="en-US" dirty="0"/>
              <a:t>This is the connection to the outside world.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a:t>
            </a:r>
            <a:r>
              <a:rPr lang="en-US" dirty="0" err="1"/>
              <a:t>Hazelcast</a:t>
            </a:r>
            <a:r>
              <a:rPr lang="en-US" dirty="0"/>
              <a:t> cluster is running that connects SLIMS, SLIMS GATE, and SLIMS-R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Every action, whether it’s a view or fetch or update in SLIMS, or when using the Java or Rest API, it all goes through the platform API (for validation and access rights) before sending commands to the Database or file repository.</a:t>
            </a:r>
          </a:p>
        </p:txBody>
      </p:sp>
      <p:sp>
        <p:nvSpPr>
          <p:cNvPr id="4" name="Header Placeholder 3">
            <a:extLst>
              <a:ext uri="{FF2B5EF4-FFF2-40B4-BE49-F238E27FC236}">
                <a16:creationId xmlns:a16="http://schemas.microsoft.com/office/drawing/2014/main" id="{53E978E8-0A40-4784-6FB3-1ACB13245E5E}"/>
              </a:ext>
            </a:extLst>
          </p:cNvPr>
          <p:cNvSpPr>
            <a:spLocks noGrp="1"/>
          </p:cNvSpPr>
          <p:nvPr>
            <p:ph type="hdr" sz="quarter"/>
          </p:nvPr>
        </p:nvSpPr>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00932A6A-0A58-5C00-F992-57870069A662}"/>
              </a:ext>
            </a:extLst>
          </p:cNvPr>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a:extLst>
              <a:ext uri="{FF2B5EF4-FFF2-40B4-BE49-F238E27FC236}">
                <a16:creationId xmlns:a16="http://schemas.microsoft.com/office/drawing/2014/main" id="{1026E5E0-B5B9-1C63-3EAE-FBE9F9093718}"/>
              </a:ext>
            </a:extLst>
          </p:cNvPr>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a:extLst>
              <a:ext uri="{FF2B5EF4-FFF2-40B4-BE49-F238E27FC236}">
                <a16:creationId xmlns:a16="http://schemas.microsoft.com/office/drawing/2014/main" id="{6E940EE8-A393-0ADB-A1C5-518E2D7982D6}"/>
              </a:ext>
            </a:extLst>
          </p:cNvPr>
          <p:cNvSpPr>
            <a:spLocks noGrp="1"/>
          </p:cNvSpPr>
          <p:nvPr>
            <p:ph type="sldNum" sz="quarter" idx="5"/>
          </p:nvPr>
        </p:nvSpPr>
        <p:spPr/>
        <p:txBody>
          <a:bodyPr/>
          <a:lstStyle/>
          <a:p>
            <a:fld id="{57788AFD-C26B-478C-B2D8-3A933D69C95F}" type="slidenum">
              <a:rPr lang="en-US" smtClean="0"/>
              <a:pPr/>
              <a:t>3</a:t>
            </a:fld>
            <a:endParaRPr lang="en-US" dirty="0"/>
          </a:p>
        </p:txBody>
      </p:sp>
    </p:spTree>
    <p:extLst>
      <p:ext uri="{BB962C8B-B14F-4D97-AF65-F5344CB8AC3E}">
        <p14:creationId xmlns:p14="http://schemas.microsoft.com/office/powerpoint/2010/main" val="1322133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65043-B12F-2DDC-6B55-DEC699BA49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1C4D79-00E8-6830-4828-0EDEF7F54555}"/>
              </a:ext>
            </a:extLst>
          </p:cNvPr>
          <p:cNvSpPr>
            <a:spLocks noGrp="1" noRot="1" noChangeAspect="1"/>
          </p:cNvSpPr>
          <p:nvPr>
            <p:ph type="sldImg"/>
          </p:nvPr>
        </p:nvSpPr>
        <p:spPr>
          <a:xfrm>
            <a:off x="452438" y="931863"/>
            <a:ext cx="3963987" cy="2230437"/>
          </a:xfrm>
        </p:spPr>
      </p:sp>
      <p:sp>
        <p:nvSpPr>
          <p:cNvPr id="3" name="Notes Placeholder 2">
            <a:extLst>
              <a:ext uri="{FF2B5EF4-FFF2-40B4-BE49-F238E27FC236}">
                <a16:creationId xmlns:a16="http://schemas.microsoft.com/office/drawing/2014/main" id="{23BED45D-C757-13D8-1FBB-F664DBBAD188}"/>
              </a:ext>
            </a:extLst>
          </p:cNvPr>
          <p:cNvSpPr>
            <a:spLocks noGrp="1"/>
          </p:cNvSpPr>
          <p:nvPr>
            <p:ph type="body" idx="1"/>
          </p:nvPr>
        </p:nvSpPr>
        <p:spPr/>
        <p:txBody>
          <a:bodyPr/>
          <a:lstStyle/>
          <a:p>
            <a:pPr marL="0" lvl="0" indent="0" algn="l" rtl="0">
              <a:spcBef>
                <a:spcPts val="0"/>
              </a:spcBef>
              <a:spcAft>
                <a:spcPts val="0"/>
              </a:spcAft>
              <a:buNone/>
            </a:pPr>
            <a:r>
              <a:rPr lang="en-US" dirty="0"/>
              <a:t>The main difference for Cloud deployments is how to communicate with the Lab Network, where SLIMS Remote is needed.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SLIMS Remote will then communicate with SLIMS Rest and SLIMS Gate plugins can then be started (with usage “Remote”, more details on later slides)</a:t>
            </a:r>
          </a:p>
        </p:txBody>
      </p:sp>
      <p:sp>
        <p:nvSpPr>
          <p:cNvPr id="4" name="Header Placeholder 3">
            <a:extLst>
              <a:ext uri="{FF2B5EF4-FFF2-40B4-BE49-F238E27FC236}">
                <a16:creationId xmlns:a16="http://schemas.microsoft.com/office/drawing/2014/main" id="{29AA7BA2-6AD8-41AF-3700-5B81C636E079}"/>
              </a:ext>
            </a:extLst>
          </p:cNvPr>
          <p:cNvSpPr>
            <a:spLocks noGrp="1"/>
          </p:cNvSpPr>
          <p:nvPr>
            <p:ph type="hdr" sz="quarter"/>
          </p:nvPr>
        </p:nvSpPr>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66549221-2506-4859-DFC5-10158C1CA7CF}"/>
              </a:ext>
            </a:extLst>
          </p:cNvPr>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a:extLst>
              <a:ext uri="{FF2B5EF4-FFF2-40B4-BE49-F238E27FC236}">
                <a16:creationId xmlns:a16="http://schemas.microsoft.com/office/drawing/2014/main" id="{0310D6AB-BC06-B34C-EA3F-8FEE8E573B38}"/>
              </a:ext>
            </a:extLst>
          </p:cNvPr>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a:extLst>
              <a:ext uri="{FF2B5EF4-FFF2-40B4-BE49-F238E27FC236}">
                <a16:creationId xmlns:a16="http://schemas.microsoft.com/office/drawing/2014/main" id="{FC7E0ED1-2664-326A-818A-885A63050749}"/>
              </a:ext>
            </a:extLst>
          </p:cNvPr>
          <p:cNvSpPr>
            <a:spLocks noGrp="1"/>
          </p:cNvSpPr>
          <p:nvPr>
            <p:ph type="sldNum" sz="quarter" idx="5"/>
          </p:nvPr>
        </p:nvSpPr>
        <p:spPr/>
        <p:txBody>
          <a:bodyPr/>
          <a:lstStyle/>
          <a:p>
            <a:fld id="{57788AFD-C26B-478C-B2D8-3A933D69C95F}" type="slidenum">
              <a:rPr lang="en-US" smtClean="0"/>
              <a:pPr/>
              <a:t>4</a:t>
            </a:fld>
            <a:endParaRPr lang="en-US" dirty="0"/>
          </a:p>
        </p:txBody>
      </p:sp>
    </p:spTree>
    <p:extLst>
      <p:ext uri="{BB962C8B-B14F-4D97-AF65-F5344CB8AC3E}">
        <p14:creationId xmlns:p14="http://schemas.microsoft.com/office/powerpoint/2010/main" val="1505580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The REST API is running on the SLIMS server and accessible via the SLIMS REST URL.</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slide is FYI since this presentation is only about our JAVA API (or perhaps remove this slide and make a small Rest API presentation).</a:t>
            </a:r>
          </a:p>
          <a:p>
            <a:endParaRPr lang="en-US" dirty="0"/>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5</a:t>
            </a:fld>
            <a:endParaRPr lang="en-US" dirty="0"/>
          </a:p>
        </p:txBody>
      </p:sp>
    </p:spTree>
    <p:extLst>
      <p:ext uri="{BB962C8B-B14F-4D97-AF65-F5344CB8AC3E}">
        <p14:creationId xmlns:p14="http://schemas.microsoft.com/office/powerpoint/2010/main" val="11662247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The REST API is running on the SLIMS server and accessible via the SLIMS REST URL.</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slide is FYI since this presentation is only about our JAVA API (or perhaps remove this slide and make a small Rest API presentation).</a:t>
            </a:r>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6</a:t>
            </a:fld>
            <a:endParaRPr lang="en-US" dirty="0"/>
          </a:p>
        </p:txBody>
      </p:sp>
    </p:spTree>
    <p:extLst>
      <p:ext uri="{BB962C8B-B14F-4D97-AF65-F5344CB8AC3E}">
        <p14:creationId xmlns:p14="http://schemas.microsoft.com/office/powerpoint/2010/main" val="564480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5baac50a1a_0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5baac50a1a_0_1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Camel is a framework that helps us to do all the “dirty” stuff.</a:t>
            </a:r>
          </a:p>
          <a:p>
            <a:pPr marL="171450" lvl="0" indent="-171450" algn="l" rtl="0">
              <a:spcBef>
                <a:spcPts val="0"/>
              </a:spcBef>
              <a:spcAft>
                <a:spcPts val="0"/>
              </a:spcAft>
              <a:buFontTx/>
              <a:buChar char="-"/>
            </a:pPr>
            <a:r>
              <a:rPr lang="en-US" dirty="0"/>
              <a:t>Picks up files</a:t>
            </a:r>
          </a:p>
          <a:p>
            <a:pPr marL="171450" lvl="0" indent="-171450" algn="l" rtl="0">
              <a:spcBef>
                <a:spcPts val="0"/>
              </a:spcBef>
              <a:spcAft>
                <a:spcPts val="0"/>
              </a:spcAft>
              <a:buFontTx/>
              <a:buChar char="-"/>
            </a:pPr>
            <a:r>
              <a:rPr lang="en-US" dirty="0"/>
              <a:t>Sends emails</a:t>
            </a:r>
          </a:p>
          <a:p>
            <a:pPr marL="171450" lvl="0" indent="-171450" algn="l" rtl="0">
              <a:spcBef>
                <a:spcPts val="0"/>
              </a:spcBef>
              <a:spcAft>
                <a:spcPts val="0"/>
              </a:spcAft>
              <a:buFontTx/>
              <a:buChar char="-"/>
            </a:pPr>
            <a:r>
              <a:rPr lang="en-US" dirty="0"/>
              <a:t>FTP</a:t>
            </a:r>
          </a:p>
          <a:p>
            <a:pPr marL="171450" lvl="0" indent="-171450" algn="l" rtl="0">
              <a:spcBef>
                <a:spcPts val="0"/>
              </a:spcBef>
              <a:spcAft>
                <a:spcPts val="0"/>
              </a:spcAft>
              <a:buFontTx/>
              <a:buChar char="-"/>
            </a:pPr>
            <a:endParaRPr lang="en-US" dirty="0"/>
          </a:p>
          <a:p>
            <a:pPr marL="0" lvl="0" indent="0" algn="l" rtl="0">
              <a:spcBef>
                <a:spcPts val="0"/>
              </a:spcBef>
              <a:spcAft>
                <a:spcPts val="0"/>
              </a:spcAft>
              <a:buFontTx/>
              <a:buNone/>
            </a:pPr>
            <a:r>
              <a:rPr lang="en-US" dirty="0"/>
              <a:t>And the language is very nice and easy to use</a:t>
            </a:r>
          </a:p>
          <a:p>
            <a:pPr marL="0" lvl="0" indent="0" algn="l" rtl="0">
              <a:spcBef>
                <a:spcPts val="0"/>
              </a:spcBef>
              <a:spcAft>
                <a:spcPts val="0"/>
              </a:spcAft>
              <a:buFontTx/>
              <a:buNone/>
            </a:pPr>
            <a:endParaRPr lang="en-US" dirty="0"/>
          </a:p>
          <a:p>
            <a:pPr marL="0" lvl="0" indent="0" algn="l" rtl="0">
              <a:spcBef>
                <a:spcPts val="0"/>
              </a:spcBef>
              <a:spcAft>
                <a:spcPts val="0"/>
              </a:spcAft>
              <a:buFontTx/>
              <a:buNone/>
            </a:pPr>
            <a:r>
              <a:rPr lang="en-US" dirty="0"/>
              <a:t>SLIMS 7.2 uses version 4.x. The link will take you to a “page not found” page from camel, pick a specific 4.x version on the bottom left</a:t>
            </a:r>
          </a:p>
          <a:p>
            <a:pPr marL="0" lvl="0" indent="0" algn="l" rtl="0">
              <a:spcBef>
                <a:spcPts val="0"/>
              </a:spcBef>
              <a:spcAft>
                <a:spcPts val="0"/>
              </a:spcAft>
              <a:buNone/>
            </a:pPr>
            <a:endParaRPr dirty="0"/>
          </a:p>
        </p:txBody>
      </p:sp>
      <p:sp>
        <p:nvSpPr>
          <p:cNvPr id="191" name="Google Shape;191;g5baac50a1a_0_10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391563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5baac50a1a_0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5baac50a1a_0_1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Main programmable customization layer, main purposes:</a:t>
            </a:r>
          </a:p>
          <a:p>
            <a:pPr marL="171450" lvl="0" indent="-171450" algn="l" rtl="0">
              <a:spcBef>
                <a:spcPts val="0"/>
              </a:spcBef>
              <a:spcAft>
                <a:spcPts val="0"/>
              </a:spcAft>
              <a:buFontTx/>
              <a:buChar char="-"/>
            </a:pPr>
            <a:r>
              <a:rPr lang="en-US" dirty="0"/>
              <a:t>Instrument connections</a:t>
            </a:r>
          </a:p>
          <a:p>
            <a:pPr marL="171450" lvl="0" indent="-171450" algn="l" rtl="0">
              <a:spcBef>
                <a:spcPts val="0"/>
              </a:spcBef>
              <a:spcAft>
                <a:spcPts val="0"/>
              </a:spcAft>
              <a:buFontTx/>
              <a:buChar char="-"/>
            </a:pPr>
            <a:r>
              <a:rPr lang="en-US" dirty="0"/>
              <a:t>Connection to external systems</a:t>
            </a:r>
          </a:p>
          <a:p>
            <a:pPr marL="0" lvl="0" indent="0" algn="l" rtl="0">
              <a:spcBef>
                <a:spcPts val="0"/>
              </a:spcBef>
              <a:spcAft>
                <a:spcPts val="0"/>
              </a:spcAft>
              <a:buNone/>
            </a:pPr>
            <a:r>
              <a:rPr lang="en-US" dirty="0"/>
              <a:t>SLIMS GATE is close to the heart of SLIMS, advantages of the Java API (vs Rest API)</a:t>
            </a:r>
          </a:p>
          <a:p>
            <a:pPr marL="0" lvl="0" indent="0" algn="l" rtl="0">
              <a:spcBef>
                <a:spcPts val="0"/>
              </a:spcBef>
              <a:spcAft>
                <a:spcPts val="0"/>
              </a:spcAft>
              <a:buNone/>
            </a:pPr>
            <a:r>
              <a:rPr lang="en-US" dirty="0"/>
              <a:t>- Wide range of API services</a:t>
            </a:r>
          </a:p>
          <a:p>
            <a:pPr marL="0" lvl="0" indent="0" algn="l" rtl="0">
              <a:spcBef>
                <a:spcPts val="0"/>
              </a:spcBef>
              <a:spcAft>
                <a:spcPts val="0"/>
              </a:spcAft>
              <a:buNone/>
            </a:pPr>
            <a:r>
              <a:rPr lang="en-US" dirty="0"/>
              <a:t>- Code will execute must faster</a:t>
            </a:r>
          </a:p>
          <a:p>
            <a:pPr marL="0" lvl="0" indent="0" algn="l" rtl="0">
              <a:spcBef>
                <a:spcPts val="0"/>
              </a:spcBef>
              <a:spcAft>
                <a:spcPts val="0"/>
              </a:spcAft>
              <a:buNone/>
            </a:pPr>
            <a:r>
              <a:rPr lang="en-US" dirty="0"/>
              <a:t>- You have control over the scope of database transactions, compared to the Rest API where every single call (POST/GET/…) is a single separate transaction.</a:t>
            </a:r>
          </a:p>
          <a:p>
            <a:pPr marL="0" lvl="0" indent="0" algn="l" rtl="0">
              <a:spcBef>
                <a:spcPts val="0"/>
              </a:spcBef>
              <a:spcAft>
                <a:spcPts val="0"/>
              </a:spcAft>
              <a:buNone/>
            </a:pPr>
            <a:r>
              <a:rPr lang="en-US" dirty="0"/>
              <a:t>- Main tool used by Application Engineers</a:t>
            </a:r>
          </a:p>
        </p:txBody>
      </p:sp>
      <p:sp>
        <p:nvSpPr>
          <p:cNvPr id="191" name="Google Shape;191;g5baac50a1a_0_10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42072965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5baac50a1a_0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5baac50a1a_0_1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Independent -&gt; Plugins are running independently; they are unaffected by each other. You can start or stop them individually.</a:t>
            </a:r>
          </a:p>
          <a:p>
            <a:pPr marL="0" lvl="0" indent="0" algn="l" rtl="0">
              <a:spcBef>
                <a:spcPts val="0"/>
              </a:spcBef>
              <a:spcAft>
                <a:spcPts val="0"/>
              </a:spcAft>
              <a:buNone/>
            </a:pPr>
            <a:r>
              <a:rPr lang="en-US" dirty="0"/>
              <a:t>Parameter configuration can be done in the Plugins module and a plugin can be restarted after some alterations.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If the customer knows about the old school SLIMS GATE -&gt; everything was running in 1 system with 1 camel context. Impossible to stop or start one SLIMS GATE flow individually.</a:t>
            </a:r>
          </a:p>
          <a:p>
            <a:pPr marL="0" lvl="0" indent="0" algn="l" rtl="0">
              <a:spcBef>
                <a:spcPts val="0"/>
              </a:spcBef>
              <a:spcAft>
                <a:spcPts val="0"/>
              </a:spcAft>
              <a:buNone/>
            </a:pPr>
            <a:endParaRPr dirty="0"/>
          </a:p>
        </p:txBody>
      </p:sp>
      <p:sp>
        <p:nvSpPr>
          <p:cNvPr id="191" name="Google Shape;191;g5baac50a1a_0_10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3421048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fr-CH" dirty="0"/>
              <a:t>Download repo: </a:t>
            </a:r>
            <a:r>
              <a:rPr lang="fr-CH" dirty="0" err="1"/>
              <a:t>github</a:t>
            </a:r>
            <a:r>
              <a:rPr lang="fr-CH" dirty="0"/>
              <a:t> -&gt; Code -&gt; download zip</a:t>
            </a:r>
          </a:p>
          <a:p>
            <a:pPr marL="0" lvl="0" indent="0" algn="l" rtl="0">
              <a:spcBef>
                <a:spcPts val="0"/>
              </a:spcBef>
              <a:spcAft>
                <a:spcPts val="0"/>
              </a:spcAft>
              <a:buNone/>
            </a:pPr>
            <a:endParaRPr lang="fr-CH" dirty="0"/>
          </a:p>
          <a:p>
            <a:pPr marL="0" lvl="0" indent="0" algn="l" rtl="0">
              <a:spcBef>
                <a:spcPts val="0"/>
              </a:spcBef>
              <a:spcAft>
                <a:spcPts val="0"/>
              </a:spcAft>
              <a:buNone/>
            </a:pPr>
            <a:r>
              <a:rPr lang="fr-CH" dirty="0"/>
              <a:t>Set java home (!) Java 21 (!) : </a:t>
            </a:r>
          </a:p>
          <a:p>
            <a:pPr marL="0" lvl="0" indent="0" algn="l" rtl="0">
              <a:spcBef>
                <a:spcPts val="0"/>
              </a:spcBef>
              <a:spcAft>
                <a:spcPts val="0"/>
              </a:spcAft>
              <a:buNone/>
            </a:pPr>
            <a:r>
              <a:rPr lang="fr-CH" sz="1800" dirty="0">
                <a:solidFill>
                  <a:prstClr val="black"/>
                </a:solidFill>
                <a:latin typeface="Lucida Console" panose="020B0609040504020204" pitchFamily="49" charset="0"/>
              </a:rPr>
              <a:t>	</a:t>
            </a:r>
            <a:r>
              <a:rPr lang="en-US" sz="1800" dirty="0">
                <a:solidFill>
                  <a:prstClr val="black"/>
                </a:solidFill>
                <a:latin typeface="Lucida Console" panose="020B0609040504020204" pitchFamily="49" charset="0"/>
              </a:rPr>
              <a:t>$ export JAVA_HOME=/c/Program\ Files/Java/openjdk-21.0.6+7/openlogic-openjdk-21.0.6+7-windows-x64</a:t>
            </a:r>
          </a:p>
          <a:p>
            <a:pPr marL="0" lvl="0" indent="0" algn="l" rtl="0">
              <a:spcBef>
                <a:spcPts val="0"/>
              </a:spcBef>
              <a:spcAft>
                <a:spcPts val="0"/>
              </a:spcAft>
              <a:buNone/>
            </a:pPr>
            <a:endParaRPr lang="en-US" sz="1800" dirty="0">
              <a:solidFill>
                <a:prstClr val="black"/>
              </a:solidFill>
              <a:latin typeface="Lucida Console" panose="020B0609040504020204" pitchFamily="49" charset="0"/>
            </a:endParaRPr>
          </a:p>
          <a:p>
            <a:pPr marL="0" lvl="0" indent="0" algn="l" rtl="0">
              <a:spcBef>
                <a:spcPts val="0"/>
              </a:spcBef>
              <a:spcAft>
                <a:spcPts val="0"/>
              </a:spcAft>
              <a:buNone/>
            </a:pPr>
            <a:r>
              <a:rPr lang="en-US" sz="1800" dirty="0">
                <a:solidFill>
                  <a:prstClr val="black"/>
                </a:solidFill>
                <a:latin typeface="Lucida Console" panose="020B0609040504020204" pitchFamily="49" charset="0"/>
              </a:rPr>
              <a:t>Build project </a:t>
            </a:r>
          </a:p>
          <a:p>
            <a:pPr marL="0" lvl="0" indent="0" algn="l" rtl="0">
              <a:spcBef>
                <a:spcPts val="0"/>
              </a:spcBef>
              <a:spcAft>
                <a:spcPts val="0"/>
              </a:spcAft>
              <a:buNone/>
            </a:pPr>
            <a:r>
              <a:rPr lang="en-US" sz="1800" dirty="0">
                <a:solidFill>
                  <a:prstClr val="black"/>
                </a:solidFill>
                <a:latin typeface="Lucida Console" panose="020B0609040504020204" pitchFamily="49" charset="0"/>
              </a:rPr>
              <a:t>Import: open IntelliJ, then “Open” and select the slims-</a:t>
            </a:r>
            <a:r>
              <a:rPr lang="en-US" sz="1800" dirty="0" err="1">
                <a:solidFill>
                  <a:prstClr val="black"/>
                </a:solidFill>
                <a:latin typeface="Lucida Console" panose="020B0609040504020204" pitchFamily="49" charset="0"/>
              </a:rPr>
              <a:t>api</a:t>
            </a:r>
            <a:r>
              <a:rPr lang="en-US" sz="1800" dirty="0">
                <a:solidFill>
                  <a:prstClr val="black"/>
                </a:solidFill>
                <a:latin typeface="Lucida Console" panose="020B0609040504020204" pitchFamily="49" charset="0"/>
              </a:rPr>
              <a:t>-master (or equivalent)</a:t>
            </a:r>
            <a:endParaRPr lang="fr-CH" dirty="0"/>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7018ADF5-2256-4E57-87A2-BDBBF5E0E521}"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10</a:t>
            </a:fld>
            <a:endParaRPr lang="en-US" dirty="0"/>
          </a:p>
        </p:txBody>
      </p:sp>
    </p:spTree>
    <p:extLst>
      <p:ext uri="{BB962C8B-B14F-4D97-AF65-F5344CB8AC3E}">
        <p14:creationId xmlns:p14="http://schemas.microsoft.com/office/powerpoint/2010/main" val="2799654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 of the files that are used in the SLIMS GATE template plugin.</a:t>
            </a:r>
          </a:p>
          <a:p>
            <a:endParaRPr lang="en-US" dirty="0"/>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11</a:t>
            </a:fld>
            <a:endParaRPr lang="en-US" dirty="0"/>
          </a:p>
        </p:txBody>
      </p:sp>
    </p:spTree>
    <p:extLst>
      <p:ext uri="{BB962C8B-B14F-4D97-AF65-F5344CB8AC3E}">
        <p14:creationId xmlns:p14="http://schemas.microsoft.com/office/powerpoint/2010/main" val="23802158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After including a new plugin in this file, you will need to rebuild so that IDE project files are created.</a:t>
            </a:r>
          </a:p>
          <a:p>
            <a:pPr marL="0" lvl="0" indent="0" algn="l" rtl="0">
              <a:spcBef>
                <a:spcPts val="0"/>
              </a:spcBef>
              <a:spcAft>
                <a:spcPts val="0"/>
              </a:spcAft>
              <a:buNone/>
            </a:pPr>
            <a:r>
              <a:rPr lang="en-US" dirty="0"/>
              <a:t>Use ./</a:t>
            </a:r>
            <a:r>
              <a:rPr lang="en-US" dirty="0" err="1"/>
              <a:t>gradlew</a:t>
            </a:r>
            <a:r>
              <a:rPr lang="en-US" dirty="0"/>
              <a:t> idea or ./</a:t>
            </a:r>
            <a:r>
              <a:rPr lang="en-US" dirty="0" err="1"/>
              <a:t>gradlew</a:t>
            </a:r>
            <a:r>
              <a:rPr lang="en-US" dirty="0"/>
              <a:t> eclipse</a:t>
            </a:r>
          </a:p>
          <a:p>
            <a:endParaRPr lang="en-US" dirty="0"/>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12</a:t>
            </a:fld>
            <a:endParaRPr lang="en-US" dirty="0"/>
          </a:p>
        </p:txBody>
      </p:sp>
    </p:spTree>
    <p:extLst>
      <p:ext uri="{BB962C8B-B14F-4D97-AF65-F5344CB8AC3E}">
        <p14:creationId xmlns:p14="http://schemas.microsoft.com/office/powerpoint/2010/main" val="2800956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13</a:t>
            </a:fld>
            <a:endParaRPr lang="en-US" dirty="0"/>
          </a:p>
        </p:txBody>
      </p:sp>
    </p:spTree>
    <p:extLst>
      <p:ext uri="{BB962C8B-B14F-4D97-AF65-F5344CB8AC3E}">
        <p14:creationId xmlns:p14="http://schemas.microsoft.com/office/powerpoint/2010/main" val="7697643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14</a:t>
            </a:fld>
            <a:endParaRPr lang="en-US" dirty="0"/>
          </a:p>
        </p:txBody>
      </p:sp>
    </p:spTree>
    <p:extLst>
      <p:ext uri="{BB962C8B-B14F-4D97-AF65-F5344CB8AC3E}">
        <p14:creationId xmlns:p14="http://schemas.microsoft.com/office/powerpoint/2010/main" val="717024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pPr marL="171450" lvl="0" indent="-171450" algn="l" rtl="0">
              <a:spcBef>
                <a:spcPts val="0"/>
              </a:spcBef>
              <a:spcAft>
                <a:spcPts val="0"/>
              </a:spcAft>
              <a:buFontTx/>
              <a:buChar char="-"/>
            </a:pPr>
            <a:r>
              <a:rPr lang="en-US" dirty="0"/>
              <a:t>SLIMS GATE: SLIMS GATE plugins, machine integrations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LIBRARY: common (reusable) code for other plugins (which will be added as a dependency when needed)</a:t>
            </a:r>
          </a:p>
          <a:p>
            <a:pPr marL="171450" lvl="0" indent="-171450" algn="l" rtl="0">
              <a:spcBef>
                <a:spcPts val="0"/>
              </a:spcBef>
              <a:spcAft>
                <a:spcPts val="0"/>
              </a:spcAft>
              <a:buFontTx/>
              <a:buChar char="-"/>
            </a:pPr>
            <a:r>
              <a:rPr lang="en-US" dirty="0"/>
              <a:t>REMOTE: remote plugins for SLIMS Cloud, balances integration </a:t>
            </a:r>
            <a:r>
              <a:rPr lang="en-US" b="1" dirty="0"/>
              <a:t>/!\ written by SLIMS engineers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SLIMS: </a:t>
            </a:r>
            <a:r>
              <a:rPr lang="en-US" dirty="0" err="1"/>
              <a:t>Vaadin</a:t>
            </a:r>
            <a:r>
              <a:rPr lang="en-US" dirty="0"/>
              <a:t> plugins, custom UI /!\ not part of the slide, as not encouraged /!\</a:t>
            </a:r>
          </a:p>
          <a:p>
            <a:endParaRPr lang="en-US" dirty="0"/>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15</a:t>
            </a:fld>
            <a:endParaRPr lang="en-US" dirty="0"/>
          </a:p>
        </p:txBody>
      </p:sp>
    </p:spTree>
    <p:extLst>
      <p:ext uri="{BB962C8B-B14F-4D97-AF65-F5344CB8AC3E}">
        <p14:creationId xmlns:p14="http://schemas.microsoft.com/office/powerpoint/2010/main" val="5990954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16</a:t>
            </a:fld>
            <a:endParaRPr lang="en-US" dirty="0"/>
          </a:p>
        </p:txBody>
      </p:sp>
    </p:spTree>
    <p:extLst>
      <p:ext uri="{BB962C8B-B14F-4D97-AF65-F5344CB8AC3E}">
        <p14:creationId xmlns:p14="http://schemas.microsoft.com/office/powerpoint/2010/main" val="14583867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r>
              <a:rPr lang="en-US" dirty="0"/>
              <a:t>If the config class changes, </a:t>
            </a:r>
            <a:r>
              <a:rPr lang="en-US" dirty="0" err="1"/>
              <a:t>CustomConfiguration</a:t>
            </a:r>
            <a:r>
              <a:rPr lang="en-US" dirty="0"/>
              <a:t> needs to be changed to the name of the configuration bean to match</a:t>
            </a:r>
          </a:p>
          <a:p>
            <a:endParaRPr lang="en-US" dirty="0"/>
          </a:p>
          <a:p>
            <a:r>
              <a:rPr lang="en-US" dirty="0"/>
              <a:t>Types which are available but not presented in the training. Note that Remote is still in the list, but it’s mentioned they are done by SLIMS engineers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mj-lt"/>
                <a:cs typeface="Courier New" panose="02070309020205020404" pitchFamily="49" charset="0"/>
              </a:rPr>
              <a:t>SLIMS</a:t>
            </a:r>
            <a:r>
              <a:rPr lang="en-US" dirty="0">
                <a:latin typeface="+mj-lt"/>
                <a:cs typeface="Courier New" panose="02070309020205020404" pitchFamily="49" charset="0"/>
              </a:rPr>
              <a:t>: </a:t>
            </a:r>
            <a:r>
              <a:rPr lang="en-US" dirty="0" err="1">
                <a:latin typeface="+mj-lt"/>
                <a:cs typeface="Courier New" panose="02070309020205020404" pitchFamily="49" charset="0"/>
              </a:rPr>
              <a:t>Vaadin</a:t>
            </a:r>
            <a:r>
              <a:rPr lang="en-US" dirty="0">
                <a:latin typeface="+mj-lt"/>
                <a:cs typeface="Courier New" panose="02070309020205020404" pitchFamily="49" charset="0"/>
              </a:rPr>
              <a:t> plugin – create your own custom UI forms in SLIMS.</a:t>
            </a:r>
          </a:p>
          <a:p>
            <a:endParaRPr lang="en-US" dirty="0"/>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17</a:t>
            </a:fld>
            <a:endParaRPr lang="en-US" dirty="0"/>
          </a:p>
        </p:txBody>
      </p:sp>
    </p:spTree>
    <p:extLst>
      <p:ext uri="{BB962C8B-B14F-4D97-AF65-F5344CB8AC3E}">
        <p14:creationId xmlns:p14="http://schemas.microsoft.com/office/powerpoint/2010/main" val="1529921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pPr marL="228600" lvl="0" indent="-228600" algn="l" rtl="0">
              <a:spcBef>
                <a:spcPts val="0"/>
              </a:spcBef>
              <a:spcAft>
                <a:spcPts val="0"/>
              </a:spcAft>
              <a:buFont typeface="+mj-lt"/>
              <a:buAutoNum type="arabicPeriod"/>
            </a:pPr>
            <a:r>
              <a:rPr lang="en-US" dirty="0" err="1"/>
              <a:t>SpringConfig</a:t>
            </a:r>
            <a:r>
              <a:rPr lang="en-US" dirty="0"/>
              <a:t> (class that will never change) defines to load:</a:t>
            </a:r>
          </a:p>
          <a:p>
            <a:pPr marL="685800" lvl="1" indent="-228600" algn="l" rtl="0">
              <a:spcBef>
                <a:spcPts val="0"/>
              </a:spcBef>
              <a:spcAft>
                <a:spcPts val="0"/>
              </a:spcAft>
              <a:buFont typeface="Arial" panose="020B0604020202020204" pitchFamily="34" charset="0"/>
              <a:buChar char="•"/>
            </a:pPr>
            <a:r>
              <a:rPr lang="en-US" dirty="0"/>
              <a:t>all classes in a certain package with @Component</a:t>
            </a:r>
          </a:p>
          <a:p>
            <a:pPr marL="685800" lvl="1" indent="-228600" algn="l" rtl="0">
              <a:spcBef>
                <a:spcPts val="0"/>
              </a:spcBef>
              <a:spcAft>
                <a:spcPts val="0"/>
              </a:spcAft>
              <a:buFont typeface="Arial" panose="020B0604020202020204" pitchFamily="34" charset="0"/>
              <a:buChar char="•"/>
            </a:pPr>
            <a:r>
              <a:rPr lang="en-US" dirty="0"/>
              <a:t>camel-context.xml</a:t>
            </a:r>
          </a:p>
          <a:p>
            <a:pPr marL="228600" lvl="0" indent="-228600" algn="l" rtl="0">
              <a:spcBef>
                <a:spcPts val="0"/>
              </a:spcBef>
              <a:spcAft>
                <a:spcPts val="0"/>
              </a:spcAft>
              <a:buFont typeface="+mj-lt"/>
              <a:buAutoNum type="arabicPeriod"/>
            </a:pPr>
            <a:r>
              <a:rPr lang="en-US" dirty="0"/>
              <a:t>Camel-context.xml defines to load:</a:t>
            </a:r>
          </a:p>
          <a:p>
            <a:pPr marL="685800" lvl="1" indent="-228600" algn="l" rtl="0">
              <a:spcBef>
                <a:spcPts val="0"/>
              </a:spcBef>
              <a:spcAft>
                <a:spcPts val="0"/>
              </a:spcAft>
              <a:buFont typeface="Arial" panose="020B0604020202020204" pitchFamily="34" charset="0"/>
              <a:buChar char="•"/>
            </a:pPr>
            <a:r>
              <a:rPr lang="en-US" dirty="0" err="1"/>
              <a:t>sayHelloBuilder</a:t>
            </a:r>
            <a:endParaRPr lang="en-US" dirty="0"/>
          </a:p>
          <a:p>
            <a:pPr marL="228600" lvl="0" indent="-228600" algn="l" rtl="0">
              <a:spcBef>
                <a:spcPts val="0"/>
              </a:spcBef>
              <a:spcAft>
                <a:spcPts val="0"/>
              </a:spcAft>
              <a:buFont typeface="+mj-lt"/>
              <a:buAutoNum type="arabicPeriod"/>
            </a:pPr>
            <a:r>
              <a:rPr lang="en-US" dirty="0" err="1"/>
              <a:t>SayHelloBuilder</a:t>
            </a:r>
            <a:r>
              <a:rPr lang="en-US" dirty="0"/>
              <a:t> defines the routes with specific beans:</a:t>
            </a:r>
          </a:p>
          <a:p>
            <a:pPr marL="685800" lvl="1" indent="-228600" algn="l" rtl="0">
              <a:spcBef>
                <a:spcPts val="0"/>
              </a:spcBef>
              <a:spcAft>
                <a:spcPts val="0"/>
              </a:spcAft>
              <a:buFont typeface="Arial" panose="020B0604020202020204" pitchFamily="34" charset="0"/>
              <a:buChar char="•"/>
            </a:pPr>
            <a:r>
              <a:rPr lang="en-US" dirty="0" err="1"/>
              <a:t>sayHello</a:t>
            </a:r>
            <a:endParaRPr lang="en-US" dirty="0"/>
          </a:p>
          <a:p>
            <a:pPr marL="228600" lvl="0" indent="-228600" algn="l" rtl="0">
              <a:spcBef>
                <a:spcPts val="0"/>
              </a:spcBef>
              <a:spcAft>
                <a:spcPts val="0"/>
              </a:spcAft>
              <a:buFont typeface="+mj-lt"/>
              <a:buAutoNum type="arabicPeriod"/>
            </a:pPr>
            <a:r>
              <a:rPr lang="en-US" dirty="0" err="1"/>
              <a:t>SayHello</a:t>
            </a:r>
            <a:r>
              <a:rPr lang="en-US" dirty="0"/>
              <a:t> bean can use </a:t>
            </a:r>
            <a:r>
              <a:rPr lang="en-US" dirty="0" err="1"/>
              <a:t>CustomConfiguration</a:t>
            </a:r>
            <a:r>
              <a:rPr lang="en-US" dirty="0"/>
              <a:t> which is loaded via </a:t>
            </a:r>
            <a:r>
              <a:rPr lang="en-US" dirty="0" err="1"/>
              <a:t>plugin.properties</a:t>
            </a:r>
            <a:r>
              <a:rPr lang="en-US" dirty="0"/>
              <a:t> config-class</a:t>
            </a:r>
          </a:p>
          <a:p>
            <a:pPr marL="228600" lvl="0" indent="-228600" algn="l" rtl="0">
              <a:spcBef>
                <a:spcPts val="0"/>
              </a:spcBef>
              <a:spcAft>
                <a:spcPts val="0"/>
              </a:spcAft>
              <a:buFont typeface="+mj-lt"/>
              <a:buAutoNum type="arabicPeriod"/>
            </a:pPr>
            <a:r>
              <a:rPr lang="en-US" dirty="0"/>
              <a:t>SLIMS web application loads the SLIMS GATE flows from</a:t>
            </a:r>
          </a:p>
          <a:p>
            <a:pPr marL="685800" lvl="1" indent="-228600" algn="l" rtl="0">
              <a:spcBef>
                <a:spcPts val="0"/>
              </a:spcBef>
              <a:spcAft>
                <a:spcPts val="0"/>
              </a:spcAft>
              <a:buFont typeface="Arial" panose="020B0604020202020204" pitchFamily="34" charset="0"/>
              <a:buChar char="•"/>
            </a:pPr>
            <a:r>
              <a:rPr lang="en-US" dirty="0"/>
              <a:t>slimsgate.xml</a:t>
            </a:r>
          </a:p>
          <a:p>
            <a:pPr marL="228600" lvl="0" indent="-228600" algn="l" rtl="0">
              <a:spcBef>
                <a:spcPts val="0"/>
              </a:spcBef>
              <a:spcAft>
                <a:spcPts val="0"/>
              </a:spcAft>
              <a:buFont typeface="+mj-lt"/>
              <a:buAutoNum type="arabicPeriod"/>
            </a:pPr>
            <a:r>
              <a:rPr lang="en-US" dirty="0"/>
              <a:t>SLIMS GATE flows start a camel route with </a:t>
            </a:r>
            <a:r>
              <a:rPr lang="en-US" dirty="0" err="1"/>
              <a:t>routeId</a:t>
            </a:r>
            <a:r>
              <a:rPr lang="en-US" dirty="0"/>
              <a:t> </a:t>
            </a:r>
            <a:r>
              <a:rPr lang="en-US" dirty="0" err="1"/>
              <a:t>sayHello</a:t>
            </a:r>
            <a:endParaRPr lang="en-US" dirty="0"/>
          </a:p>
          <a:p>
            <a:pPr marL="228600" lvl="0" indent="-228600" algn="l" rtl="0">
              <a:spcBef>
                <a:spcPts val="0"/>
              </a:spcBef>
              <a:spcAft>
                <a:spcPts val="0"/>
              </a:spcAft>
              <a:buFont typeface="+mj-lt"/>
              <a:buAutoNum type="arabicPeriod"/>
            </a:pPr>
            <a:endParaRPr lang="en-US" dirty="0"/>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18</a:t>
            </a:fld>
            <a:endParaRPr lang="en-US" dirty="0"/>
          </a:p>
        </p:txBody>
      </p:sp>
    </p:spTree>
    <p:extLst>
      <p:ext uri="{BB962C8B-B14F-4D97-AF65-F5344CB8AC3E}">
        <p14:creationId xmlns:p14="http://schemas.microsoft.com/office/powerpoint/2010/main" val="31389039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pPr marL="228600" lvl="0" indent="-228600" algn="l" rtl="0">
              <a:spcBef>
                <a:spcPts val="0"/>
              </a:spcBef>
              <a:spcAft>
                <a:spcPts val="0"/>
              </a:spcAft>
              <a:buFont typeface="+mj-lt"/>
              <a:buAutoNum type="arabicPeriod"/>
            </a:pPr>
            <a:r>
              <a:rPr lang="en-US" dirty="0" err="1"/>
              <a:t>SpringConfig</a:t>
            </a:r>
            <a:r>
              <a:rPr lang="en-US" dirty="0"/>
              <a:t> (class that will never change) defines to load:</a:t>
            </a:r>
          </a:p>
          <a:p>
            <a:pPr marL="685800" lvl="1" indent="-228600" algn="l" rtl="0">
              <a:spcBef>
                <a:spcPts val="0"/>
              </a:spcBef>
              <a:spcAft>
                <a:spcPts val="0"/>
              </a:spcAft>
              <a:buFont typeface="Arial" panose="020B0604020202020204" pitchFamily="34" charset="0"/>
              <a:buChar char="•"/>
            </a:pPr>
            <a:r>
              <a:rPr lang="en-US" dirty="0"/>
              <a:t>all classes in a certain package with @Component</a:t>
            </a:r>
          </a:p>
          <a:p>
            <a:pPr marL="685800" lvl="1" indent="-228600" algn="l" rtl="0">
              <a:spcBef>
                <a:spcPts val="0"/>
              </a:spcBef>
              <a:spcAft>
                <a:spcPts val="0"/>
              </a:spcAft>
              <a:buFont typeface="Arial" panose="020B0604020202020204" pitchFamily="34" charset="0"/>
              <a:buChar char="•"/>
            </a:pPr>
            <a:r>
              <a:rPr lang="en-US" dirty="0"/>
              <a:t>camel-context.xml</a:t>
            </a:r>
          </a:p>
          <a:p>
            <a:endParaRPr lang="en-US" dirty="0"/>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19</a:t>
            </a:fld>
            <a:endParaRPr lang="en-US" dirty="0"/>
          </a:p>
        </p:txBody>
      </p:sp>
    </p:spTree>
    <p:extLst>
      <p:ext uri="{BB962C8B-B14F-4D97-AF65-F5344CB8AC3E}">
        <p14:creationId xmlns:p14="http://schemas.microsoft.com/office/powerpoint/2010/main" val="27033878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slimsgate.xml gives you some control of the UI. It is information that can change for every execution.</a:t>
            </a:r>
          </a:p>
          <a:p>
            <a:endParaRPr lang="en-US" dirty="0"/>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20</a:t>
            </a:fld>
            <a:endParaRPr lang="en-US" dirty="0"/>
          </a:p>
        </p:txBody>
      </p:sp>
    </p:spTree>
    <p:extLst>
      <p:ext uri="{BB962C8B-B14F-4D97-AF65-F5344CB8AC3E}">
        <p14:creationId xmlns:p14="http://schemas.microsoft.com/office/powerpoint/2010/main" val="40378721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r>
              <a:rPr lang="en-US" dirty="0"/>
              <a:t>Internal: </a:t>
            </a:r>
            <a:r>
              <a:rPr lang="en-US" dirty="0" err="1"/>
              <a:t>routeBuilder</a:t>
            </a:r>
            <a:r>
              <a:rPr lang="en-US" dirty="0"/>
              <a:t> definition -&gt; watch directories, </a:t>
            </a:r>
            <a:r>
              <a:rPr lang="en-US" dirty="0" err="1"/>
              <a:t>cron</a:t>
            </a:r>
            <a:r>
              <a:rPr lang="en-US" dirty="0"/>
              <a:t> job, rest, … https://camel.apache.org/components/3.16.x/index.html </a:t>
            </a:r>
          </a:p>
          <a:p>
            <a:endParaRPr lang="en-US" dirty="0"/>
          </a:p>
          <a:p>
            <a:r>
              <a:rPr lang="en-US" dirty="0"/>
              <a:t>From 6.7.2, possible to start plugin via REST call -&gt; not needed to have a slimsgate.xml. If still add on, use internal usage</a:t>
            </a:r>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21</a:t>
            </a:fld>
            <a:endParaRPr lang="en-US" dirty="0"/>
          </a:p>
        </p:txBody>
      </p:sp>
    </p:spTree>
    <p:extLst>
      <p:ext uri="{BB962C8B-B14F-4D97-AF65-F5344CB8AC3E}">
        <p14:creationId xmlns:p14="http://schemas.microsoft.com/office/powerpoint/2010/main" val="6825897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r>
              <a:rPr lang="en-US" dirty="0"/>
              <a:t>Mention the lower case </a:t>
            </a:r>
            <a:r>
              <a:rPr lang="en-US" dirty="0" err="1"/>
              <a:t>routeBuilder</a:t>
            </a:r>
            <a:r>
              <a:rPr lang="en-US" dirty="0"/>
              <a:t> reference; i.e., the default id of an available injected bean/class is </a:t>
            </a:r>
            <a:r>
              <a:rPr lang="en-US" dirty="0" err="1"/>
              <a:t>lowerCamelCase</a:t>
            </a:r>
            <a:r>
              <a:rPr lang="en-US" dirty="0"/>
              <a:t>.</a:t>
            </a:r>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25</a:t>
            </a:fld>
            <a:endParaRPr lang="en-US" dirty="0"/>
          </a:p>
        </p:txBody>
      </p:sp>
    </p:spTree>
    <p:extLst>
      <p:ext uri="{BB962C8B-B14F-4D97-AF65-F5344CB8AC3E}">
        <p14:creationId xmlns:p14="http://schemas.microsoft.com/office/powerpoint/2010/main" val="36906696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Maybe important and interesting to mention that here you can “</a:t>
            </a:r>
            <a:r>
              <a:rPr lang="en-US" dirty="0" err="1"/>
              <a:t>Autowired</a:t>
            </a:r>
            <a:r>
              <a:rPr lang="en-US" dirty="0"/>
              <a:t>” the </a:t>
            </a:r>
            <a:r>
              <a:rPr lang="en-US" dirty="0" err="1"/>
              <a:t>CustomConfiguration</a:t>
            </a:r>
            <a:r>
              <a:rPr lang="en-US" dirty="0"/>
              <a:t> class and then use the configurations here.</a:t>
            </a:r>
            <a:br>
              <a:rPr lang="en-US" dirty="0"/>
            </a:br>
            <a:endParaRPr lang="en-US" dirty="0"/>
          </a:p>
          <a:p>
            <a:pPr marL="0" lvl="0" indent="0" algn="l" rtl="0">
              <a:spcBef>
                <a:spcPts val="0"/>
              </a:spcBef>
              <a:spcAft>
                <a:spcPts val="0"/>
              </a:spcAft>
              <a:buNone/>
            </a:pPr>
            <a:r>
              <a:rPr lang="en-US" dirty="0"/>
              <a:t>Example -&gt; name of a folder that you want to watch: from(“…”+variable +” …”, </a:t>
            </a:r>
            <a:r>
              <a:rPr lang="en-US" dirty="0" err="1"/>
              <a:t>parameterFromConfiguation</a:t>
            </a:r>
            <a:r>
              <a:rPr lang="en-US" dirty="0"/>
              <a:t>).to(…)</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Concrete example: (passing value of </a:t>
            </a:r>
            <a:r>
              <a:rPr lang="en-US" dirty="0" err="1"/>
              <a:t>watchFolders</a:t>
            </a:r>
            <a:r>
              <a:rPr lang="en-US" dirty="0"/>
              <a:t> from </a:t>
            </a:r>
            <a:r>
              <a:rPr lang="en-US" dirty="0" err="1"/>
              <a:t>customConfiguration</a:t>
            </a:r>
            <a:r>
              <a:rPr lang="en-US" dirty="0"/>
              <a:t> into the builder and looping over the values : </a:t>
            </a:r>
            <a:r>
              <a:rPr lang="en-US" dirty="0" err="1"/>
              <a:t>watchFolder</a:t>
            </a:r>
            <a:r>
              <a:rPr lang="en-US" dirty="0"/>
              <a:t> in </a:t>
            </a:r>
            <a:r>
              <a:rPr lang="en-US" dirty="0" err="1"/>
              <a:t>watchFolders</a:t>
            </a:r>
            <a:r>
              <a:rPr lang="en-US" dirty="0"/>
              <a:t>)</a:t>
            </a:r>
            <a:br>
              <a:rPr lang="en-US" dirty="0"/>
            </a:br>
            <a:endParaRPr lang="en-US" dirty="0"/>
          </a:p>
          <a:p>
            <a:pPr marL="0" lvl="0" indent="0" algn="l" rtl="0">
              <a:spcBef>
                <a:spcPts val="0"/>
              </a:spcBef>
              <a:spcAft>
                <a:spcPts val="0"/>
              </a:spcAft>
              <a:buNone/>
            </a:pPr>
            <a:r>
              <a:rPr lang="en-US" dirty="0"/>
              <a:t>In </a:t>
            </a:r>
            <a:r>
              <a:rPr lang="en-US" dirty="0" err="1"/>
              <a:t>RouteBuilder</a:t>
            </a:r>
            <a:r>
              <a:rPr lang="en-US" dirty="0"/>
              <a:t> class:</a:t>
            </a:r>
          </a:p>
          <a:p>
            <a:r>
              <a:rPr lang="en-US" sz="1200" b="0" i="0" u="none" strike="noStrike" cap="none" dirty="0">
                <a:solidFill>
                  <a:schemeClr val="dk1"/>
                </a:solidFill>
                <a:latin typeface="Calibri"/>
                <a:ea typeface="Calibri"/>
                <a:cs typeface="Calibri"/>
                <a:sym typeface="Calibri"/>
              </a:rPr>
              <a:t> @Autowired</a:t>
            </a:r>
          </a:p>
          <a:p>
            <a:r>
              <a:rPr lang="en-US" sz="1200" b="0" i="0" u="none" strike="noStrike" cap="none" dirty="0">
                <a:solidFill>
                  <a:schemeClr val="dk1"/>
                </a:solidFill>
                <a:latin typeface="Calibri"/>
                <a:ea typeface="Calibri"/>
                <a:cs typeface="Calibri"/>
                <a:sym typeface="Calibri"/>
              </a:rPr>
              <a:t>        private </a:t>
            </a:r>
            <a:r>
              <a:rPr lang="en-US" sz="1200" b="0" i="0" u="none" strike="noStrike" cap="none" dirty="0" err="1">
                <a:solidFill>
                  <a:schemeClr val="dk1"/>
                </a:solidFill>
                <a:latin typeface="Calibri"/>
                <a:ea typeface="Calibri"/>
                <a:cs typeface="Calibri"/>
                <a:sym typeface="Calibri"/>
              </a:rPr>
              <a:t>CustomConfiguration</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customConfiguration</a:t>
            </a:r>
            <a:r>
              <a:rPr lang="en-US" sz="1200" b="0" i="0" u="none" strike="noStrike" cap="none" dirty="0">
                <a:solidFill>
                  <a:schemeClr val="dk1"/>
                </a:solidFill>
                <a:latin typeface="Calibri"/>
                <a:ea typeface="Calibri"/>
                <a:cs typeface="Calibri"/>
                <a:sym typeface="Calibri"/>
              </a:rPr>
              <a:t>;</a:t>
            </a:r>
          </a:p>
          <a:p>
            <a:endParaRPr lang="en-US" sz="1200" b="0" i="0" u="none" strike="noStrike" cap="none" dirty="0">
              <a:solidFill>
                <a:schemeClr val="dk1"/>
              </a:solidFill>
              <a:latin typeface="Calibri"/>
              <a:ea typeface="Calibri"/>
              <a:cs typeface="Calibri"/>
              <a:sym typeface="Calibri"/>
            </a:endParaRPr>
          </a:p>
          <a:p>
            <a:r>
              <a:rPr lang="en-US" sz="1200" b="0" i="0" u="none" strike="noStrike" cap="none" dirty="0">
                <a:solidFill>
                  <a:schemeClr val="dk1"/>
                </a:solidFill>
                <a:latin typeface="Calibri"/>
                <a:ea typeface="Calibri"/>
                <a:cs typeface="Calibri"/>
                <a:sym typeface="Calibri"/>
              </a:rPr>
              <a:t>        @Override</a:t>
            </a:r>
          </a:p>
          <a:p>
            <a:r>
              <a:rPr lang="en-US" sz="1200" b="0" i="0" u="none" strike="noStrike" cap="none" dirty="0">
                <a:solidFill>
                  <a:schemeClr val="dk1"/>
                </a:solidFill>
                <a:latin typeface="Calibri"/>
                <a:ea typeface="Calibri"/>
                <a:cs typeface="Calibri"/>
                <a:sym typeface="Calibri"/>
              </a:rPr>
              <a:t>        public void configure() throws Exception {</a:t>
            </a:r>
          </a:p>
          <a:p>
            <a:r>
              <a:rPr lang="en-US" sz="1200" b="0" i="0" u="none" strike="noStrike" cap="none" dirty="0">
                <a:solidFill>
                  <a:schemeClr val="dk1"/>
                </a:solidFill>
                <a:latin typeface="Calibri"/>
                <a:ea typeface="Calibri"/>
                <a:cs typeface="Calibri"/>
                <a:sym typeface="Calibri"/>
              </a:rPr>
              <a:t>                for(String </a:t>
            </a:r>
            <a:r>
              <a:rPr lang="en-US" sz="1200" b="0" i="0" u="none" strike="noStrike" cap="none" dirty="0" err="1">
                <a:solidFill>
                  <a:schemeClr val="dk1"/>
                </a:solidFill>
                <a:latin typeface="Calibri"/>
                <a:ea typeface="Calibri"/>
                <a:cs typeface="Calibri"/>
                <a:sym typeface="Calibri"/>
              </a:rPr>
              <a:t>watchFolder</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customConfiguration.getWatchFolders</a:t>
            </a:r>
            <a:r>
              <a:rPr lang="en-US" sz="1200" b="0" i="0" u="none" strike="noStrike" cap="none" dirty="0">
                <a:solidFill>
                  <a:schemeClr val="dk1"/>
                </a:solidFill>
                <a:latin typeface="Calibri"/>
                <a:ea typeface="Calibri"/>
                <a:cs typeface="Calibri"/>
                <a:sym typeface="Calibri"/>
              </a:rPr>
              <a:t>()){</a:t>
            </a:r>
          </a:p>
          <a:p>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fromF</a:t>
            </a:r>
            <a:r>
              <a:rPr lang="en-US" sz="1200" b="0" i="0" u="none" strike="noStrike" cap="none" dirty="0">
                <a:solidFill>
                  <a:schemeClr val="dk1"/>
                </a:solidFill>
                <a:latin typeface="Calibri"/>
                <a:ea typeface="Calibri"/>
                <a:cs typeface="Calibri"/>
                <a:sym typeface="Calibri"/>
              </a:rPr>
              <a:t>("file:/%s/?</a:t>
            </a:r>
            <a:r>
              <a:rPr lang="en-US" sz="1200" b="0" i="0" u="none" strike="noStrike" cap="none" dirty="0" err="1">
                <a:solidFill>
                  <a:schemeClr val="dk1"/>
                </a:solidFill>
                <a:latin typeface="Calibri"/>
                <a:ea typeface="Calibri"/>
                <a:cs typeface="Calibri"/>
                <a:sym typeface="Calibri"/>
              </a:rPr>
              <a:t>noop</a:t>
            </a:r>
            <a:r>
              <a:rPr lang="en-US" sz="1200" b="0" i="0" u="none" strike="noStrike" cap="none" dirty="0">
                <a:solidFill>
                  <a:schemeClr val="dk1"/>
                </a:solidFill>
                <a:latin typeface="Calibri"/>
                <a:ea typeface="Calibri"/>
                <a:cs typeface="Calibri"/>
                <a:sym typeface="Calibri"/>
              </a:rPr>
              <a:t>=</a:t>
            </a:r>
            <a:r>
              <a:rPr lang="en-US" sz="1200" b="0" i="0" u="none" strike="noStrike" cap="none" dirty="0" err="1">
                <a:solidFill>
                  <a:schemeClr val="dk1"/>
                </a:solidFill>
                <a:latin typeface="Calibri"/>
                <a:ea typeface="Calibri"/>
                <a:cs typeface="Calibri"/>
                <a:sym typeface="Calibri"/>
              </a:rPr>
              <a:t>true&amp;recursive</a:t>
            </a:r>
            <a:r>
              <a:rPr lang="en-US" sz="1200" b="0" i="0" u="none" strike="noStrike" cap="none" dirty="0">
                <a:solidFill>
                  <a:schemeClr val="dk1"/>
                </a:solidFill>
                <a:latin typeface="Calibri"/>
                <a:ea typeface="Calibri"/>
                <a:cs typeface="Calibri"/>
                <a:sym typeface="Calibri"/>
              </a:rPr>
              <a:t>=</a:t>
            </a:r>
            <a:r>
              <a:rPr lang="en-US" sz="1200" b="0" i="0" u="none" strike="noStrike" cap="none" dirty="0" err="1">
                <a:solidFill>
                  <a:schemeClr val="dk1"/>
                </a:solidFill>
                <a:latin typeface="Calibri"/>
                <a:ea typeface="Calibri"/>
                <a:cs typeface="Calibri"/>
                <a:sym typeface="Calibri"/>
              </a:rPr>
              <a:t>true&amp;fileName</a:t>
            </a:r>
            <a:r>
              <a:rPr lang="en-US" sz="1200" b="0" i="0" u="none" strike="noStrike" cap="none" dirty="0">
                <a:solidFill>
                  <a:schemeClr val="dk1"/>
                </a:solidFill>
                <a:latin typeface="Calibri"/>
                <a:ea typeface="Calibri"/>
                <a:cs typeface="Calibri"/>
                <a:sym typeface="Calibri"/>
              </a:rPr>
              <a:t>=</a:t>
            </a:r>
            <a:r>
              <a:rPr lang="en-US" sz="1200" b="0" i="0" u="none" strike="noStrike" cap="none" dirty="0" err="1">
                <a:solidFill>
                  <a:schemeClr val="dk1"/>
                </a:solidFill>
                <a:latin typeface="Calibri"/>
                <a:ea typeface="Calibri"/>
                <a:cs typeface="Calibri"/>
                <a:sym typeface="Calibri"/>
              </a:rPr>
              <a:t>CopyComplete.txt&amp;idempotentKey</a:t>
            </a:r>
            <a:r>
              <a:rPr lang="en-US" sz="1200" b="0" i="0" u="none" strike="noStrike" cap="none" dirty="0">
                <a:solidFill>
                  <a:schemeClr val="dk1"/>
                </a:solidFill>
                <a:latin typeface="Calibri"/>
                <a:ea typeface="Calibri"/>
                <a:cs typeface="Calibri"/>
                <a:sym typeface="Calibri"/>
              </a:rPr>
              <a:t>=${file:modified}", </a:t>
            </a:r>
            <a:r>
              <a:rPr lang="en-US" sz="1200" b="0" i="0" u="none" strike="noStrike" cap="none" dirty="0" err="1">
                <a:solidFill>
                  <a:schemeClr val="dk1"/>
                </a:solidFill>
                <a:latin typeface="Calibri"/>
                <a:ea typeface="Calibri"/>
                <a:cs typeface="Calibri"/>
                <a:sym typeface="Calibri"/>
              </a:rPr>
              <a:t>watchFolder</a:t>
            </a:r>
            <a:r>
              <a:rPr lang="en-US" sz="1200" b="0" i="0" u="none" strike="noStrike" cap="none" dirty="0">
                <a:solidFill>
                  <a:schemeClr val="dk1"/>
                </a:solidFill>
                <a:latin typeface="Calibri"/>
                <a:ea typeface="Calibri"/>
                <a:cs typeface="Calibri"/>
                <a:sym typeface="Calibri"/>
              </a:rPr>
              <a:t>)</a:t>
            </a:r>
          </a:p>
          <a:p>
            <a:r>
              <a:rPr lang="en-US" sz="1200" b="0" i="0" u="none" strike="noStrike" cap="none" dirty="0">
                <a:solidFill>
                  <a:schemeClr val="dk1"/>
                </a:solidFill>
                <a:latin typeface="Calibri"/>
                <a:ea typeface="Calibri"/>
                <a:cs typeface="Calibri"/>
                <a:sym typeface="Calibri"/>
              </a:rPr>
              <a:t>                                        .to("</a:t>
            </a:r>
            <a:r>
              <a:rPr lang="en-US" sz="1200" b="0" i="0" u="none" strike="noStrike" cap="none" dirty="0" err="1">
                <a:solidFill>
                  <a:schemeClr val="dk1"/>
                </a:solidFill>
                <a:latin typeface="Calibri"/>
                <a:ea typeface="Calibri"/>
                <a:cs typeface="Calibri"/>
                <a:sym typeface="Calibri"/>
              </a:rPr>
              <a:t>bean:novaseqSequencedContents</a:t>
            </a:r>
            <a:r>
              <a:rPr lang="en-US" sz="1200" b="0" i="0" u="none" strike="noStrike" cap="none" dirty="0">
                <a:solidFill>
                  <a:schemeClr val="dk1"/>
                </a:solidFill>
                <a:latin typeface="Calibri"/>
                <a:ea typeface="Calibri"/>
                <a:cs typeface="Calibri"/>
                <a:sym typeface="Calibri"/>
              </a:rPr>
              <a:t>");</a:t>
            </a:r>
          </a:p>
          <a:p>
            <a:r>
              <a:rPr lang="en-US" sz="1200" b="0" i="0" u="none" strike="noStrike" cap="none" dirty="0">
                <a:solidFill>
                  <a:schemeClr val="dk1"/>
                </a:solidFill>
                <a:latin typeface="Calibri"/>
                <a:ea typeface="Calibri"/>
                <a:cs typeface="Calibri"/>
                <a:sym typeface="Calibri"/>
              </a:rPr>
              <a:t>                }</a:t>
            </a:r>
          </a:p>
          <a:p>
            <a:r>
              <a:rPr lang="en-US" sz="1200" b="0" i="0" u="none" strike="noStrike" cap="none" dirty="0">
                <a:solidFill>
                  <a:schemeClr val="dk1"/>
                </a:solidFill>
                <a:latin typeface="Calibri"/>
                <a:ea typeface="Calibri"/>
                <a:cs typeface="Calibri"/>
                <a:sym typeface="Calibri"/>
              </a:rPr>
              <a:t>        }</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a:t>
            </a:r>
            <a:r>
              <a:rPr lang="en-US" dirty="0" err="1"/>
              <a:t>CustomConfiguration</a:t>
            </a:r>
            <a:r>
              <a:rPr lang="en-US" dirty="0"/>
              <a:t> class:</a:t>
            </a:r>
          </a:p>
          <a:p>
            <a:pPr marL="0" lvl="0" indent="0" algn="l" rtl="0">
              <a:spcBef>
                <a:spcPts val="0"/>
              </a:spcBef>
              <a:spcAft>
                <a:spcPts val="0"/>
              </a:spcAft>
              <a:buNone/>
            </a:pPr>
            <a:r>
              <a:rPr lang="en-US" dirty="0"/>
              <a:t>private String[] </a:t>
            </a:r>
            <a:r>
              <a:rPr lang="en-US" dirty="0" err="1"/>
              <a:t>watchFolders</a:t>
            </a:r>
            <a:r>
              <a:rPr lang="en-US" dirty="0"/>
              <a:t>;</a:t>
            </a:r>
          </a:p>
          <a:p>
            <a:pPr marL="0" lvl="0" indent="0" algn="l" rtl="0">
              <a:spcBef>
                <a:spcPts val="0"/>
              </a:spcBef>
              <a:spcAft>
                <a:spcPts val="0"/>
              </a:spcAft>
              <a:buNone/>
            </a:pPr>
            <a:endParaRPr lang="en-US" dirty="0"/>
          </a:p>
          <a:p>
            <a:pPr marL="0" lvl="0" indent="0" algn="l" rtl="0">
              <a:spcBef>
                <a:spcPts val="0"/>
              </a:spcBef>
              <a:spcAft>
                <a:spcPts val="0"/>
              </a:spcAft>
              <a:buNone/>
            </a:pPr>
            <a:r>
              <a:rPr lang="en-US" sz="1200" b="0" i="0" u="none" strike="noStrike" cap="none" dirty="0">
                <a:solidFill>
                  <a:schemeClr val="dk1"/>
                </a:solidFill>
                <a:latin typeface="Calibri"/>
                <a:ea typeface="Calibri"/>
                <a:cs typeface="Calibri"/>
                <a:sym typeface="Calibri"/>
              </a:rPr>
              <a:t>public static </a:t>
            </a:r>
            <a:r>
              <a:rPr lang="en-US" sz="1200" b="0" i="0" u="none" strike="noStrike" cap="none" dirty="0" err="1">
                <a:solidFill>
                  <a:schemeClr val="dk1"/>
                </a:solidFill>
                <a:latin typeface="Calibri"/>
                <a:ea typeface="Calibri"/>
                <a:cs typeface="Calibri"/>
                <a:sym typeface="Calibri"/>
              </a:rPr>
              <a:t>CustomConfiguration</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getDefault</a:t>
            </a:r>
            <a:r>
              <a:rPr lang="en-US" sz="1200" b="0" i="0" u="none" strike="noStrike" cap="none" dirty="0">
                <a:solidFill>
                  <a:schemeClr val="dk1"/>
                </a:solidFill>
                <a:latin typeface="Calibri"/>
                <a:ea typeface="Calibri"/>
                <a:cs typeface="Calibri"/>
                <a:sym typeface="Calibri"/>
              </a:rPr>
              <a:t>() {</a:t>
            </a:r>
          </a:p>
          <a:p>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CustomConfiguration</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customConfiguration</a:t>
            </a:r>
            <a:r>
              <a:rPr lang="en-US" sz="1200" b="0" i="0" u="none" strike="noStrike" cap="none" dirty="0">
                <a:solidFill>
                  <a:schemeClr val="dk1"/>
                </a:solidFill>
                <a:latin typeface="Calibri"/>
                <a:ea typeface="Calibri"/>
                <a:cs typeface="Calibri"/>
                <a:sym typeface="Calibri"/>
              </a:rPr>
              <a:t> = new </a:t>
            </a:r>
            <a:r>
              <a:rPr lang="en-US" sz="1200" b="0" i="0" u="none" strike="noStrike" cap="none" dirty="0" err="1">
                <a:solidFill>
                  <a:schemeClr val="dk1"/>
                </a:solidFill>
                <a:latin typeface="Calibri"/>
                <a:ea typeface="Calibri"/>
                <a:cs typeface="Calibri"/>
                <a:sym typeface="Calibri"/>
              </a:rPr>
              <a:t>CustomConfiguration</a:t>
            </a:r>
            <a:r>
              <a:rPr lang="en-US" sz="1200" b="0" i="0" u="none" strike="noStrike" cap="none" dirty="0">
                <a:solidFill>
                  <a:schemeClr val="dk1"/>
                </a:solidFill>
                <a:latin typeface="Calibri"/>
                <a:ea typeface="Calibri"/>
                <a:cs typeface="Calibri"/>
                <a:sym typeface="Calibri"/>
              </a:rPr>
              <a:t>();</a:t>
            </a:r>
          </a:p>
          <a:p>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customConfiguration.watchFolders</a:t>
            </a:r>
            <a:r>
              <a:rPr lang="en-US" sz="1200" b="0" i="0" u="none" strike="noStrike" cap="none" dirty="0">
                <a:solidFill>
                  <a:schemeClr val="dk1"/>
                </a:solidFill>
                <a:latin typeface="Calibri"/>
                <a:ea typeface="Calibri"/>
                <a:cs typeface="Calibri"/>
                <a:sym typeface="Calibri"/>
              </a:rPr>
              <a:t> = new String[]{"Z:", "Z:/Sheet"};</a:t>
            </a:r>
          </a:p>
          <a:p>
            <a:r>
              <a:rPr lang="en-US" sz="1200" b="0" i="0" u="none" strike="noStrike" cap="none" dirty="0">
                <a:solidFill>
                  <a:schemeClr val="dk1"/>
                </a:solidFill>
                <a:latin typeface="Calibri"/>
                <a:cs typeface="Calibri"/>
                <a:sym typeface="Calibri"/>
              </a:rPr>
              <a:t>}</a:t>
            </a:r>
            <a:endParaRPr lang="en-US" dirty="0"/>
          </a:p>
          <a:p>
            <a:endParaRPr lang="en-US" dirty="0"/>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26</a:t>
            </a:fld>
            <a:endParaRPr lang="en-US" dirty="0"/>
          </a:p>
        </p:txBody>
      </p:sp>
    </p:spTree>
    <p:extLst>
      <p:ext uri="{BB962C8B-B14F-4D97-AF65-F5344CB8AC3E}">
        <p14:creationId xmlns:p14="http://schemas.microsoft.com/office/powerpoint/2010/main" val="40349143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27</a:t>
            </a:fld>
            <a:endParaRPr lang="en-US" dirty="0"/>
          </a:p>
        </p:txBody>
      </p:sp>
    </p:spTree>
    <p:extLst>
      <p:ext uri="{BB962C8B-B14F-4D97-AF65-F5344CB8AC3E}">
        <p14:creationId xmlns:p14="http://schemas.microsoft.com/office/powerpoint/2010/main" val="9729384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Note: If you use a quartz scheduler – you need to use </a:t>
            </a:r>
            <a:r>
              <a:rPr lang="en-US" dirty="0" err="1"/>
              <a:t>SlimsLogger</a:t>
            </a:r>
            <a:r>
              <a:rPr lang="en-US" dirty="0"/>
              <a:t> as no </a:t>
            </a:r>
            <a:r>
              <a:rPr lang="en-US" dirty="0" err="1"/>
              <a:t>slimsProxy</a:t>
            </a:r>
            <a:r>
              <a:rPr lang="en-US" dirty="0"/>
              <a:t> is available.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Private static final Logger LOG = </a:t>
            </a:r>
            <a:r>
              <a:rPr lang="en-US" dirty="0" err="1"/>
              <a:t>SlimsLogger.getLogger</a:t>
            </a:r>
            <a:r>
              <a:rPr lang="en-US" dirty="0"/>
              <a:t>(</a:t>
            </a:r>
            <a:r>
              <a:rPr lang="en-US" dirty="0" err="1"/>
              <a:t>SayHello.class</a:t>
            </a:r>
            <a:r>
              <a:rPr lang="en-US" dirty="0"/>
              <a:t>)</a:t>
            </a:r>
          </a:p>
          <a:p>
            <a:pPr marL="0" lvl="0" indent="0" algn="l" rtl="0">
              <a:spcBef>
                <a:spcPts val="0"/>
              </a:spcBef>
              <a:spcAft>
                <a:spcPts val="0"/>
              </a:spcAft>
              <a:buNone/>
            </a:pPr>
            <a:endParaRPr lang="en-US" dirty="0"/>
          </a:p>
          <a:p>
            <a:endParaRPr lang="en-US" dirty="0"/>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28</a:t>
            </a:fld>
            <a:endParaRPr lang="en-US" dirty="0"/>
          </a:p>
        </p:txBody>
      </p:sp>
    </p:spTree>
    <p:extLst>
      <p:ext uri="{BB962C8B-B14F-4D97-AF65-F5344CB8AC3E}">
        <p14:creationId xmlns:p14="http://schemas.microsoft.com/office/powerpoint/2010/main" val="11671945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fr-CH" dirty="0" err="1"/>
              <a:t>Here</a:t>
            </a:r>
            <a:r>
              <a:rPr lang="fr-CH" dirty="0"/>
              <a:t> I </a:t>
            </a:r>
            <a:r>
              <a:rPr lang="fr-CH" dirty="0" err="1"/>
              <a:t>would</a:t>
            </a:r>
            <a:r>
              <a:rPr lang="fr-CH" dirty="0"/>
              <a:t> start by </a:t>
            </a:r>
            <a:r>
              <a:rPr lang="fr-CH" dirty="0" err="1"/>
              <a:t>showing</a:t>
            </a:r>
            <a:r>
              <a:rPr lang="fr-CH" dirty="0"/>
              <a:t> how to do </a:t>
            </a:r>
            <a:r>
              <a:rPr lang="fr-CH" dirty="0" err="1"/>
              <a:t>it</a:t>
            </a:r>
            <a:r>
              <a:rPr lang="fr-CH" dirty="0"/>
              <a:t> </a:t>
            </a:r>
            <a:r>
              <a:rPr lang="fr-CH" dirty="0" err="1"/>
              <a:t>directly</a:t>
            </a:r>
            <a:r>
              <a:rPr lang="fr-CH" dirty="0"/>
              <a:t> in SLIMS (module: Plugin introduction -&gt; like </a:t>
            </a:r>
            <a:r>
              <a:rPr lang="fr-CH" dirty="0" err="1"/>
              <a:t>this</a:t>
            </a:r>
            <a:r>
              <a:rPr lang="fr-CH" dirty="0"/>
              <a:t> </a:t>
            </a:r>
            <a:r>
              <a:rPr lang="fr-CH" dirty="0" err="1"/>
              <a:t>you</a:t>
            </a:r>
            <a:r>
              <a:rPr lang="fr-CH" dirty="0"/>
              <a:t> can </a:t>
            </a:r>
            <a:r>
              <a:rPr lang="fr-CH" dirty="0" err="1"/>
              <a:t>also</a:t>
            </a:r>
            <a:r>
              <a:rPr lang="fr-CH" dirty="0"/>
              <a:t> show the Configurations </a:t>
            </a:r>
            <a:r>
              <a:rPr lang="fr-CH" dirty="0" err="1"/>
              <a:t>that</a:t>
            </a:r>
            <a:r>
              <a:rPr lang="fr-CH" dirty="0"/>
              <a:t> can </a:t>
            </a:r>
            <a:r>
              <a:rPr lang="fr-CH" dirty="0" err="1"/>
              <a:t>be</a:t>
            </a:r>
            <a:r>
              <a:rPr lang="fr-CH" dirty="0"/>
              <a:t> </a:t>
            </a:r>
            <a:r>
              <a:rPr lang="fr-CH" dirty="0" err="1"/>
              <a:t>changed</a:t>
            </a:r>
            <a:r>
              <a:rPr lang="fr-CH" dirty="0"/>
              <a:t> and </a:t>
            </a:r>
            <a:r>
              <a:rPr lang="fr-CH" dirty="0" err="1"/>
              <a:t>saved</a:t>
            </a:r>
            <a:r>
              <a:rPr lang="fr-CH" dirty="0"/>
              <a:t>). </a:t>
            </a:r>
          </a:p>
          <a:p>
            <a:pPr marL="0" lvl="0" indent="0" algn="l" rtl="0">
              <a:spcBef>
                <a:spcPts val="0"/>
              </a:spcBef>
              <a:spcAft>
                <a:spcPts val="0"/>
              </a:spcAft>
              <a:buNone/>
            </a:pPr>
            <a:r>
              <a:rPr lang="fr-CH" dirty="0" err="1"/>
              <a:t>Then</a:t>
            </a:r>
            <a:r>
              <a:rPr lang="fr-CH" dirty="0"/>
              <a:t> </a:t>
            </a:r>
            <a:r>
              <a:rPr lang="fr-CH" dirty="0" err="1"/>
              <a:t>you</a:t>
            </a:r>
            <a:r>
              <a:rPr lang="fr-CH" dirty="0"/>
              <a:t> </a:t>
            </a:r>
            <a:r>
              <a:rPr lang="fr-CH" dirty="0" err="1"/>
              <a:t>say</a:t>
            </a:r>
            <a:r>
              <a:rPr lang="fr-CH" dirty="0"/>
              <a:t> </a:t>
            </a:r>
            <a:r>
              <a:rPr lang="fr-CH" dirty="0" err="1"/>
              <a:t>that</a:t>
            </a:r>
            <a:r>
              <a:rPr lang="fr-CH" dirty="0"/>
              <a:t> </a:t>
            </a:r>
            <a:r>
              <a:rPr lang="fr-CH" dirty="0" err="1"/>
              <a:t>you</a:t>
            </a:r>
            <a:r>
              <a:rPr lang="fr-CH" dirty="0"/>
              <a:t> can </a:t>
            </a:r>
            <a:r>
              <a:rPr lang="fr-CH" dirty="0" err="1"/>
              <a:t>also</a:t>
            </a:r>
            <a:r>
              <a:rPr lang="fr-CH" dirty="0"/>
              <a:t> use a command to </a:t>
            </a:r>
            <a:r>
              <a:rPr lang="fr-CH" dirty="0" err="1"/>
              <a:t>directly</a:t>
            </a:r>
            <a:r>
              <a:rPr lang="fr-CH" dirty="0"/>
              <a:t> </a:t>
            </a:r>
            <a:r>
              <a:rPr lang="fr-CH" dirty="0" err="1"/>
              <a:t>load</a:t>
            </a:r>
            <a:r>
              <a:rPr lang="fr-CH" dirty="0"/>
              <a:t> the </a:t>
            </a:r>
            <a:r>
              <a:rPr lang="fr-CH" dirty="0" err="1"/>
              <a:t>fatJAR</a:t>
            </a:r>
            <a:r>
              <a:rPr lang="fr-CH" dirty="0"/>
              <a:t> in SLIMS </a:t>
            </a:r>
            <a:r>
              <a:rPr lang="fr-CH" dirty="0" err="1"/>
              <a:t>using</a:t>
            </a:r>
            <a:r>
              <a:rPr lang="fr-CH" dirty="0"/>
              <a:t> </a:t>
            </a:r>
            <a:r>
              <a:rPr lang="fr-CH" dirty="0" err="1"/>
              <a:t>Rest</a:t>
            </a:r>
            <a:r>
              <a:rPr lang="fr-CH" dirty="0"/>
              <a:t> call.</a:t>
            </a:r>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29</a:t>
            </a:fld>
            <a:endParaRPr lang="en-US" dirty="0"/>
          </a:p>
        </p:txBody>
      </p:sp>
    </p:spTree>
    <p:extLst>
      <p:ext uri="{BB962C8B-B14F-4D97-AF65-F5344CB8AC3E}">
        <p14:creationId xmlns:p14="http://schemas.microsoft.com/office/powerpoint/2010/main" val="16600867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Note: @Handler method is the method that Camel will call -&gt; so it is your “main” method for the plugin. You MUST have one to avoid side-effect. </a:t>
            </a:r>
          </a:p>
          <a:p>
            <a:pPr marL="0" lvl="0" indent="0" algn="l" rtl="0">
              <a:spcBef>
                <a:spcPts val="0"/>
              </a:spcBef>
              <a:spcAft>
                <a:spcPts val="0"/>
              </a:spcAft>
              <a:buNone/>
            </a:pPr>
            <a:r>
              <a:rPr lang="en-US" dirty="0"/>
              <a:t>- Camel will look for a @Handler method if no method is specified in the camel route</a:t>
            </a:r>
          </a:p>
          <a:p>
            <a:endParaRPr lang="en-US" dirty="0"/>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30</a:t>
            </a:fld>
            <a:endParaRPr lang="en-US" dirty="0"/>
          </a:p>
        </p:txBody>
      </p:sp>
    </p:spTree>
    <p:extLst>
      <p:ext uri="{BB962C8B-B14F-4D97-AF65-F5344CB8AC3E}">
        <p14:creationId xmlns:p14="http://schemas.microsoft.com/office/powerpoint/2010/main" val="15193327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If querying for a ‘default’ value, &lt;Table&gt;Queries are suitable and faster than &lt;Table&gt;</a:t>
            </a:r>
            <a:r>
              <a:rPr lang="en-US" dirty="0" err="1"/>
              <a:t>RecordQueries</a:t>
            </a:r>
            <a:r>
              <a:rPr lang="en-US" dirty="0"/>
              <a:t>, because it loads less data. </a:t>
            </a:r>
          </a:p>
          <a:p>
            <a:pPr marL="0" lvl="0" indent="0" algn="l" rtl="0">
              <a:spcBef>
                <a:spcPts val="0"/>
              </a:spcBef>
              <a:spcAft>
                <a:spcPts val="0"/>
              </a:spcAft>
              <a:buNone/>
            </a:pPr>
            <a:r>
              <a:rPr lang="en-US" dirty="0"/>
              <a:t>Change a </a:t>
            </a:r>
            <a:r>
              <a:rPr lang="en-US" dirty="0" err="1"/>
              <a:t>dao</a:t>
            </a:r>
            <a:r>
              <a:rPr lang="en-US" dirty="0"/>
              <a:t> entity to a map using </a:t>
            </a:r>
            <a:r>
              <a:rPr lang="en-US" dirty="0" err="1"/>
              <a:t>DaoUtil.getFilteredValues</a:t>
            </a:r>
            <a:r>
              <a:rPr lang="en-US" dirty="0"/>
              <a:t>(entity) from the </a:t>
            </a:r>
            <a:r>
              <a:rPr lang="en-US" sz="1200" b="1" i="0" u="none" strike="noStrike" cap="none" dirty="0">
                <a:solidFill>
                  <a:schemeClr val="dk1"/>
                </a:solidFill>
                <a:effectLst/>
                <a:latin typeface="Calibri"/>
                <a:ea typeface="Calibri"/>
                <a:cs typeface="Calibri"/>
                <a:sym typeface="Calibri"/>
              </a:rPr>
              <a:t>import </a:t>
            </a:r>
            <a:r>
              <a:rPr lang="en-US" dirty="0" err="1"/>
              <a:t>com.genohm.slims.server.dao.util.DaoUtil</a:t>
            </a:r>
            <a:r>
              <a:rPr lang="en-US" dirty="0"/>
              <a: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Some remarks: &lt;Table&gt;</a:t>
            </a:r>
            <a:r>
              <a:rPr lang="en-US" dirty="0" err="1"/>
              <a:t>RecordQueries</a:t>
            </a:r>
            <a:r>
              <a:rPr lang="en-US" dirty="0"/>
              <a:t> are complete with custom fields and access restrictions, &lt;Table&gt;Queries not.</a:t>
            </a:r>
          </a:p>
          <a:p>
            <a:endParaRPr lang="en-US" dirty="0"/>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32</a:t>
            </a:fld>
            <a:endParaRPr lang="en-US" dirty="0"/>
          </a:p>
        </p:txBody>
      </p:sp>
    </p:spTree>
    <p:extLst>
      <p:ext uri="{BB962C8B-B14F-4D97-AF65-F5344CB8AC3E}">
        <p14:creationId xmlns:p14="http://schemas.microsoft.com/office/powerpoint/2010/main" val="7902899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Tip: propose a basic String as a file:</a:t>
            </a:r>
            <a:br>
              <a:rPr lang="en-US" dirty="0"/>
            </a:br>
            <a:r>
              <a:rPr lang="en-US" dirty="0"/>
              <a:t>try(</a:t>
            </a:r>
            <a:r>
              <a:rPr lang="en-US" dirty="0" err="1"/>
              <a:t>InputStream</a:t>
            </a:r>
            <a:r>
              <a:rPr lang="en-US" dirty="0"/>
              <a:t> </a:t>
            </a:r>
            <a:r>
              <a:rPr lang="en-US" dirty="0" err="1"/>
              <a:t>attachmentInputStream</a:t>
            </a:r>
            <a:r>
              <a:rPr lang="en-US" dirty="0"/>
              <a:t> = new </a:t>
            </a:r>
            <a:r>
              <a:rPr lang="en-US" dirty="0" err="1"/>
              <a:t>ByteArrayInputStream</a:t>
            </a:r>
            <a:r>
              <a:rPr lang="en-US" dirty="0"/>
              <a:t>("this is a file".</a:t>
            </a:r>
            <a:r>
              <a:rPr lang="en-US" dirty="0" err="1"/>
              <a:t>getBytes</a:t>
            </a:r>
            <a:r>
              <a:rPr lang="en-US" dirty="0"/>
              <a:t>())) {</a:t>
            </a:r>
          </a:p>
          <a:p>
            <a:pPr marL="0" lvl="0" indent="0" algn="l" rtl="0">
              <a:spcBef>
                <a:spcPts val="0"/>
              </a:spcBef>
              <a:spcAft>
                <a:spcPts val="0"/>
              </a:spcAft>
              <a:buNone/>
            </a:pPr>
            <a:r>
              <a:rPr lang="en-US" dirty="0"/>
              <a:t>  // Add attachment</a:t>
            </a:r>
          </a:p>
          <a:p>
            <a:pPr marL="0" lvl="0" indent="0" algn="l" rtl="0">
              <a:spcBef>
                <a:spcPts val="0"/>
              </a:spcBef>
              <a:spcAft>
                <a:spcPts val="0"/>
              </a:spcAft>
              <a:buNone/>
            </a:pPr>
            <a:r>
              <a:rPr lang="en-US" dirty="0"/>
              <a:t>}</a:t>
            </a:r>
          </a:p>
        </p:txBody>
      </p:sp>
      <p:sp>
        <p:nvSpPr>
          <p:cNvPr id="4" name="Header Placeholder 3"/>
          <p:cNvSpPr>
            <a:spLocks noGrp="1"/>
          </p:cNvSpPr>
          <p:nvPr>
            <p:ph type="hdr" sz="quarter"/>
          </p:nvPr>
        </p:nvSpPr>
        <p:spPr/>
        <p:txBody>
          <a:bodyPr/>
          <a:lstStyle/>
          <a:p>
            <a:r>
              <a:rPr lang="en-US"/>
              <a:t>Presentation Title</a:t>
            </a:r>
            <a:endParaRPr lang="en-US" dirty="0"/>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dirty="0"/>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endParaRPr lang="en-US" dirty="0">
              <a:latin typeface="Arial" panose="020B0604020202020204" pitchFamily="34" charset="0"/>
            </a:endParaRPr>
          </a:p>
        </p:txBody>
      </p:sp>
      <p:sp>
        <p:nvSpPr>
          <p:cNvPr id="7" name="Slide Number Placeholder 6"/>
          <p:cNvSpPr>
            <a:spLocks noGrp="1"/>
          </p:cNvSpPr>
          <p:nvPr>
            <p:ph type="sldNum" sz="quarter" idx="5"/>
          </p:nvPr>
        </p:nvSpPr>
        <p:spPr/>
        <p:txBody>
          <a:bodyPr/>
          <a:lstStyle/>
          <a:p>
            <a:fld id="{57788AFD-C26B-478C-B2D8-3A933D69C95F}" type="slidenum">
              <a:rPr lang="en-US" smtClean="0"/>
              <a:pPr/>
              <a:t>34</a:t>
            </a:fld>
            <a:endParaRPr lang="en-US" dirty="0"/>
          </a:p>
        </p:txBody>
      </p:sp>
    </p:spTree>
    <p:extLst>
      <p:ext uri="{BB962C8B-B14F-4D97-AF65-F5344CB8AC3E}">
        <p14:creationId xmlns:p14="http://schemas.microsoft.com/office/powerpoint/2010/main" val="306348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931863"/>
            <a:ext cx="3963987" cy="2230437"/>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Presentation Title</a:t>
            </a:r>
          </a:p>
        </p:txBody>
      </p:sp>
      <p:sp>
        <p:nvSpPr>
          <p:cNvPr id="5" name="Date Placeholder 4"/>
          <p:cNvSpPr>
            <a:spLocks noGrp="1"/>
          </p:cNvSpPr>
          <p:nvPr>
            <p:ph type="dt" idx="1"/>
          </p:nvPr>
        </p:nvSpPr>
        <p:spPr/>
        <p:txBody>
          <a:bodyPr/>
          <a:lstStyle/>
          <a:p>
            <a:fld id="{B2DC8C54-9E5A-4F12-BBD8-67F0CB2085DF}" type="datetime1">
              <a:rPr lang="en-US" smtClean="0"/>
              <a:t>23-Feb-26</a:t>
            </a:fld>
            <a:endParaRPr lang="en-US"/>
          </a:p>
        </p:txBody>
      </p:sp>
      <p:sp>
        <p:nvSpPr>
          <p:cNvPr id="6" name="Footer Placeholder 5"/>
          <p:cNvSpPr>
            <a:spLocks noGrp="1"/>
          </p:cNvSpPr>
          <p:nvPr>
            <p:ph type="ftr" sz="quarter" idx="4"/>
          </p:nvPr>
        </p:nvSpPr>
        <p:spPr/>
        <p:txBody>
          <a:bodyPr/>
          <a:lstStyle/>
          <a:p>
            <a:r>
              <a:rPr lang="en-US">
                <a:latin typeface="Arial" panose="020B0604020202020204" pitchFamily="34" charset="0"/>
              </a:rPr>
              <a:t>Confidentiality label</a:t>
            </a:r>
          </a:p>
          <a:p>
            <a:r>
              <a:rPr lang="en-US">
                <a:latin typeface="Arial" panose="020B0604020202020204" pitchFamily="34" charset="0"/>
              </a:rPr>
              <a:t>Regulatory statement (if applicable))</a:t>
            </a:r>
          </a:p>
        </p:txBody>
      </p:sp>
      <p:sp>
        <p:nvSpPr>
          <p:cNvPr id="7" name="Slide Number Placeholder 6"/>
          <p:cNvSpPr>
            <a:spLocks noGrp="1"/>
          </p:cNvSpPr>
          <p:nvPr>
            <p:ph type="sldNum" sz="quarter" idx="5"/>
          </p:nvPr>
        </p:nvSpPr>
        <p:spPr/>
        <p:txBody>
          <a:bodyPr/>
          <a:lstStyle/>
          <a:p>
            <a:fld id="{57788AFD-C26B-478C-B2D8-3A933D69C95F}" type="slidenum">
              <a:rPr lang="en-US" smtClean="0"/>
              <a:pPr/>
              <a:t>38</a:t>
            </a:fld>
            <a:endParaRPr lang="en-US"/>
          </a:p>
        </p:txBody>
      </p:sp>
    </p:spTree>
    <p:extLst>
      <p:ext uri="{BB962C8B-B14F-4D97-AF65-F5344CB8AC3E}">
        <p14:creationId xmlns:p14="http://schemas.microsoft.com/office/powerpoint/2010/main" val="23527384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Agilent 16:9 Title Image">
    <p:spTree>
      <p:nvGrpSpPr>
        <p:cNvPr id="1" name=""/>
        <p:cNvGrpSpPr/>
        <p:nvPr/>
      </p:nvGrpSpPr>
      <p:grpSpPr>
        <a:xfrm>
          <a:off x="0" y="0"/>
          <a:ext cx="0" cy="0"/>
          <a:chOff x="0" y="0"/>
          <a:chExt cx="0" cy="0"/>
        </a:xfrm>
      </p:grpSpPr>
      <p:sp>
        <p:nvSpPr>
          <p:cNvPr id="24" name="Rectangle 23"/>
          <p:cNvSpPr/>
          <p:nvPr userDrawn="1"/>
        </p:nvSpPr>
        <p:spPr>
          <a:xfrm>
            <a:off x="5483504" y="-1"/>
            <a:ext cx="292388" cy="687294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5" name="Rectangle 24"/>
          <p:cNvSpPr/>
          <p:nvPr userDrawn="1"/>
        </p:nvSpPr>
        <p:spPr>
          <a:xfrm>
            <a:off x="-1" y="-1"/>
            <a:ext cx="5483505" cy="6872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dirty="0">
              <a:latin typeface="Arial" panose="020B0604020202020204" pitchFamily="34" charset="0"/>
            </a:endParaRPr>
          </a:p>
        </p:txBody>
      </p:sp>
      <p:sp>
        <p:nvSpPr>
          <p:cNvPr id="26" name="Rectangle 25"/>
          <p:cNvSpPr/>
          <p:nvPr userDrawn="1"/>
        </p:nvSpPr>
        <p:spPr>
          <a:xfrm>
            <a:off x="5775892" y="-1"/>
            <a:ext cx="626402" cy="6872941"/>
          </a:xfrm>
          <a:prstGeom prst="rect">
            <a:avLst/>
          </a:prstGeom>
          <a:solidFill>
            <a:srgbClr val="004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4" name="Picture Placeholder 3"/>
          <p:cNvSpPr>
            <a:spLocks noGrp="1"/>
          </p:cNvSpPr>
          <p:nvPr>
            <p:ph type="pic" sz="quarter" idx="14"/>
          </p:nvPr>
        </p:nvSpPr>
        <p:spPr>
          <a:xfrm>
            <a:off x="6402294" y="-2"/>
            <a:ext cx="3661784" cy="6874984"/>
          </a:xfrm>
        </p:spPr>
        <p:txBody>
          <a:bodyPr/>
          <a:lstStyle>
            <a:lvl1pPr>
              <a:defRPr/>
            </a:lvl1pPr>
          </a:lstStyle>
          <a:p>
            <a:r>
              <a:rPr lang="en-US"/>
              <a:t>Click icon to add picture</a:t>
            </a:r>
            <a:endParaRPr lang="en-US" dirty="0"/>
          </a:p>
        </p:txBody>
      </p:sp>
      <p:sp>
        <p:nvSpPr>
          <p:cNvPr id="10" name="Title 1"/>
          <p:cNvSpPr>
            <a:spLocks noGrp="1"/>
          </p:cNvSpPr>
          <p:nvPr>
            <p:ph type="ctrTitle" hasCustomPrompt="1"/>
          </p:nvPr>
        </p:nvSpPr>
        <p:spPr bwMode="white">
          <a:xfrm>
            <a:off x="476104" y="329302"/>
            <a:ext cx="4715611" cy="2066357"/>
          </a:xfrm>
        </p:spPr>
        <p:txBody>
          <a:bodyPr lIns="0" tIns="0" rIns="0" bIns="0" anchor="b" anchorCtr="0">
            <a:normAutofit/>
          </a:bodyPr>
          <a:lstStyle>
            <a:lvl1pPr algn="l">
              <a:defRPr sz="2800" b="0" i="0">
                <a:solidFill>
                  <a:schemeClr val="bg1"/>
                </a:solidFill>
                <a:latin typeface="Arial" panose="020B0604020202020204" pitchFamily="34" charset="0"/>
              </a:defRPr>
            </a:lvl1pPr>
          </a:lstStyle>
          <a:p>
            <a:r>
              <a:rPr lang="en-US" dirty="0"/>
              <a:t>Click to Edit Master Title Style</a:t>
            </a:r>
          </a:p>
        </p:txBody>
      </p:sp>
      <p:sp>
        <p:nvSpPr>
          <p:cNvPr id="11" name="Subtitle 2"/>
          <p:cNvSpPr>
            <a:spLocks noGrp="1"/>
          </p:cNvSpPr>
          <p:nvPr>
            <p:ph type="subTitle" idx="1"/>
          </p:nvPr>
        </p:nvSpPr>
        <p:spPr bwMode="white">
          <a:xfrm>
            <a:off x="476104" y="4115770"/>
            <a:ext cx="4715611" cy="1137771"/>
          </a:xfrm>
        </p:spPr>
        <p:txBody>
          <a:bodyPr lIns="0" tIns="0" rIns="0" bIns="0" anchor="t" anchorCtr="0">
            <a:normAutofit/>
          </a:bodyPr>
          <a:lstStyle>
            <a:lvl1pPr marL="0" indent="0" algn="l">
              <a:spcBef>
                <a:spcPts val="300"/>
              </a:spcBef>
              <a:buNone/>
              <a:defRPr sz="1800" b="0">
                <a:solidFill>
                  <a:schemeClr val="bg1"/>
                </a:solidFill>
                <a:latin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2" name="Date Placeholder 3"/>
          <p:cNvSpPr>
            <a:spLocks noGrp="1"/>
          </p:cNvSpPr>
          <p:nvPr>
            <p:ph type="dt" sz="half" idx="10"/>
          </p:nvPr>
        </p:nvSpPr>
        <p:spPr bwMode="gray">
          <a:xfrm>
            <a:off x="1097280" y="6621625"/>
            <a:ext cx="1060704" cy="118872"/>
          </a:xfrm>
        </p:spPr>
        <p:txBody>
          <a:bodyPr/>
          <a:lstStyle>
            <a:lvl1pPr algn="l">
              <a:defRPr sz="800">
                <a:solidFill>
                  <a:schemeClr val="bg1"/>
                </a:solidFill>
              </a:defRPr>
            </a:lvl1pPr>
          </a:lstStyle>
          <a:p>
            <a:fld id="{5269AF93-A615-43EE-95D4-5DFC654F481D}" type="datetime4">
              <a:rPr lang="en-US" smtClean="0"/>
              <a:t>February 23, 2026</a:t>
            </a:fld>
            <a:endParaRPr lang="en-US" dirty="0"/>
          </a:p>
        </p:txBody>
      </p:sp>
      <p:sp>
        <p:nvSpPr>
          <p:cNvPr id="13" name="Footer Placeholder 4"/>
          <p:cNvSpPr>
            <a:spLocks noGrp="1"/>
          </p:cNvSpPr>
          <p:nvPr>
            <p:ph type="ftr" sz="quarter" idx="11"/>
          </p:nvPr>
        </p:nvSpPr>
        <p:spPr bwMode="gray">
          <a:xfrm>
            <a:off x="2615184" y="6295365"/>
            <a:ext cx="2560320" cy="457200"/>
          </a:xfrm>
        </p:spPr>
        <p:txBody>
          <a:bodyPr anchor="b"/>
          <a:lstStyle>
            <a:lvl1pPr algn="l">
              <a:defRPr sz="800">
                <a:solidFill>
                  <a:schemeClr val="bg1"/>
                </a:solidFill>
              </a:defRPr>
            </a:lvl1pPr>
          </a:lstStyle>
          <a:p>
            <a:r>
              <a:rPr lang="en-US"/>
              <a:t>SLIMS Java API Training          R4526A-CU660         For Research Use Only. Not for use in diagnostic procedures.</a:t>
            </a:r>
            <a:endParaRPr lang="en-US" dirty="0"/>
          </a:p>
        </p:txBody>
      </p:sp>
      <p:sp>
        <p:nvSpPr>
          <p:cNvPr id="15" name="Text Placeholder 7"/>
          <p:cNvSpPr>
            <a:spLocks noGrp="1"/>
          </p:cNvSpPr>
          <p:nvPr>
            <p:ph type="body" sz="quarter" idx="13" hasCustomPrompt="1"/>
          </p:nvPr>
        </p:nvSpPr>
        <p:spPr bwMode="gray">
          <a:xfrm>
            <a:off x="476250" y="2612108"/>
            <a:ext cx="4715487" cy="811212"/>
          </a:xfrm>
        </p:spPr>
        <p:txBody>
          <a:bodyPr/>
          <a:lstStyle>
            <a:lvl1pPr>
              <a:lnSpc>
                <a:spcPct val="90000"/>
              </a:lnSpc>
              <a:spcBef>
                <a:spcPts val="800"/>
              </a:spcBef>
              <a:defRPr baseline="0">
                <a:solidFill>
                  <a:schemeClr val="bg2"/>
                </a:solidFill>
                <a:latin typeface="Arial" panose="020B0604020202020204" pitchFamily="34" charset="0"/>
                <a:ea typeface="Roboto Light" panose="02000000000000000000" pitchFamily="2" charset="0"/>
                <a:cs typeface="Arial" panose="020B0604020202020204" pitchFamily="34" charset="0"/>
              </a:defRPr>
            </a:lvl1pPr>
            <a:lvl2pPr marL="0" indent="0">
              <a:buNone/>
              <a:defRPr>
                <a:solidFill>
                  <a:schemeClr val="bg2"/>
                </a:solidFill>
                <a:latin typeface="Roboto Light" panose="02000000000000000000" pitchFamily="2" charset="0"/>
                <a:ea typeface="Roboto Light" panose="02000000000000000000" pitchFamily="2" charset="0"/>
                <a:cs typeface="Roboto Light" panose="02000000000000000000" pitchFamily="2" charset="0"/>
              </a:defRPr>
            </a:lvl2pPr>
            <a:lvl3pPr>
              <a:defRPr>
                <a:latin typeface="Roboto Light" panose="02000000000000000000" pitchFamily="2" charset="0"/>
                <a:ea typeface="Roboto Light" panose="02000000000000000000" pitchFamily="2" charset="0"/>
                <a:cs typeface="Roboto Light" panose="02000000000000000000" pitchFamily="2" charset="0"/>
              </a:defRPr>
            </a:lvl3pPr>
            <a:lvl4pPr>
              <a:defRPr>
                <a:latin typeface="Roboto Light" panose="02000000000000000000" pitchFamily="2" charset="0"/>
                <a:ea typeface="Roboto Light" panose="02000000000000000000" pitchFamily="2" charset="0"/>
                <a:cs typeface="Roboto Light" panose="02000000000000000000" pitchFamily="2" charset="0"/>
              </a:defRPr>
            </a:lvl4pPr>
            <a:lvl5pPr>
              <a:defRPr>
                <a:latin typeface="Roboto Light" panose="02000000000000000000" pitchFamily="2" charset="0"/>
                <a:ea typeface="Roboto Light" panose="02000000000000000000" pitchFamily="2" charset="0"/>
                <a:cs typeface="Roboto Light" panose="02000000000000000000" pitchFamily="2" charset="0"/>
              </a:defRPr>
            </a:lvl5pPr>
          </a:lstStyle>
          <a:p>
            <a:pPr lvl="0"/>
            <a:r>
              <a:rPr lang="en-US" dirty="0"/>
              <a:t>Edit Master text styles</a:t>
            </a:r>
          </a:p>
        </p:txBody>
      </p:sp>
      <p:sp>
        <p:nvSpPr>
          <p:cNvPr id="40" name="Slide Number Placeholder 5"/>
          <p:cNvSpPr>
            <a:spLocks noGrp="1"/>
          </p:cNvSpPr>
          <p:nvPr>
            <p:ph type="sldNum" sz="quarter" idx="12"/>
          </p:nvPr>
        </p:nvSpPr>
        <p:spPr bwMode="gray">
          <a:xfrm>
            <a:off x="502920" y="6621625"/>
            <a:ext cx="530352" cy="118872"/>
          </a:xfrm>
        </p:spPr>
        <p:txBody>
          <a:bodyPr/>
          <a:lstStyle>
            <a:lvl1pPr>
              <a:defRPr sz="800" b="1" i="0">
                <a:solidFill>
                  <a:schemeClr val="bg1"/>
                </a:solidFill>
                <a:latin typeface="Arial" panose="020B0604020202020204" pitchFamily="34" charset="0"/>
                <a:ea typeface="Roboto" pitchFamily="2" charset="0"/>
                <a:cs typeface="Arial" panose="020B0604020202020204" pitchFamily="34" charset="0"/>
              </a:defRPr>
            </a:lvl1pPr>
          </a:lstStyle>
          <a:p>
            <a:fld id="{CBD803B2-A378-42BD-B5EC-F7748F169FE0}" type="slidenum">
              <a:rPr lang="en-US" smtClean="0"/>
              <a:pPr/>
              <a:t>‹#›</a:t>
            </a:fld>
            <a:endParaRPr lang="en-US" dirty="0"/>
          </a:p>
        </p:txBody>
      </p:sp>
      <p:grpSp>
        <p:nvGrpSpPr>
          <p:cNvPr id="5" name="Group 4"/>
          <p:cNvGrpSpPr/>
          <p:nvPr userDrawn="1"/>
        </p:nvGrpSpPr>
        <p:grpSpPr>
          <a:xfrm>
            <a:off x="10064080" y="-1"/>
            <a:ext cx="2136888" cy="6872941"/>
            <a:chOff x="10064080" y="-1"/>
            <a:chExt cx="2136888" cy="6872941"/>
          </a:xfrm>
        </p:grpSpPr>
        <p:sp>
          <p:nvSpPr>
            <p:cNvPr id="9" name="Rectangle 8"/>
            <p:cNvSpPr/>
            <p:nvPr userDrawn="1"/>
          </p:nvSpPr>
          <p:spPr>
            <a:xfrm>
              <a:off x="10064080" y="-1"/>
              <a:ext cx="2127920" cy="6872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latin typeface="Arial" panose="020B0604020202020204" pitchFamily="34" charset="0"/>
              </a:endParaRPr>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67544" y="283"/>
              <a:ext cx="2133424" cy="6857433"/>
            </a:xfrm>
            <a:prstGeom prst="rect">
              <a:avLst/>
            </a:prstGeom>
          </p:spPr>
        </p:pic>
      </p:grpSp>
    </p:spTree>
    <p:extLst>
      <p:ext uri="{BB962C8B-B14F-4D97-AF65-F5344CB8AC3E}">
        <p14:creationId xmlns:p14="http://schemas.microsoft.com/office/powerpoint/2010/main" val="4085757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Agilent 16:9 Title">
    <p:spTree>
      <p:nvGrpSpPr>
        <p:cNvPr id="1" name=""/>
        <p:cNvGrpSpPr/>
        <p:nvPr/>
      </p:nvGrpSpPr>
      <p:grpSpPr>
        <a:xfrm>
          <a:off x="0" y="0"/>
          <a:ext cx="0" cy="0"/>
          <a:chOff x="0" y="0"/>
          <a:chExt cx="0" cy="0"/>
        </a:xfrm>
      </p:grpSpPr>
      <p:sp>
        <p:nvSpPr>
          <p:cNvPr id="31" name="Rectangle 30"/>
          <p:cNvSpPr/>
          <p:nvPr userDrawn="1"/>
        </p:nvSpPr>
        <p:spPr>
          <a:xfrm>
            <a:off x="-1" y="-1"/>
            <a:ext cx="7918825" cy="6872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5" name="Rectangle 14"/>
          <p:cNvSpPr/>
          <p:nvPr/>
        </p:nvSpPr>
        <p:spPr>
          <a:xfrm>
            <a:off x="7918824" y="-1"/>
            <a:ext cx="621169" cy="687294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7" name="Rectangle 16"/>
          <p:cNvSpPr/>
          <p:nvPr/>
        </p:nvSpPr>
        <p:spPr>
          <a:xfrm>
            <a:off x="8539992" y="-1"/>
            <a:ext cx="1524087" cy="687294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 name="Title 1"/>
          <p:cNvSpPr>
            <a:spLocks noGrp="1"/>
          </p:cNvSpPr>
          <p:nvPr>
            <p:ph type="ctrTitle" hasCustomPrompt="1"/>
          </p:nvPr>
        </p:nvSpPr>
        <p:spPr bwMode="white">
          <a:xfrm>
            <a:off x="476103" y="667267"/>
            <a:ext cx="7143939" cy="1728392"/>
          </a:xfrm>
        </p:spPr>
        <p:txBody>
          <a:bodyPr lIns="0" tIns="0" rIns="0" bIns="0" anchor="b" anchorCtr="0">
            <a:normAutofit/>
          </a:bodyPr>
          <a:lstStyle>
            <a:lvl1pPr algn="l">
              <a:defRPr sz="2800" b="0" i="0">
                <a:solidFill>
                  <a:schemeClr val="bg1"/>
                </a:solidFill>
                <a:latin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bwMode="white">
          <a:xfrm>
            <a:off x="476103" y="4115770"/>
            <a:ext cx="7143939" cy="1137771"/>
          </a:xfrm>
        </p:spPr>
        <p:txBody>
          <a:bodyPr lIns="0" tIns="0" rIns="0" bIns="0" anchor="t" anchorCtr="0">
            <a:normAutofit/>
          </a:bodyPr>
          <a:lstStyle>
            <a:lvl1pPr marL="0" indent="0" algn="l">
              <a:spcBef>
                <a:spcPts val="300"/>
              </a:spcBef>
              <a:buNone/>
              <a:defRPr sz="1800" b="0">
                <a:solidFill>
                  <a:schemeClr val="bg1"/>
                </a:solidFill>
                <a:latin typeface="Arial" panose="020B0604020202020204" pitchFamily="34" charset="0"/>
                <a:ea typeface="Roboto"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bwMode="gray">
          <a:xfrm>
            <a:off x="1097280" y="6621625"/>
            <a:ext cx="1060704" cy="118872"/>
          </a:xfrm>
        </p:spPr>
        <p:txBody>
          <a:bodyPr/>
          <a:lstStyle>
            <a:lvl1pPr algn="l">
              <a:defRPr sz="800">
                <a:solidFill>
                  <a:schemeClr val="bg1"/>
                </a:solidFill>
              </a:defRPr>
            </a:lvl1pPr>
          </a:lstStyle>
          <a:p>
            <a:fld id="{4DCE5764-9475-464A-818B-20BC0071EB21}" type="datetime4">
              <a:rPr lang="en-US" smtClean="0"/>
              <a:t>February 23, 2026</a:t>
            </a:fld>
            <a:endParaRPr lang="en-US" dirty="0"/>
          </a:p>
        </p:txBody>
      </p:sp>
      <p:sp>
        <p:nvSpPr>
          <p:cNvPr id="5" name="Footer Placeholder 4"/>
          <p:cNvSpPr>
            <a:spLocks noGrp="1"/>
          </p:cNvSpPr>
          <p:nvPr>
            <p:ph type="ftr" sz="quarter" idx="11"/>
          </p:nvPr>
        </p:nvSpPr>
        <p:spPr bwMode="gray">
          <a:xfrm>
            <a:off x="2615184" y="6621625"/>
            <a:ext cx="4937760" cy="118872"/>
          </a:xfrm>
        </p:spPr>
        <p:txBody>
          <a:bodyPr/>
          <a:lstStyle>
            <a:lvl1pPr algn="l">
              <a:defRPr sz="800">
                <a:solidFill>
                  <a:schemeClr val="bg1"/>
                </a:solidFill>
              </a:defRPr>
            </a:lvl1pPr>
          </a:lstStyle>
          <a:p>
            <a:r>
              <a:rPr lang="en-US"/>
              <a:t>SLIMS Java API Training          R4526A-CU660         For Research Use Only. Not for use in diagnostic procedures.</a:t>
            </a:r>
            <a:endParaRPr lang="en-US" dirty="0"/>
          </a:p>
        </p:txBody>
      </p:sp>
      <p:sp>
        <p:nvSpPr>
          <p:cNvPr id="6" name="Slide Number Placeholder 5"/>
          <p:cNvSpPr>
            <a:spLocks noGrp="1"/>
          </p:cNvSpPr>
          <p:nvPr>
            <p:ph type="sldNum" sz="quarter" idx="12"/>
          </p:nvPr>
        </p:nvSpPr>
        <p:spPr bwMode="gray">
          <a:xfrm>
            <a:off x="502920" y="6621625"/>
            <a:ext cx="530352" cy="118872"/>
          </a:xfrm>
        </p:spPr>
        <p:txBody>
          <a:bodyPr/>
          <a:lstStyle>
            <a:lvl1pPr>
              <a:defRPr sz="800" b="1" i="0">
                <a:solidFill>
                  <a:schemeClr val="bg1"/>
                </a:solidFill>
                <a:latin typeface="Arial" panose="020B0604020202020204" pitchFamily="34" charset="0"/>
                <a:ea typeface="Roboto" pitchFamily="2" charset="0"/>
                <a:cs typeface="Arial" panose="020B0604020202020204" pitchFamily="34" charset="0"/>
              </a:defRPr>
            </a:lvl1pPr>
          </a:lstStyle>
          <a:p>
            <a:fld id="{CBD803B2-A378-42BD-B5EC-F7748F169FE0}" type="slidenum">
              <a:rPr lang="en-US" smtClean="0"/>
              <a:pPr/>
              <a:t>‹#›</a:t>
            </a:fld>
            <a:endParaRPr lang="en-US" dirty="0"/>
          </a:p>
        </p:txBody>
      </p:sp>
      <p:sp>
        <p:nvSpPr>
          <p:cNvPr id="8" name="Text Placeholder 7"/>
          <p:cNvSpPr>
            <a:spLocks noGrp="1"/>
          </p:cNvSpPr>
          <p:nvPr>
            <p:ph type="body" sz="quarter" idx="13"/>
          </p:nvPr>
        </p:nvSpPr>
        <p:spPr bwMode="gray">
          <a:xfrm>
            <a:off x="476249" y="2612108"/>
            <a:ext cx="7143751" cy="811212"/>
          </a:xfrm>
        </p:spPr>
        <p:txBody>
          <a:bodyPr/>
          <a:lstStyle>
            <a:lvl1pPr>
              <a:spcBef>
                <a:spcPts val="800"/>
              </a:spcBef>
              <a:defRPr>
                <a:solidFill>
                  <a:schemeClr val="bg2"/>
                </a:solidFill>
                <a:latin typeface="Arial" panose="020B0604020202020204" pitchFamily="34" charset="0"/>
                <a:ea typeface="Roboto Light" panose="02000000000000000000" pitchFamily="2" charset="0"/>
                <a:cs typeface="Arial" panose="020B0604020202020204" pitchFamily="34" charset="0"/>
              </a:defRPr>
            </a:lvl1pPr>
            <a:lvl2pPr marL="0" indent="0">
              <a:buNone/>
              <a:defRPr>
                <a:solidFill>
                  <a:schemeClr val="bg2"/>
                </a:solidFill>
                <a:latin typeface="Roboto Light" panose="02000000000000000000" pitchFamily="2" charset="0"/>
                <a:ea typeface="Roboto Light" panose="02000000000000000000" pitchFamily="2" charset="0"/>
                <a:cs typeface="Roboto Light" panose="02000000000000000000" pitchFamily="2" charset="0"/>
              </a:defRPr>
            </a:lvl2pPr>
            <a:lvl3pPr>
              <a:defRPr>
                <a:latin typeface="Roboto Light" panose="02000000000000000000" pitchFamily="2" charset="0"/>
                <a:ea typeface="Roboto Light" panose="02000000000000000000" pitchFamily="2" charset="0"/>
                <a:cs typeface="Roboto Light" panose="02000000000000000000" pitchFamily="2" charset="0"/>
              </a:defRPr>
            </a:lvl3pPr>
            <a:lvl4pPr>
              <a:defRPr>
                <a:latin typeface="Roboto Light" panose="02000000000000000000" pitchFamily="2" charset="0"/>
                <a:ea typeface="Roboto Light" panose="02000000000000000000" pitchFamily="2" charset="0"/>
                <a:cs typeface="Roboto Light" panose="02000000000000000000" pitchFamily="2" charset="0"/>
              </a:defRPr>
            </a:lvl4pPr>
            <a:lvl5pPr>
              <a:defRPr>
                <a:latin typeface="Roboto Light" panose="02000000000000000000" pitchFamily="2" charset="0"/>
                <a:ea typeface="Roboto Light" panose="02000000000000000000" pitchFamily="2" charset="0"/>
                <a:cs typeface="Roboto Light" panose="02000000000000000000" pitchFamily="2" charset="0"/>
              </a:defRPr>
            </a:lvl5pPr>
          </a:lstStyle>
          <a:p>
            <a:pPr lvl="0"/>
            <a:r>
              <a:rPr lang="en-US"/>
              <a:t>Click to edit Master text styles</a:t>
            </a:r>
          </a:p>
        </p:txBody>
      </p:sp>
      <p:grpSp>
        <p:nvGrpSpPr>
          <p:cNvPr id="10" name="Group 9"/>
          <p:cNvGrpSpPr/>
          <p:nvPr userDrawn="1"/>
        </p:nvGrpSpPr>
        <p:grpSpPr>
          <a:xfrm>
            <a:off x="10064080" y="-1"/>
            <a:ext cx="2136888" cy="6872941"/>
            <a:chOff x="10064080" y="-1"/>
            <a:chExt cx="2136888" cy="6872941"/>
          </a:xfrm>
        </p:grpSpPr>
        <p:sp>
          <p:nvSpPr>
            <p:cNvPr id="13" name="Rectangle 12"/>
            <p:cNvSpPr/>
            <p:nvPr userDrawn="1"/>
          </p:nvSpPr>
          <p:spPr>
            <a:xfrm>
              <a:off x="10064080" y="-1"/>
              <a:ext cx="2127920" cy="6872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latin typeface="Arial" panose="020B0604020202020204" pitchFamily="34" charset="0"/>
              </a:endParaRP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67544" y="283"/>
              <a:ext cx="2133424" cy="6857433"/>
            </a:xfrm>
            <a:prstGeom prst="rect">
              <a:avLst/>
            </a:prstGeom>
          </p:spPr>
        </p:pic>
      </p:grpSp>
    </p:spTree>
    <p:extLst>
      <p:ext uri="{BB962C8B-B14F-4D97-AF65-F5344CB8AC3E}">
        <p14:creationId xmlns:p14="http://schemas.microsoft.com/office/powerpoint/2010/main" val="3551912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ilent 16:9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2919" y="246887"/>
            <a:ext cx="11198597" cy="926767"/>
          </a:xfrm>
        </p:spPr>
        <p:txBody>
          <a:bodyPr anchor="t" anchorCtr="0">
            <a:normAutofit/>
          </a:bodyPr>
          <a:lstStyle>
            <a:lvl1pPr>
              <a:defRPr sz="2800" b="0" i="0">
                <a:latin typeface="Arial" panose="020B0604020202020204" pitchFamily="34" charset="0"/>
                <a:ea typeface="Roboto Medium" panose="02000000000000000000" pitchFamily="2"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502919" y="1289304"/>
            <a:ext cx="11198597" cy="4672584"/>
          </a:xfrm>
        </p:spPr>
        <p:txBody>
          <a:bodyPr/>
          <a:lstStyle>
            <a:lvl1pPr>
              <a:defRPr>
                <a:latin typeface="Arial" panose="020B0604020202020204" pitchFamily="34" charset="0"/>
              </a:defRPr>
            </a:lvl1pPr>
            <a:lvl2pPr marL="182563" indent="-182563">
              <a:defRPr>
                <a:latin typeface="Arial" panose="020B0604020202020204" pitchFamily="34" charset="0"/>
              </a:defRPr>
            </a:lvl2pPr>
            <a:lvl3pPr marL="457200" indent="-209550">
              <a:defRPr>
                <a:latin typeface="Arial" panose="020B0604020202020204" pitchFamily="34" charset="0"/>
              </a:defRPr>
            </a:lvl3pPr>
            <a:lvl4pPr marL="630238" indent="-168275">
              <a:defRPr>
                <a:latin typeface="Arial" panose="020B0604020202020204" pitchFamily="34" charset="0"/>
              </a:defRPr>
            </a:lvl4pPr>
            <a:lvl5pPr marL="854075" indent="-182563">
              <a:defRPr>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0" y="6616700"/>
            <a:ext cx="1060704" cy="118872"/>
          </a:xfrm>
        </p:spPr>
        <p:txBody>
          <a:bodyPr/>
          <a:lstStyle>
            <a:lvl1pPr algn="l">
              <a:defRPr sz="800">
                <a:solidFill>
                  <a:schemeClr val="bg1"/>
                </a:solidFill>
              </a:defRPr>
            </a:lvl1pPr>
          </a:lstStyle>
          <a:p>
            <a:fld id="{A7596A1B-CA27-4711-9A39-FBC9492CB75A}" type="datetime4">
              <a:rPr lang="en-US" smtClean="0"/>
              <a:t>February 23, 2026</a:t>
            </a:fld>
            <a:endParaRPr lang="en-US" dirty="0"/>
          </a:p>
        </p:txBody>
      </p:sp>
      <p:sp>
        <p:nvSpPr>
          <p:cNvPr id="5" name="Footer Placeholder 4"/>
          <p:cNvSpPr>
            <a:spLocks noGrp="1"/>
          </p:cNvSpPr>
          <p:nvPr>
            <p:ph type="ftr" sz="quarter" idx="11"/>
          </p:nvPr>
        </p:nvSpPr>
        <p:spPr>
          <a:xfrm>
            <a:off x="2615184" y="6619947"/>
            <a:ext cx="5394960" cy="118872"/>
          </a:xfrm>
        </p:spPr>
        <p:txBody>
          <a:bodyPr/>
          <a:lstStyle>
            <a:lvl1pPr algn="l">
              <a:defRPr sz="800">
                <a:solidFill>
                  <a:schemeClr val="bg1"/>
                </a:solidFill>
              </a:defRPr>
            </a:lvl1pPr>
          </a:lstStyle>
          <a:p>
            <a:r>
              <a:rPr lang="en-US"/>
              <a:t>SLIMS Java API Training          R4526A-CU660         For Research Use Only. Not for use in diagnostic procedures.</a:t>
            </a:r>
            <a:endParaRPr lang="en-US" dirty="0"/>
          </a:p>
        </p:txBody>
      </p:sp>
      <p:sp>
        <p:nvSpPr>
          <p:cNvPr id="6" name="Slide Number Placeholder 5"/>
          <p:cNvSpPr>
            <a:spLocks noGrp="1"/>
          </p:cNvSpPr>
          <p:nvPr>
            <p:ph type="sldNum" sz="quarter" idx="12"/>
          </p:nvPr>
        </p:nvSpPr>
        <p:spPr>
          <a:xfrm>
            <a:off x="502920" y="6620256"/>
            <a:ext cx="530352" cy="118872"/>
          </a:xfrm>
        </p:spPr>
        <p:txBody>
          <a:bodyPr/>
          <a:lstStyle>
            <a:lvl1pPr>
              <a:defRPr sz="800"/>
            </a:lvl1pPr>
          </a:lstStyle>
          <a:p>
            <a:fld id="{CBD803B2-A378-42BD-B5EC-F7748F169FE0}" type="slidenum">
              <a:rPr lang="en-US" smtClean="0"/>
              <a:pPr/>
              <a:t>‹#›</a:t>
            </a:fld>
            <a:endParaRPr lang="en-US" dirty="0"/>
          </a:p>
        </p:txBody>
      </p:sp>
    </p:spTree>
    <p:extLst>
      <p:ext uri="{BB962C8B-B14F-4D97-AF65-F5344CB8AC3E}">
        <p14:creationId xmlns:p14="http://schemas.microsoft.com/office/powerpoint/2010/main" val="8289727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ilent 16:9 Content Sub">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1289304"/>
            <a:ext cx="11198597" cy="4672584"/>
          </a:xfrm>
        </p:spPr>
        <p:txBody>
          <a:bodyPr/>
          <a:lstStyle>
            <a:lvl1pPr>
              <a:defRPr>
                <a:latin typeface="Arial" panose="020B0604020202020204" pitchFamily="34" charset="0"/>
              </a:defRPr>
            </a:lvl1pPr>
            <a:lvl2pPr marL="182880" indent="-182880">
              <a:defRPr>
                <a:latin typeface="Arial" panose="020B0604020202020204" pitchFamily="34" charset="0"/>
              </a:defRPr>
            </a:lvl2pPr>
            <a:lvl3pPr marL="457200" indent="-209550">
              <a:defRPr>
                <a:latin typeface="Arial" panose="020B0604020202020204" pitchFamily="34" charset="0"/>
              </a:defRPr>
            </a:lvl3pPr>
            <a:lvl4pPr marL="627063" indent="-166688">
              <a:defRPr>
                <a:latin typeface="Arial" panose="020B0604020202020204" pitchFamily="34" charset="0"/>
              </a:defRPr>
            </a:lvl4pPr>
            <a:lvl5pPr marL="857250" indent="-182563">
              <a:defRPr>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0" y="6616700"/>
            <a:ext cx="1060704" cy="118872"/>
          </a:xfrm>
        </p:spPr>
        <p:txBody>
          <a:bodyPr/>
          <a:lstStyle>
            <a:lvl1pPr algn="l">
              <a:defRPr sz="800">
                <a:solidFill>
                  <a:schemeClr val="bg1"/>
                </a:solidFill>
              </a:defRPr>
            </a:lvl1pPr>
          </a:lstStyle>
          <a:p>
            <a:fld id="{3D96827E-5B16-4EBD-8A03-58ED55EE8709}" type="datetime4">
              <a:rPr lang="en-US" smtClean="0"/>
              <a:t>February 23, 2026</a:t>
            </a:fld>
            <a:endParaRPr lang="en-US" dirty="0"/>
          </a:p>
        </p:txBody>
      </p:sp>
      <p:sp>
        <p:nvSpPr>
          <p:cNvPr id="5" name="Footer Placeholder 4"/>
          <p:cNvSpPr>
            <a:spLocks noGrp="1"/>
          </p:cNvSpPr>
          <p:nvPr>
            <p:ph type="ftr" sz="quarter" idx="11"/>
          </p:nvPr>
        </p:nvSpPr>
        <p:spPr>
          <a:xfrm>
            <a:off x="2615184" y="6619947"/>
            <a:ext cx="5394960" cy="118872"/>
          </a:xfrm>
        </p:spPr>
        <p:txBody>
          <a:bodyPr/>
          <a:lstStyle>
            <a:lvl1pPr algn="l">
              <a:defRPr sz="800">
                <a:solidFill>
                  <a:schemeClr val="bg1"/>
                </a:solidFill>
              </a:defRPr>
            </a:lvl1pPr>
          </a:lstStyle>
          <a:p>
            <a:r>
              <a:rPr lang="en-US"/>
              <a:t>SLIMS Java API Training          R4526A-CU660         For Research Use Only. Not for use in diagnostic procedures.</a:t>
            </a:r>
            <a:endParaRPr lang="en-US" dirty="0"/>
          </a:p>
        </p:txBody>
      </p:sp>
      <p:sp>
        <p:nvSpPr>
          <p:cNvPr id="6" name="Slide Number Placeholder 5"/>
          <p:cNvSpPr>
            <a:spLocks noGrp="1"/>
          </p:cNvSpPr>
          <p:nvPr>
            <p:ph type="sldNum" sz="quarter" idx="12"/>
          </p:nvPr>
        </p:nvSpPr>
        <p:spPr>
          <a:xfrm>
            <a:off x="502920" y="6620256"/>
            <a:ext cx="530352" cy="118872"/>
          </a:xfrm>
        </p:spPr>
        <p:txBody>
          <a:bodyPr/>
          <a:lstStyle>
            <a:lvl1pPr>
              <a:defRPr sz="800"/>
            </a:lvl1pPr>
          </a:lstStyle>
          <a:p>
            <a:fld id="{CBD803B2-A378-42BD-B5EC-F7748F169FE0}" type="slidenum">
              <a:rPr lang="en-US" smtClean="0"/>
              <a:pPr/>
              <a:t>‹#›</a:t>
            </a:fld>
            <a:endParaRPr lang="en-US" dirty="0"/>
          </a:p>
        </p:txBody>
      </p:sp>
      <p:sp>
        <p:nvSpPr>
          <p:cNvPr id="59" name="Text Placeholder 58"/>
          <p:cNvSpPr>
            <a:spLocks noGrp="1"/>
          </p:cNvSpPr>
          <p:nvPr>
            <p:ph type="body" sz="quarter" idx="13" hasCustomPrompt="1"/>
          </p:nvPr>
        </p:nvSpPr>
        <p:spPr>
          <a:xfrm>
            <a:off x="503238" y="733133"/>
            <a:ext cx="11198284" cy="390099"/>
          </a:xfrm>
        </p:spPr>
        <p:txBody>
          <a:bodyPr/>
          <a:lstStyle>
            <a:lvl1pPr>
              <a:defRPr sz="2400">
                <a:solidFill>
                  <a:schemeClr val="tx2"/>
                </a:solidFill>
                <a:latin typeface="Arial" panose="020B0604020202020204" pitchFamily="34" charset="0"/>
                <a:ea typeface="Roboto" pitchFamily="2" charset="0"/>
              </a:defRPr>
            </a:lvl1pPr>
            <a:lvl2pPr marL="0" indent="0">
              <a:buNone/>
              <a:defRPr>
                <a:solidFill>
                  <a:schemeClr val="accent1"/>
                </a:solidFill>
                <a:latin typeface="Roboto" pitchFamily="2" charset="0"/>
                <a:ea typeface="Roboto" pitchFamily="2" charset="0"/>
              </a:defRPr>
            </a:lvl2pPr>
          </a:lstStyle>
          <a:p>
            <a:pPr lvl="0"/>
            <a:r>
              <a:rPr lang="en-US" dirty="0"/>
              <a:t>Subhead goes here</a:t>
            </a:r>
          </a:p>
        </p:txBody>
      </p:sp>
      <p:sp>
        <p:nvSpPr>
          <p:cNvPr id="9" name="Title 1"/>
          <p:cNvSpPr>
            <a:spLocks noGrp="1"/>
          </p:cNvSpPr>
          <p:nvPr>
            <p:ph type="title" hasCustomPrompt="1"/>
          </p:nvPr>
        </p:nvSpPr>
        <p:spPr>
          <a:xfrm>
            <a:off x="502919" y="246888"/>
            <a:ext cx="11198597" cy="484632"/>
          </a:xfrm>
        </p:spPr>
        <p:txBody>
          <a:bodyPr anchor="t" anchorCtr="0">
            <a:normAutofit/>
          </a:bodyPr>
          <a:lstStyle>
            <a:lvl1pPr>
              <a:defRPr sz="2800" b="0" i="0">
                <a:latin typeface="Arial" panose="020B0604020202020204" pitchFamily="34" charset="0"/>
                <a:ea typeface="Roboto Medium" panose="02000000000000000000" pitchFamily="2"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295297075"/>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gilent 16:9 Exercises Full">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1289304"/>
            <a:ext cx="11198597" cy="4672584"/>
          </a:xfrm>
        </p:spPr>
        <p:txBody>
          <a:bodyPr/>
          <a:lstStyle>
            <a:lvl1pPr>
              <a:defRPr>
                <a:latin typeface="Arial" panose="020B0604020202020204" pitchFamily="34" charset="0"/>
              </a:defRPr>
            </a:lvl1pPr>
            <a:lvl2pPr marL="182880" indent="-182880">
              <a:defRPr>
                <a:latin typeface="Arial" panose="020B0604020202020204" pitchFamily="34" charset="0"/>
              </a:defRPr>
            </a:lvl2pPr>
            <a:lvl3pPr marL="457200" indent="-209550">
              <a:defRPr>
                <a:latin typeface="Arial" panose="020B0604020202020204" pitchFamily="34" charset="0"/>
              </a:defRPr>
            </a:lvl3pPr>
            <a:lvl4pPr marL="627063" indent="-166688">
              <a:defRPr>
                <a:latin typeface="Arial" panose="020B0604020202020204" pitchFamily="34" charset="0"/>
              </a:defRPr>
            </a:lvl4pPr>
            <a:lvl5pPr marL="857250" indent="-182563">
              <a:defRPr>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0" y="6616700"/>
            <a:ext cx="1060704" cy="118872"/>
          </a:xfrm>
        </p:spPr>
        <p:txBody>
          <a:bodyPr/>
          <a:lstStyle>
            <a:lvl1pPr algn="l">
              <a:defRPr sz="800">
                <a:solidFill>
                  <a:schemeClr val="bg1"/>
                </a:solidFill>
              </a:defRPr>
            </a:lvl1pPr>
          </a:lstStyle>
          <a:p>
            <a:fld id="{27B09428-F04D-43C0-9F9D-4EDEE951E155}" type="datetime4">
              <a:rPr lang="en-US" smtClean="0"/>
              <a:t>February 23, 2026</a:t>
            </a:fld>
            <a:endParaRPr lang="en-US" dirty="0"/>
          </a:p>
        </p:txBody>
      </p:sp>
      <p:sp>
        <p:nvSpPr>
          <p:cNvPr id="5" name="Footer Placeholder 4"/>
          <p:cNvSpPr>
            <a:spLocks noGrp="1"/>
          </p:cNvSpPr>
          <p:nvPr>
            <p:ph type="ftr" sz="quarter" idx="11"/>
          </p:nvPr>
        </p:nvSpPr>
        <p:spPr>
          <a:xfrm>
            <a:off x="2615184" y="6619947"/>
            <a:ext cx="5394960" cy="118872"/>
          </a:xfrm>
        </p:spPr>
        <p:txBody>
          <a:bodyPr/>
          <a:lstStyle>
            <a:lvl1pPr algn="l">
              <a:defRPr sz="800">
                <a:solidFill>
                  <a:schemeClr val="bg1"/>
                </a:solidFill>
              </a:defRPr>
            </a:lvl1pPr>
          </a:lstStyle>
          <a:p>
            <a:r>
              <a:rPr lang="en-US"/>
              <a:t>SLIMS Java API Training          R4526A-CU660         For Research Use Only. Not for use in diagnostic procedures.</a:t>
            </a:r>
            <a:endParaRPr lang="en-US" dirty="0"/>
          </a:p>
        </p:txBody>
      </p:sp>
      <p:sp>
        <p:nvSpPr>
          <p:cNvPr id="6" name="Slide Number Placeholder 5"/>
          <p:cNvSpPr>
            <a:spLocks noGrp="1"/>
          </p:cNvSpPr>
          <p:nvPr>
            <p:ph type="sldNum" sz="quarter" idx="12"/>
          </p:nvPr>
        </p:nvSpPr>
        <p:spPr>
          <a:xfrm>
            <a:off x="502920" y="6620256"/>
            <a:ext cx="530352" cy="118872"/>
          </a:xfrm>
        </p:spPr>
        <p:txBody>
          <a:bodyPr/>
          <a:lstStyle>
            <a:lvl1pPr>
              <a:defRPr sz="800"/>
            </a:lvl1pPr>
          </a:lstStyle>
          <a:p>
            <a:fld id="{CBD803B2-A378-42BD-B5EC-F7748F169FE0}" type="slidenum">
              <a:rPr lang="en-US" smtClean="0"/>
              <a:pPr/>
              <a:t>‹#›</a:t>
            </a:fld>
            <a:endParaRPr lang="en-US" dirty="0"/>
          </a:p>
        </p:txBody>
      </p:sp>
      <p:sp>
        <p:nvSpPr>
          <p:cNvPr id="59" name="Text Placeholder 58"/>
          <p:cNvSpPr>
            <a:spLocks noGrp="1"/>
          </p:cNvSpPr>
          <p:nvPr>
            <p:ph type="body" sz="quarter" idx="13" hasCustomPrompt="1"/>
          </p:nvPr>
        </p:nvSpPr>
        <p:spPr>
          <a:xfrm>
            <a:off x="503238" y="733133"/>
            <a:ext cx="11198284" cy="390099"/>
          </a:xfrm>
        </p:spPr>
        <p:txBody>
          <a:bodyPr/>
          <a:lstStyle>
            <a:lvl1pPr>
              <a:defRPr sz="2400">
                <a:solidFill>
                  <a:schemeClr val="tx2"/>
                </a:solidFill>
                <a:latin typeface="Arial" panose="020B0604020202020204" pitchFamily="34" charset="0"/>
                <a:ea typeface="Roboto" pitchFamily="2" charset="0"/>
              </a:defRPr>
            </a:lvl1pPr>
            <a:lvl2pPr marL="0" indent="0">
              <a:buNone/>
              <a:defRPr>
                <a:solidFill>
                  <a:schemeClr val="accent1"/>
                </a:solidFill>
                <a:latin typeface="Roboto" pitchFamily="2" charset="0"/>
                <a:ea typeface="Roboto" pitchFamily="2" charset="0"/>
              </a:defRPr>
            </a:lvl2pPr>
          </a:lstStyle>
          <a:p>
            <a:pPr lvl="0"/>
            <a:r>
              <a:rPr lang="en-US" dirty="0"/>
              <a:t>Subhead goes here</a:t>
            </a:r>
          </a:p>
        </p:txBody>
      </p:sp>
      <p:sp>
        <p:nvSpPr>
          <p:cNvPr id="9" name="Title 1"/>
          <p:cNvSpPr>
            <a:spLocks noGrp="1"/>
          </p:cNvSpPr>
          <p:nvPr>
            <p:ph type="title" hasCustomPrompt="1"/>
          </p:nvPr>
        </p:nvSpPr>
        <p:spPr>
          <a:xfrm>
            <a:off x="502919" y="246888"/>
            <a:ext cx="11198597" cy="484632"/>
          </a:xfrm>
        </p:spPr>
        <p:txBody>
          <a:bodyPr anchor="t" anchorCtr="0">
            <a:normAutofit/>
          </a:bodyPr>
          <a:lstStyle>
            <a:lvl1pPr>
              <a:defRPr sz="2800" b="0" i="0">
                <a:latin typeface="Arial" panose="020B0604020202020204" pitchFamily="34" charset="0"/>
                <a:ea typeface="Roboto Medium" panose="02000000000000000000" pitchFamily="2" charset="0"/>
                <a:cs typeface="Arial" panose="020B0604020202020204" pitchFamily="34" charset="0"/>
              </a:defRPr>
            </a:lvl1pPr>
          </a:lstStyle>
          <a:p>
            <a:r>
              <a:rPr lang="en-US" dirty="0"/>
              <a:t>Click to Edit Master Title Style</a:t>
            </a:r>
          </a:p>
        </p:txBody>
      </p:sp>
      <p:pic>
        <p:nvPicPr>
          <p:cNvPr id="8" name="Graphic 7" descr="Classroom">
            <a:extLst>
              <a:ext uri="{FF2B5EF4-FFF2-40B4-BE49-F238E27FC236}">
                <a16:creationId xmlns:a16="http://schemas.microsoft.com/office/drawing/2014/main" id="{DDC83719-8CEC-45EE-9EB1-44F8E40C39C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10636" y="0"/>
            <a:ext cx="1081363" cy="1081363"/>
          </a:xfrm>
          <a:prstGeom prst="rect">
            <a:avLst/>
          </a:prstGeom>
        </p:spPr>
      </p:pic>
    </p:spTree>
    <p:extLst>
      <p:ext uri="{BB962C8B-B14F-4D97-AF65-F5344CB8AC3E}">
        <p14:creationId xmlns:p14="http://schemas.microsoft.com/office/powerpoint/2010/main" val="2295768963"/>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Agilent 16:9 Exercise Vertical">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6A12C3-055F-41B1-9284-326F6CED61F1}"/>
              </a:ext>
            </a:extLst>
          </p:cNvPr>
          <p:cNvSpPr/>
          <p:nvPr userDrawn="1"/>
        </p:nvSpPr>
        <p:spPr>
          <a:xfrm>
            <a:off x="0" y="1287522"/>
            <a:ext cx="7265324" cy="4887306"/>
          </a:xfrm>
          <a:prstGeom prst="rect">
            <a:avLst/>
          </a:prstGeom>
          <a:solidFill>
            <a:srgbClr val="E2EE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a:xfrm>
            <a:off x="1097280" y="6618854"/>
            <a:ext cx="1060704" cy="118872"/>
          </a:xfrm>
        </p:spPr>
        <p:txBody>
          <a:bodyPr/>
          <a:lstStyle>
            <a:lvl1pPr algn="l">
              <a:defRPr sz="800">
                <a:solidFill>
                  <a:schemeClr val="bg1"/>
                </a:solidFill>
              </a:defRPr>
            </a:lvl1pPr>
          </a:lstStyle>
          <a:p>
            <a:fld id="{E10141B3-402F-4C35-896A-125C2FB390B3}" type="datetime4">
              <a:rPr lang="en-US" smtClean="0"/>
              <a:t>February 23, 2026</a:t>
            </a:fld>
            <a:endParaRPr lang="en-US" dirty="0"/>
          </a:p>
        </p:txBody>
      </p:sp>
      <p:sp>
        <p:nvSpPr>
          <p:cNvPr id="5" name="Footer Placeholder 4"/>
          <p:cNvSpPr>
            <a:spLocks noGrp="1"/>
          </p:cNvSpPr>
          <p:nvPr>
            <p:ph type="ftr" sz="quarter" idx="11"/>
          </p:nvPr>
        </p:nvSpPr>
        <p:spPr>
          <a:xfrm>
            <a:off x="2615184" y="6619947"/>
            <a:ext cx="5394960" cy="118872"/>
          </a:xfrm>
        </p:spPr>
        <p:txBody>
          <a:bodyPr/>
          <a:lstStyle>
            <a:lvl1pPr algn="l">
              <a:defRPr sz="800">
                <a:solidFill>
                  <a:schemeClr val="bg1"/>
                </a:solidFill>
              </a:defRPr>
            </a:lvl1pPr>
          </a:lstStyle>
          <a:p>
            <a:r>
              <a:rPr lang="en-US"/>
              <a:t>SLIMS Java API Training          R4526A-CU660         For Research Use Only. Not for use in diagnostic procedures.</a:t>
            </a:r>
            <a:endParaRPr lang="en-US" dirty="0"/>
          </a:p>
        </p:txBody>
      </p:sp>
      <p:sp>
        <p:nvSpPr>
          <p:cNvPr id="6" name="Slide Number Placeholder 5"/>
          <p:cNvSpPr>
            <a:spLocks noGrp="1"/>
          </p:cNvSpPr>
          <p:nvPr>
            <p:ph type="sldNum" sz="quarter" idx="12"/>
          </p:nvPr>
        </p:nvSpPr>
        <p:spPr>
          <a:xfrm>
            <a:off x="502920" y="6620256"/>
            <a:ext cx="438912" cy="118872"/>
          </a:xfrm>
        </p:spPr>
        <p:txBody>
          <a:bodyPr/>
          <a:lstStyle>
            <a:lvl1pPr>
              <a:defRPr sz="800"/>
            </a:lvl1pPr>
          </a:lstStyle>
          <a:p>
            <a:fld id="{CBD803B2-A378-42BD-B5EC-F7748F169FE0}" type="slidenum">
              <a:rPr lang="en-US" smtClean="0"/>
              <a:pPr/>
              <a:t>‹#›</a:t>
            </a:fld>
            <a:endParaRPr lang="en-US" dirty="0"/>
          </a:p>
        </p:txBody>
      </p:sp>
      <p:sp>
        <p:nvSpPr>
          <p:cNvPr id="9" name="Picture Placeholder 8"/>
          <p:cNvSpPr>
            <a:spLocks noGrp="1"/>
          </p:cNvSpPr>
          <p:nvPr>
            <p:ph type="pic" sz="quarter" idx="14"/>
          </p:nvPr>
        </p:nvSpPr>
        <p:spPr>
          <a:xfrm>
            <a:off x="7481455" y="1287522"/>
            <a:ext cx="4220067" cy="4887306"/>
          </a:xfrm>
          <a:solidFill>
            <a:schemeClr val="bg2">
              <a:lumMod val="95000"/>
            </a:schemeClr>
          </a:solidFill>
        </p:spPr>
        <p:txBody>
          <a:bodyPr/>
          <a:lstStyle>
            <a:lvl1pPr>
              <a:defRPr/>
            </a:lvl1pPr>
          </a:lstStyle>
          <a:p>
            <a:r>
              <a:rPr lang="en-US"/>
              <a:t>Click icon to add picture</a:t>
            </a:r>
            <a:endParaRPr lang="en-US" dirty="0"/>
          </a:p>
        </p:txBody>
      </p:sp>
      <p:sp>
        <p:nvSpPr>
          <p:cNvPr id="10" name="Text Placeholder 58"/>
          <p:cNvSpPr>
            <a:spLocks noGrp="1"/>
          </p:cNvSpPr>
          <p:nvPr>
            <p:ph type="body" sz="quarter" idx="13" hasCustomPrompt="1"/>
          </p:nvPr>
        </p:nvSpPr>
        <p:spPr>
          <a:xfrm>
            <a:off x="503238" y="722247"/>
            <a:ext cx="11198284" cy="390099"/>
          </a:xfrm>
        </p:spPr>
        <p:txBody>
          <a:bodyPr/>
          <a:lstStyle>
            <a:lvl1pPr>
              <a:defRPr sz="2400">
                <a:solidFill>
                  <a:schemeClr val="tx2"/>
                </a:solidFill>
                <a:latin typeface="Arial" panose="020B0604020202020204" pitchFamily="34" charset="0"/>
                <a:ea typeface="Roboto" pitchFamily="2" charset="0"/>
              </a:defRPr>
            </a:lvl1pPr>
            <a:lvl2pPr>
              <a:defRPr>
                <a:solidFill>
                  <a:schemeClr val="tx2"/>
                </a:solidFill>
                <a:latin typeface="Arial" panose="020B0604020202020204" pitchFamily="34" charset="0"/>
                <a:ea typeface="Roboto" pitchFamily="2" charset="0"/>
              </a:defRPr>
            </a:lvl2pPr>
          </a:lstStyle>
          <a:p>
            <a:pPr lvl="0"/>
            <a:r>
              <a:rPr lang="en-US" dirty="0"/>
              <a:t>Subhead goes here</a:t>
            </a:r>
          </a:p>
          <a:p>
            <a:pPr lvl="1"/>
            <a:endParaRPr lang="en-US" dirty="0"/>
          </a:p>
        </p:txBody>
      </p:sp>
      <p:sp>
        <p:nvSpPr>
          <p:cNvPr id="11" name="Title 1"/>
          <p:cNvSpPr>
            <a:spLocks noGrp="1"/>
          </p:cNvSpPr>
          <p:nvPr>
            <p:ph type="title" hasCustomPrompt="1"/>
          </p:nvPr>
        </p:nvSpPr>
        <p:spPr>
          <a:xfrm>
            <a:off x="502919" y="246888"/>
            <a:ext cx="11198597" cy="484632"/>
          </a:xfrm>
        </p:spPr>
        <p:txBody>
          <a:bodyPr anchor="t" anchorCtr="0">
            <a:normAutofit/>
          </a:bodyPr>
          <a:lstStyle>
            <a:lvl1pPr>
              <a:defRPr sz="2800" b="0" i="0">
                <a:latin typeface="Arial" panose="020B0604020202020204" pitchFamily="34" charset="0"/>
                <a:ea typeface="Roboto Medium" panose="02000000000000000000" pitchFamily="2" charset="0"/>
                <a:cs typeface="Arial" panose="020B0604020202020204" pitchFamily="34" charset="0"/>
              </a:defRPr>
            </a:lvl1pPr>
          </a:lstStyle>
          <a:p>
            <a:r>
              <a:rPr lang="en-US" dirty="0"/>
              <a:t>Click to Edit Master Title Style</a:t>
            </a:r>
          </a:p>
        </p:txBody>
      </p:sp>
      <p:sp>
        <p:nvSpPr>
          <p:cNvPr id="13" name="Content Placeholder 2"/>
          <p:cNvSpPr>
            <a:spLocks noGrp="1"/>
          </p:cNvSpPr>
          <p:nvPr>
            <p:ph sz="half" idx="1"/>
          </p:nvPr>
        </p:nvSpPr>
        <p:spPr>
          <a:xfrm>
            <a:off x="502920" y="1287522"/>
            <a:ext cx="6762404" cy="4887306"/>
          </a:xfrm>
        </p:spPr>
        <p:txBody>
          <a:bodyPr/>
          <a:lstStyle>
            <a:lvl1pPr>
              <a:defRPr sz="2100">
                <a:latin typeface="Arial" panose="020B0604020202020204" pitchFamily="34" charset="0"/>
              </a:defRPr>
            </a:lvl1pPr>
            <a:lvl2pPr>
              <a:defRPr sz="1900">
                <a:latin typeface="Arial" panose="020B0604020202020204" pitchFamily="34" charset="0"/>
              </a:defRPr>
            </a:lvl2pPr>
            <a:lvl3pPr marL="457200" indent="-230188">
              <a:defRPr sz="1700">
                <a:latin typeface="Arial" panose="020B0604020202020204" pitchFamily="34" charset="0"/>
              </a:defRPr>
            </a:lvl3pPr>
            <a:lvl4pPr>
              <a:defRPr sz="1700">
                <a:latin typeface="Arial" panose="020B0604020202020204" pitchFamily="34" charset="0"/>
              </a:defRPr>
            </a:lvl4pPr>
            <a:lvl5pPr>
              <a:defRPr sz="150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descr="Classroom">
            <a:extLst>
              <a:ext uri="{FF2B5EF4-FFF2-40B4-BE49-F238E27FC236}">
                <a16:creationId xmlns:a16="http://schemas.microsoft.com/office/drawing/2014/main" id="{8B2AFA29-8B37-4B0A-A0AD-0724172B759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10636" y="0"/>
            <a:ext cx="1081363" cy="1081363"/>
          </a:xfrm>
          <a:prstGeom prst="rect">
            <a:avLst/>
          </a:prstGeom>
        </p:spPr>
      </p:pic>
    </p:spTree>
    <p:extLst>
      <p:ext uri="{BB962C8B-B14F-4D97-AF65-F5344CB8AC3E}">
        <p14:creationId xmlns:p14="http://schemas.microsoft.com/office/powerpoint/2010/main" val="34452563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Vertical - Lo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6A12C3-055F-41B1-9284-326F6CED61F1}"/>
              </a:ext>
            </a:extLst>
          </p:cNvPr>
          <p:cNvSpPr/>
          <p:nvPr userDrawn="1"/>
        </p:nvSpPr>
        <p:spPr>
          <a:xfrm>
            <a:off x="0" y="1287522"/>
            <a:ext cx="7265324" cy="4887306"/>
          </a:xfrm>
          <a:prstGeom prst="rect">
            <a:avLst/>
          </a:prstGeom>
          <a:solidFill>
            <a:srgbClr val="E2EE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a:xfrm>
            <a:off x="1097280" y="6618854"/>
            <a:ext cx="1060704" cy="118872"/>
          </a:xfrm>
        </p:spPr>
        <p:txBody>
          <a:bodyPr/>
          <a:lstStyle>
            <a:lvl1pPr algn="l">
              <a:defRPr sz="800">
                <a:solidFill>
                  <a:schemeClr val="bg1"/>
                </a:solidFill>
              </a:defRPr>
            </a:lvl1pPr>
          </a:lstStyle>
          <a:p>
            <a:fld id="{7563F4AD-044A-4E56-968F-44E423EF66D1}" type="datetime4">
              <a:rPr lang="en-US" smtClean="0"/>
              <a:t>February 23, 2026</a:t>
            </a:fld>
            <a:endParaRPr lang="en-US" dirty="0"/>
          </a:p>
        </p:txBody>
      </p:sp>
      <p:sp>
        <p:nvSpPr>
          <p:cNvPr id="5" name="Footer Placeholder 4"/>
          <p:cNvSpPr>
            <a:spLocks noGrp="1"/>
          </p:cNvSpPr>
          <p:nvPr>
            <p:ph type="ftr" sz="quarter" idx="11"/>
          </p:nvPr>
        </p:nvSpPr>
        <p:spPr>
          <a:xfrm>
            <a:off x="2615184" y="6619947"/>
            <a:ext cx="5394960" cy="118872"/>
          </a:xfrm>
        </p:spPr>
        <p:txBody>
          <a:bodyPr/>
          <a:lstStyle>
            <a:lvl1pPr algn="l">
              <a:defRPr sz="800">
                <a:solidFill>
                  <a:schemeClr val="bg1"/>
                </a:solidFill>
              </a:defRPr>
            </a:lvl1pPr>
          </a:lstStyle>
          <a:p>
            <a:r>
              <a:rPr lang="en-US"/>
              <a:t>SLIMS Java API Training          R4526A-CU660         For Research Use Only. Not for use in diagnostic procedures.</a:t>
            </a:r>
            <a:endParaRPr lang="en-US" dirty="0"/>
          </a:p>
        </p:txBody>
      </p:sp>
      <p:sp>
        <p:nvSpPr>
          <p:cNvPr id="6" name="Slide Number Placeholder 5"/>
          <p:cNvSpPr>
            <a:spLocks noGrp="1"/>
          </p:cNvSpPr>
          <p:nvPr>
            <p:ph type="sldNum" sz="quarter" idx="12"/>
          </p:nvPr>
        </p:nvSpPr>
        <p:spPr>
          <a:xfrm>
            <a:off x="502920" y="6620256"/>
            <a:ext cx="438912" cy="118872"/>
          </a:xfrm>
        </p:spPr>
        <p:txBody>
          <a:bodyPr/>
          <a:lstStyle>
            <a:lvl1pPr>
              <a:defRPr sz="800"/>
            </a:lvl1pPr>
          </a:lstStyle>
          <a:p>
            <a:fld id="{CBD803B2-A378-42BD-B5EC-F7748F169FE0}" type="slidenum">
              <a:rPr lang="en-US" smtClean="0"/>
              <a:pPr/>
              <a:t>‹#›</a:t>
            </a:fld>
            <a:endParaRPr lang="en-US" dirty="0"/>
          </a:p>
        </p:txBody>
      </p:sp>
      <p:sp>
        <p:nvSpPr>
          <p:cNvPr id="9" name="Picture Placeholder 8"/>
          <p:cNvSpPr>
            <a:spLocks noGrp="1"/>
          </p:cNvSpPr>
          <p:nvPr>
            <p:ph type="pic" sz="quarter" idx="14"/>
          </p:nvPr>
        </p:nvSpPr>
        <p:spPr>
          <a:xfrm>
            <a:off x="7481455" y="1287522"/>
            <a:ext cx="4220067" cy="4887306"/>
          </a:xfrm>
          <a:solidFill>
            <a:schemeClr val="bg2">
              <a:lumMod val="95000"/>
            </a:schemeClr>
          </a:solidFill>
        </p:spPr>
        <p:txBody>
          <a:bodyPr/>
          <a:lstStyle>
            <a:lvl1pPr>
              <a:defRPr/>
            </a:lvl1pPr>
          </a:lstStyle>
          <a:p>
            <a:r>
              <a:rPr lang="en-US"/>
              <a:t>Click icon to add picture</a:t>
            </a:r>
            <a:endParaRPr lang="en-US" dirty="0"/>
          </a:p>
        </p:txBody>
      </p:sp>
      <p:sp>
        <p:nvSpPr>
          <p:cNvPr id="10" name="Text Placeholder 58"/>
          <p:cNvSpPr>
            <a:spLocks noGrp="1"/>
          </p:cNvSpPr>
          <p:nvPr>
            <p:ph type="body" sz="quarter" idx="13" hasCustomPrompt="1"/>
          </p:nvPr>
        </p:nvSpPr>
        <p:spPr>
          <a:xfrm>
            <a:off x="503238" y="722247"/>
            <a:ext cx="11198284" cy="390099"/>
          </a:xfrm>
        </p:spPr>
        <p:txBody>
          <a:bodyPr/>
          <a:lstStyle>
            <a:lvl1pPr>
              <a:defRPr sz="2400">
                <a:solidFill>
                  <a:schemeClr val="tx2"/>
                </a:solidFill>
                <a:latin typeface="Arial" panose="020B0604020202020204" pitchFamily="34" charset="0"/>
                <a:ea typeface="Roboto" pitchFamily="2" charset="0"/>
              </a:defRPr>
            </a:lvl1pPr>
            <a:lvl2pPr>
              <a:defRPr>
                <a:solidFill>
                  <a:schemeClr val="tx2"/>
                </a:solidFill>
                <a:latin typeface="Arial" panose="020B0604020202020204" pitchFamily="34" charset="0"/>
                <a:ea typeface="Roboto" pitchFamily="2" charset="0"/>
              </a:defRPr>
            </a:lvl2pPr>
          </a:lstStyle>
          <a:p>
            <a:pPr lvl="0"/>
            <a:r>
              <a:rPr lang="en-US" dirty="0"/>
              <a:t>Subhead goes here</a:t>
            </a:r>
          </a:p>
          <a:p>
            <a:pPr lvl="1"/>
            <a:endParaRPr lang="en-US" dirty="0"/>
          </a:p>
        </p:txBody>
      </p:sp>
      <p:sp>
        <p:nvSpPr>
          <p:cNvPr id="11" name="Title 1"/>
          <p:cNvSpPr>
            <a:spLocks noGrp="1"/>
          </p:cNvSpPr>
          <p:nvPr>
            <p:ph type="title" hasCustomPrompt="1"/>
          </p:nvPr>
        </p:nvSpPr>
        <p:spPr>
          <a:xfrm>
            <a:off x="502919" y="246888"/>
            <a:ext cx="11198597" cy="484632"/>
          </a:xfrm>
        </p:spPr>
        <p:txBody>
          <a:bodyPr anchor="t" anchorCtr="0">
            <a:normAutofit/>
          </a:bodyPr>
          <a:lstStyle>
            <a:lvl1pPr>
              <a:defRPr sz="2800" b="0" i="0">
                <a:latin typeface="Arial" panose="020B0604020202020204" pitchFamily="34" charset="0"/>
                <a:ea typeface="Roboto Medium" panose="02000000000000000000" pitchFamily="2" charset="0"/>
                <a:cs typeface="Arial" panose="020B0604020202020204" pitchFamily="34" charset="0"/>
              </a:defRPr>
            </a:lvl1pPr>
          </a:lstStyle>
          <a:p>
            <a:r>
              <a:rPr lang="en-US" dirty="0"/>
              <a:t>Click to Edit Master Title Style</a:t>
            </a:r>
          </a:p>
        </p:txBody>
      </p:sp>
      <p:sp>
        <p:nvSpPr>
          <p:cNvPr id="13" name="Content Placeholder 2"/>
          <p:cNvSpPr>
            <a:spLocks noGrp="1"/>
          </p:cNvSpPr>
          <p:nvPr>
            <p:ph sz="half" idx="1"/>
          </p:nvPr>
        </p:nvSpPr>
        <p:spPr>
          <a:xfrm>
            <a:off x="502920" y="1287522"/>
            <a:ext cx="6762404" cy="4887306"/>
          </a:xfrm>
        </p:spPr>
        <p:txBody>
          <a:bodyPr/>
          <a:lstStyle>
            <a:lvl1pPr>
              <a:defRPr sz="2100">
                <a:latin typeface="Arial" panose="020B0604020202020204" pitchFamily="34" charset="0"/>
              </a:defRPr>
            </a:lvl1pPr>
            <a:lvl2pPr>
              <a:defRPr sz="1900">
                <a:latin typeface="Arial" panose="020B0604020202020204" pitchFamily="34" charset="0"/>
              </a:defRPr>
            </a:lvl2pPr>
            <a:lvl3pPr marL="457200" indent="-230188">
              <a:defRPr sz="1700">
                <a:latin typeface="Arial" panose="020B0604020202020204" pitchFamily="34" charset="0"/>
              </a:defRPr>
            </a:lvl3pPr>
            <a:lvl4pPr>
              <a:defRPr sz="1700">
                <a:latin typeface="Arial" panose="020B0604020202020204" pitchFamily="34" charset="0"/>
              </a:defRPr>
            </a:lvl4pPr>
            <a:lvl5pPr>
              <a:defRPr sz="150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296773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Agilent 16:9 Exercise Horizontal">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21D5C171-F7D3-49DA-A8A9-79AAD1F568A2}"/>
              </a:ext>
            </a:extLst>
          </p:cNvPr>
          <p:cNvSpPr>
            <a:spLocks noGrp="1"/>
          </p:cNvSpPr>
          <p:nvPr>
            <p:ph sz="half" idx="1"/>
          </p:nvPr>
        </p:nvSpPr>
        <p:spPr>
          <a:xfrm>
            <a:off x="502920" y="1287521"/>
            <a:ext cx="11198602" cy="1164733"/>
          </a:xfrm>
        </p:spPr>
        <p:txBody>
          <a:bodyPr/>
          <a:lstStyle>
            <a:lvl1pPr>
              <a:defRPr sz="2100">
                <a:latin typeface="Arial" panose="020B0604020202020204" pitchFamily="34" charset="0"/>
              </a:defRPr>
            </a:lvl1pPr>
            <a:lvl2pPr>
              <a:defRPr sz="1900">
                <a:latin typeface="Arial" panose="020B0604020202020204" pitchFamily="34" charset="0"/>
              </a:defRPr>
            </a:lvl2pPr>
            <a:lvl3pPr marL="457200" indent="-230188">
              <a:defRPr sz="1700">
                <a:latin typeface="Arial" panose="020B0604020202020204" pitchFamily="34" charset="0"/>
              </a:defRPr>
            </a:lvl3pPr>
            <a:lvl4pPr>
              <a:defRPr sz="1700">
                <a:latin typeface="Arial" panose="020B0604020202020204" pitchFamily="34" charset="0"/>
              </a:defRPr>
            </a:lvl4pPr>
            <a:lvl5pPr>
              <a:defRPr sz="1500">
                <a:latin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a:xfrm>
            <a:off x="1097280" y="6618854"/>
            <a:ext cx="1060704" cy="118872"/>
          </a:xfrm>
        </p:spPr>
        <p:txBody>
          <a:bodyPr/>
          <a:lstStyle>
            <a:lvl1pPr algn="l">
              <a:defRPr sz="800">
                <a:solidFill>
                  <a:schemeClr val="bg1"/>
                </a:solidFill>
              </a:defRPr>
            </a:lvl1pPr>
          </a:lstStyle>
          <a:p>
            <a:fld id="{AEC6CB92-A4D1-4270-A84E-A67D10AFEA82}" type="datetime4">
              <a:rPr lang="en-US" smtClean="0"/>
              <a:t>February 23, 2026</a:t>
            </a:fld>
            <a:endParaRPr lang="en-US" dirty="0"/>
          </a:p>
        </p:txBody>
      </p:sp>
      <p:sp>
        <p:nvSpPr>
          <p:cNvPr id="5" name="Footer Placeholder 4"/>
          <p:cNvSpPr>
            <a:spLocks noGrp="1"/>
          </p:cNvSpPr>
          <p:nvPr>
            <p:ph type="ftr" sz="quarter" idx="11"/>
          </p:nvPr>
        </p:nvSpPr>
        <p:spPr>
          <a:xfrm>
            <a:off x="2615184" y="6619947"/>
            <a:ext cx="5394960" cy="118872"/>
          </a:xfrm>
        </p:spPr>
        <p:txBody>
          <a:bodyPr/>
          <a:lstStyle>
            <a:lvl1pPr algn="l">
              <a:defRPr sz="800">
                <a:solidFill>
                  <a:schemeClr val="bg1"/>
                </a:solidFill>
              </a:defRPr>
            </a:lvl1pPr>
          </a:lstStyle>
          <a:p>
            <a:r>
              <a:rPr lang="en-US"/>
              <a:t>SLIMS Java API Training          R4526A-CU660         For Research Use Only. Not for use in diagnostic procedures.</a:t>
            </a:r>
            <a:endParaRPr lang="en-US" dirty="0"/>
          </a:p>
        </p:txBody>
      </p:sp>
      <p:sp>
        <p:nvSpPr>
          <p:cNvPr id="6" name="Slide Number Placeholder 5"/>
          <p:cNvSpPr>
            <a:spLocks noGrp="1"/>
          </p:cNvSpPr>
          <p:nvPr>
            <p:ph type="sldNum" sz="quarter" idx="12"/>
          </p:nvPr>
        </p:nvSpPr>
        <p:spPr>
          <a:xfrm>
            <a:off x="502920" y="6620256"/>
            <a:ext cx="438912" cy="118872"/>
          </a:xfrm>
        </p:spPr>
        <p:txBody>
          <a:bodyPr/>
          <a:lstStyle>
            <a:lvl1pPr>
              <a:defRPr sz="800"/>
            </a:lvl1pPr>
          </a:lstStyle>
          <a:p>
            <a:fld id="{CBD803B2-A378-42BD-B5EC-F7748F169FE0}" type="slidenum">
              <a:rPr lang="en-US" smtClean="0"/>
              <a:pPr/>
              <a:t>‹#›</a:t>
            </a:fld>
            <a:endParaRPr lang="en-US" dirty="0"/>
          </a:p>
        </p:txBody>
      </p:sp>
      <p:sp>
        <p:nvSpPr>
          <p:cNvPr id="15" name="Picture Placeholder 8">
            <a:extLst>
              <a:ext uri="{FF2B5EF4-FFF2-40B4-BE49-F238E27FC236}">
                <a16:creationId xmlns:a16="http://schemas.microsoft.com/office/drawing/2014/main" id="{7B84F21A-C4AE-4611-A9D8-B44003446C28}"/>
              </a:ext>
            </a:extLst>
          </p:cNvPr>
          <p:cNvSpPr>
            <a:spLocks noGrp="1"/>
          </p:cNvSpPr>
          <p:nvPr>
            <p:ph type="pic" sz="quarter" idx="14"/>
          </p:nvPr>
        </p:nvSpPr>
        <p:spPr>
          <a:xfrm>
            <a:off x="490479" y="3854252"/>
            <a:ext cx="11198601" cy="2320575"/>
          </a:xfrm>
          <a:solidFill>
            <a:schemeClr val="bg2">
              <a:lumMod val="95000"/>
            </a:schemeClr>
          </a:solidFill>
        </p:spPr>
        <p:txBody>
          <a:bodyPr/>
          <a:lstStyle>
            <a:lvl1pPr>
              <a:defRPr/>
            </a:lvl1pPr>
          </a:lstStyle>
          <a:p>
            <a:r>
              <a:rPr lang="en-US"/>
              <a:t>Click icon to add picture</a:t>
            </a:r>
            <a:endParaRPr lang="en-US" dirty="0"/>
          </a:p>
        </p:txBody>
      </p:sp>
      <p:sp>
        <p:nvSpPr>
          <p:cNvPr id="16" name="Text Placeholder 58">
            <a:extLst>
              <a:ext uri="{FF2B5EF4-FFF2-40B4-BE49-F238E27FC236}">
                <a16:creationId xmlns:a16="http://schemas.microsoft.com/office/drawing/2014/main" id="{A0D2D645-E67B-4090-96DD-7AEABF3542BF}"/>
              </a:ext>
            </a:extLst>
          </p:cNvPr>
          <p:cNvSpPr>
            <a:spLocks noGrp="1"/>
          </p:cNvSpPr>
          <p:nvPr>
            <p:ph type="body" sz="quarter" idx="13" hasCustomPrompt="1"/>
          </p:nvPr>
        </p:nvSpPr>
        <p:spPr>
          <a:xfrm>
            <a:off x="503238" y="722247"/>
            <a:ext cx="11198284" cy="390099"/>
          </a:xfrm>
        </p:spPr>
        <p:txBody>
          <a:bodyPr/>
          <a:lstStyle>
            <a:lvl1pPr>
              <a:defRPr sz="2400">
                <a:solidFill>
                  <a:schemeClr val="tx2"/>
                </a:solidFill>
                <a:latin typeface="Arial" panose="020B0604020202020204" pitchFamily="34" charset="0"/>
                <a:ea typeface="Roboto" pitchFamily="2" charset="0"/>
              </a:defRPr>
            </a:lvl1pPr>
            <a:lvl2pPr>
              <a:defRPr>
                <a:solidFill>
                  <a:schemeClr val="tx2"/>
                </a:solidFill>
                <a:latin typeface="Arial" panose="020B0604020202020204" pitchFamily="34" charset="0"/>
                <a:ea typeface="Roboto" pitchFamily="2" charset="0"/>
              </a:defRPr>
            </a:lvl2pPr>
          </a:lstStyle>
          <a:p>
            <a:pPr lvl="0"/>
            <a:r>
              <a:rPr lang="en-US" dirty="0"/>
              <a:t>Subhead goes here</a:t>
            </a:r>
          </a:p>
          <a:p>
            <a:pPr lvl="1"/>
            <a:endParaRPr lang="en-US" dirty="0"/>
          </a:p>
        </p:txBody>
      </p:sp>
      <p:sp>
        <p:nvSpPr>
          <p:cNvPr id="17" name="Title 1">
            <a:extLst>
              <a:ext uri="{FF2B5EF4-FFF2-40B4-BE49-F238E27FC236}">
                <a16:creationId xmlns:a16="http://schemas.microsoft.com/office/drawing/2014/main" id="{49850075-48AD-421A-B7B6-B40CEE4250D9}"/>
              </a:ext>
            </a:extLst>
          </p:cNvPr>
          <p:cNvSpPr>
            <a:spLocks noGrp="1"/>
          </p:cNvSpPr>
          <p:nvPr>
            <p:ph type="title" hasCustomPrompt="1"/>
          </p:nvPr>
        </p:nvSpPr>
        <p:spPr>
          <a:xfrm>
            <a:off x="502919" y="246888"/>
            <a:ext cx="11198597" cy="484632"/>
          </a:xfrm>
        </p:spPr>
        <p:txBody>
          <a:bodyPr anchor="t" anchorCtr="0">
            <a:normAutofit/>
          </a:bodyPr>
          <a:lstStyle>
            <a:lvl1pPr>
              <a:defRPr sz="2800" b="0" i="0">
                <a:latin typeface="Arial" panose="020B0604020202020204" pitchFamily="34" charset="0"/>
                <a:ea typeface="Roboto Medium" panose="02000000000000000000" pitchFamily="2" charset="0"/>
                <a:cs typeface="Arial" panose="020B0604020202020204" pitchFamily="34" charset="0"/>
              </a:defRPr>
            </a:lvl1pPr>
          </a:lstStyle>
          <a:p>
            <a:r>
              <a:rPr lang="en-US" dirty="0"/>
              <a:t>Click to Edit Master Title Style</a:t>
            </a:r>
          </a:p>
        </p:txBody>
      </p:sp>
      <p:sp>
        <p:nvSpPr>
          <p:cNvPr id="22" name="Rectangle 21">
            <a:extLst>
              <a:ext uri="{FF2B5EF4-FFF2-40B4-BE49-F238E27FC236}">
                <a16:creationId xmlns:a16="http://schemas.microsoft.com/office/drawing/2014/main" id="{1BB10CF5-D321-4A33-9189-7F1D80266327}"/>
              </a:ext>
            </a:extLst>
          </p:cNvPr>
          <p:cNvSpPr/>
          <p:nvPr userDrawn="1"/>
        </p:nvSpPr>
        <p:spPr>
          <a:xfrm>
            <a:off x="496697" y="2654017"/>
            <a:ext cx="11186161" cy="978648"/>
          </a:xfrm>
          <a:prstGeom prst="rect">
            <a:avLst/>
          </a:prstGeom>
          <a:solidFill>
            <a:srgbClr val="E2EE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2">
            <a:extLst>
              <a:ext uri="{FF2B5EF4-FFF2-40B4-BE49-F238E27FC236}">
                <a16:creationId xmlns:a16="http://schemas.microsoft.com/office/drawing/2014/main" id="{587C8592-594F-43EE-83E9-B22409B57DD1}"/>
              </a:ext>
            </a:extLst>
          </p:cNvPr>
          <p:cNvSpPr>
            <a:spLocks noGrp="1"/>
          </p:cNvSpPr>
          <p:nvPr>
            <p:ph sz="half" idx="15"/>
          </p:nvPr>
        </p:nvSpPr>
        <p:spPr>
          <a:xfrm>
            <a:off x="505012" y="2654017"/>
            <a:ext cx="11198602" cy="978648"/>
          </a:xfrm>
        </p:spPr>
        <p:txBody>
          <a:bodyPr lIns="182880" tIns="182880" rIns="182880" bIns="182880">
            <a:noAutofit/>
          </a:bodyPr>
          <a:lstStyle>
            <a:lvl1pPr>
              <a:defRPr sz="1500">
                <a:latin typeface="Arial" panose="020B0604020202020204" pitchFamily="34" charset="0"/>
              </a:defRPr>
            </a:lvl1pPr>
            <a:lvl2pPr>
              <a:defRPr sz="1500">
                <a:latin typeface="Arial" panose="020B0604020202020204" pitchFamily="34" charset="0"/>
              </a:defRPr>
            </a:lvl2pPr>
            <a:lvl3pPr marL="457200" indent="-230188">
              <a:defRPr sz="1500">
                <a:latin typeface="Arial" panose="020B0604020202020204" pitchFamily="34" charset="0"/>
              </a:defRPr>
            </a:lvl3pPr>
            <a:lvl4pPr>
              <a:defRPr sz="1700">
                <a:latin typeface="Arial" panose="020B0604020202020204" pitchFamily="34" charset="0"/>
              </a:defRPr>
            </a:lvl4pPr>
            <a:lvl5pPr>
              <a:defRPr sz="1500">
                <a:latin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p:txBody>
      </p:sp>
      <p:pic>
        <p:nvPicPr>
          <p:cNvPr id="12" name="Graphic 11" descr="Classroom">
            <a:extLst>
              <a:ext uri="{FF2B5EF4-FFF2-40B4-BE49-F238E27FC236}">
                <a16:creationId xmlns:a16="http://schemas.microsoft.com/office/drawing/2014/main" id="{5A59E8E8-39D5-4BA3-8245-F26C60D358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10636" y="0"/>
            <a:ext cx="1081363" cy="1081363"/>
          </a:xfrm>
          <a:prstGeom prst="rect">
            <a:avLst/>
          </a:prstGeom>
        </p:spPr>
      </p:pic>
    </p:spTree>
    <p:extLst>
      <p:ext uri="{BB962C8B-B14F-4D97-AF65-F5344CB8AC3E}">
        <p14:creationId xmlns:p14="http://schemas.microsoft.com/office/powerpoint/2010/main" val="19682004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Module Map">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097280" y="6616700"/>
            <a:ext cx="1060704" cy="118872"/>
          </a:xfrm>
        </p:spPr>
        <p:txBody>
          <a:bodyPr/>
          <a:lstStyle>
            <a:lvl1pPr algn="l">
              <a:defRPr sz="800">
                <a:solidFill>
                  <a:schemeClr val="bg1"/>
                </a:solidFill>
              </a:defRPr>
            </a:lvl1pPr>
          </a:lstStyle>
          <a:p>
            <a:fld id="{65770415-73B8-439D-9B61-B11517CADA3A}" type="datetime4">
              <a:rPr lang="en-US" smtClean="0"/>
              <a:t>February 23, 2026</a:t>
            </a:fld>
            <a:endParaRPr lang="en-US" dirty="0"/>
          </a:p>
        </p:txBody>
      </p:sp>
      <p:sp>
        <p:nvSpPr>
          <p:cNvPr id="5" name="Footer Placeholder 4"/>
          <p:cNvSpPr>
            <a:spLocks noGrp="1"/>
          </p:cNvSpPr>
          <p:nvPr>
            <p:ph type="ftr" sz="quarter" idx="11"/>
          </p:nvPr>
        </p:nvSpPr>
        <p:spPr>
          <a:xfrm>
            <a:off x="2615184" y="6619947"/>
            <a:ext cx="5394960" cy="118872"/>
          </a:xfrm>
        </p:spPr>
        <p:txBody>
          <a:bodyPr/>
          <a:lstStyle>
            <a:lvl1pPr algn="l">
              <a:defRPr sz="800">
                <a:solidFill>
                  <a:schemeClr val="bg1"/>
                </a:solidFill>
              </a:defRPr>
            </a:lvl1pPr>
          </a:lstStyle>
          <a:p>
            <a:r>
              <a:rPr lang="en-US"/>
              <a:t>SLIMS Java API Training          R4526A-CU660         For Research Use Only. Not for use in diagnostic procedures.</a:t>
            </a:r>
            <a:endParaRPr lang="en-US" dirty="0"/>
          </a:p>
        </p:txBody>
      </p:sp>
      <p:sp>
        <p:nvSpPr>
          <p:cNvPr id="6" name="Slide Number Placeholder 5"/>
          <p:cNvSpPr>
            <a:spLocks noGrp="1"/>
          </p:cNvSpPr>
          <p:nvPr>
            <p:ph type="sldNum" sz="quarter" idx="12"/>
          </p:nvPr>
        </p:nvSpPr>
        <p:spPr>
          <a:xfrm>
            <a:off x="502920" y="6620256"/>
            <a:ext cx="530352" cy="118872"/>
          </a:xfrm>
        </p:spPr>
        <p:txBody>
          <a:bodyPr/>
          <a:lstStyle>
            <a:lvl1pPr>
              <a:defRPr sz="800"/>
            </a:lvl1pPr>
          </a:lstStyle>
          <a:p>
            <a:fld id="{CBD803B2-A378-42BD-B5EC-F7748F169FE0}" type="slidenum">
              <a:rPr lang="en-US" smtClean="0"/>
              <a:pPr/>
              <a:t>‹#›</a:t>
            </a:fld>
            <a:endParaRPr lang="en-US" dirty="0"/>
          </a:p>
        </p:txBody>
      </p:sp>
      <p:sp>
        <p:nvSpPr>
          <p:cNvPr id="59" name="Text Placeholder 58"/>
          <p:cNvSpPr>
            <a:spLocks noGrp="1"/>
          </p:cNvSpPr>
          <p:nvPr>
            <p:ph type="body" sz="quarter" idx="13" hasCustomPrompt="1"/>
          </p:nvPr>
        </p:nvSpPr>
        <p:spPr>
          <a:xfrm>
            <a:off x="503238" y="722247"/>
            <a:ext cx="11198284" cy="390099"/>
          </a:xfrm>
        </p:spPr>
        <p:txBody>
          <a:bodyPr/>
          <a:lstStyle>
            <a:lvl1pPr>
              <a:defRPr sz="2400">
                <a:solidFill>
                  <a:schemeClr val="tx2"/>
                </a:solidFill>
                <a:latin typeface="Arial" panose="020B0604020202020204" pitchFamily="34" charset="0"/>
                <a:ea typeface="Roboto" pitchFamily="2" charset="0"/>
              </a:defRPr>
            </a:lvl1pPr>
            <a:lvl2pPr>
              <a:defRPr>
                <a:solidFill>
                  <a:schemeClr val="tx2"/>
                </a:solidFill>
                <a:latin typeface="Arial" panose="020B0604020202020204" pitchFamily="34" charset="0"/>
                <a:ea typeface="Roboto" pitchFamily="2" charset="0"/>
              </a:defRPr>
            </a:lvl2pPr>
          </a:lstStyle>
          <a:p>
            <a:pPr lvl="0"/>
            <a:r>
              <a:rPr lang="en-US" dirty="0"/>
              <a:t>Outline</a:t>
            </a:r>
          </a:p>
          <a:p>
            <a:pPr lvl="1"/>
            <a:endParaRPr lang="en-US" dirty="0"/>
          </a:p>
        </p:txBody>
      </p:sp>
      <p:sp>
        <p:nvSpPr>
          <p:cNvPr id="9" name="Title 1"/>
          <p:cNvSpPr>
            <a:spLocks noGrp="1"/>
          </p:cNvSpPr>
          <p:nvPr>
            <p:ph type="title" hasCustomPrompt="1"/>
          </p:nvPr>
        </p:nvSpPr>
        <p:spPr>
          <a:xfrm>
            <a:off x="502919" y="246888"/>
            <a:ext cx="11198597" cy="484632"/>
          </a:xfrm>
        </p:spPr>
        <p:txBody>
          <a:bodyPr anchor="t" anchorCtr="0">
            <a:normAutofit/>
          </a:bodyPr>
          <a:lstStyle>
            <a:lvl1pPr>
              <a:defRPr sz="2800" b="0" i="0">
                <a:latin typeface="Arial" panose="020B0604020202020204" pitchFamily="34" charset="0"/>
                <a:ea typeface="Roboto Medium" panose="02000000000000000000" pitchFamily="2" charset="0"/>
                <a:cs typeface="Arial" panose="020B0604020202020204" pitchFamily="34" charset="0"/>
              </a:defRPr>
            </a:lvl1pPr>
          </a:lstStyle>
          <a:p>
            <a:r>
              <a:rPr lang="en-US" dirty="0"/>
              <a:t>Configuration Training</a:t>
            </a:r>
          </a:p>
        </p:txBody>
      </p:sp>
      <p:pic>
        <p:nvPicPr>
          <p:cNvPr id="22" name="Picture 21" descr="A close up of a card&#10;&#10;Description automatically generated">
            <a:extLst>
              <a:ext uri="{FF2B5EF4-FFF2-40B4-BE49-F238E27FC236}">
                <a16:creationId xmlns:a16="http://schemas.microsoft.com/office/drawing/2014/main" id="{08741329-A7EC-4018-ACFB-075127298E8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67634" y="2456123"/>
            <a:ext cx="5205587" cy="3176264"/>
          </a:xfrm>
          <a:prstGeom prst="rect">
            <a:avLst/>
          </a:prstGeom>
        </p:spPr>
      </p:pic>
      <p:pic>
        <p:nvPicPr>
          <p:cNvPr id="23" name="Picture 22">
            <a:extLst>
              <a:ext uri="{FF2B5EF4-FFF2-40B4-BE49-F238E27FC236}">
                <a16:creationId xmlns:a16="http://schemas.microsoft.com/office/drawing/2014/main" id="{BF4F98BA-039F-407D-B5A0-382169F1B43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7719" y="3155258"/>
            <a:ext cx="304762" cy="304762"/>
          </a:xfrm>
          <a:prstGeom prst="rect">
            <a:avLst/>
          </a:prstGeom>
        </p:spPr>
      </p:pic>
      <p:sp>
        <p:nvSpPr>
          <p:cNvPr id="24" name="TextBox 23">
            <a:extLst>
              <a:ext uri="{FF2B5EF4-FFF2-40B4-BE49-F238E27FC236}">
                <a16:creationId xmlns:a16="http://schemas.microsoft.com/office/drawing/2014/main" id="{C643ED6B-4B47-4FEB-AA4A-A13BAAFBDEB2}"/>
              </a:ext>
            </a:extLst>
          </p:cNvPr>
          <p:cNvSpPr txBox="1"/>
          <p:nvPr userDrawn="1"/>
        </p:nvSpPr>
        <p:spPr>
          <a:xfrm>
            <a:off x="575590" y="2347001"/>
            <a:ext cx="1172116" cy="1015663"/>
          </a:xfrm>
          <a:prstGeom prst="rect">
            <a:avLst/>
          </a:prstGeom>
          <a:noFill/>
        </p:spPr>
        <p:txBody>
          <a:bodyPr wrap="none" rtlCol="0">
            <a:spAutoFit/>
          </a:bodyPr>
          <a:lstStyle/>
          <a:p>
            <a:r>
              <a:rPr lang="en-US" sz="1200" dirty="0">
                <a:latin typeface="+mj-lt"/>
              </a:rPr>
              <a:t>Contents</a:t>
            </a:r>
          </a:p>
          <a:p>
            <a:r>
              <a:rPr lang="en-US" sz="1200" dirty="0">
                <a:latin typeface="+mj-lt"/>
              </a:rPr>
              <a:t>Kits</a:t>
            </a:r>
          </a:p>
          <a:p>
            <a:endParaRPr lang="en-US" sz="1200" dirty="0">
              <a:latin typeface="+mj-lt"/>
            </a:endParaRPr>
          </a:p>
          <a:p>
            <a:r>
              <a:rPr lang="en-US" sz="1200" dirty="0">
                <a:latin typeface="+mj-lt"/>
              </a:rPr>
              <a:t>Categories</a:t>
            </a:r>
          </a:p>
          <a:p>
            <a:r>
              <a:rPr lang="en-US" sz="1200" dirty="0">
                <a:latin typeface="+mj-lt"/>
              </a:rPr>
              <a:t>Content Types</a:t>
            </a:r>
          </a:p>
        </p:txBody>
      </p:sp>
      <p:sp>
        <p:nvSpPr>
          <p:cNvPr id="25" name="TextBox 24">
            <a:extLst>
              <a:ext uri="{FF2B5EF4-FFF2-40B4-BE49-F238E27FC236}">
                <a16:creationId xmlns:a16="http://schemas.microsoft.com/office/drawing/2014/main" id="{790EB98F-A8A7-443F-B82B-D9E1FD05B334}"/>
              </a:ext>
            </a:extLst>
          </p:cNvPr>
          <p:cNvSpPr txBox="1"/>
          <p:nvPr userDrawn="1"/>
        </p:nvSpPr>
        <p:spPr>
          <a:xfrm>
            <a:off x="8058431" y="2583923"/>
            <a:ext cx="1213794" cy="646331"/>
          </a:xfrm>
          <a:prstGeom prst="rect">
            <a:avLst/>
          </a:prstGeom>
          <a:noFill/>
        </p:spPr>
        <p:txBody>
          <a:bodyPr wrap="none" rtlCol="0">
            <a:spAutoFit/>
          </a:bodyPr>
          <a:lstStyle/>
          <a:p>
            <a:r>
              <a:rPr lang="en-US" sz="1200" dirty="0">
                <a:latin typeface="+mj-lt"/>
              </a:rPr>
              <a:t>Locations</a:t>
            </a:r>
          </a:p>
          <a:p>
            <a:endParaRPr lang="en-US" sz="1200" dirty="0">
              <a:latin typeface="+mj-lt"/>
            </a:endParaRPr>
          </a:p>
          <a:p>
            <a:r>
              <a:rPr lang="en-US" sz="1200" dirty="0">
                <a:latin typeface="+mj-lt"/>
              </a:rPr>
              <a:t>Location Types</a:t>
            </a:r>
          </a:p>
        </p:txBody>
      </p:sp>
      <p:sp>
        <p:nvSpPr>
          <p:cNvPr id="26" name="TextBox 25">
            <a:extLst>
              <a:ext uri="{FF2B5EF4-FFF2-40B4-BE49-F238E27FC236}">
                <a16:creationId xmlns:a16="http://schemas.microsoft.com/office/drawing/2014/main" id="{57163540-3927-4FFC-85A6-492E4738C3EB}"/>
              </a:ext>
            </a:extLst>
          </p:cNvPr>
          <p:cNvSpPr txBox="1"/>
          <p:nvPr userDrawn="1"/>
        </p:nvSpPr>
        <p:spPr>
          <a:xfrm>
            <a:off x="7489365" y="4040544"/>
            <a:ext cx="1037463" cy="646331"/>
          </a:xfrm>
          <a:prstGeom prst="rect">
            <a:avLst/>
          </a:prstGeom>
          <a:noFill/>
        </p:spPr>
        <p:txBody>
          <a:bodyPr wrap="none" rtlCol="0">
            <a:spAutoFit/>
          </a:bodyPr>
          <a:lstStyle/>
          <a:p>
            <a:r>
              <a:rPr lang="en-US" sz="1200" dirty="0">
                <a:latin typeface="+mj-lt"/>
              </a:rPr>
              <a:t>Fields</a:t>
            </a:r>
          </a:p>
          <a:p>
            <a:endParaRPr lang="en-US" sz="1200" dirty="0">
              <a:latin typeface="+mj-lt"/>
            </a:endParaRPr>
          </a:p>
          <a:p>
            <a:r>
              <a:rPr lang="en-US" sz="1200" dirty="0">
                <a:latin typeface="+mj-lt"/>
              </a:rPr>
              <a:t>Lab Settings</a:t>
            </a:r>
          </a:p>
        </p:txBody>
      </p:sp>
      <p:sp>
        <p:nvSpPr>
          <p:cNvPr id="27" name="TextBox 26">
            <a:extLst>
              <a:ext uri="{FF2B5EF4-FFF2-40B4-BE49-F238E27FC236}">
                <a16:creationId xmlns:a16="http://schemas.microsoft.com/office/drawing/2014/main" id="{89013302-E87D-4F15-9270-A9A53D76A662}"/>
              </a:ext>
            </a:extLst>
          </p:cNvPr>
          <p:cNvSpPr txBox="1"/>
          <p:nvPr userDrawn="1"/>
        </p:nvSpPr>
        <p:spPr>
          <a:xfrm>
            <a:off x="9710826" y="3155258"/>
            <a:ext cx="1352743" cy="1046440"/>
          </a:xfrm>
          <a:prstGeom prst="rect">
            <a:avLst/>
          </a:prstGeom>
          <a:noFill/>
        </p:spPr>
        <p:txBody>
          <a:bodyPr wrap="none" rtlCol="0">
            <a:spAutoFit/>
          </a:bodyPr>
          <a:lstStyle/>
          <a:p>
            <a:r>
              <a:rPr lang="en-US" sz="1400" b="1" dirty="0">
                <a:latin typeface="+mj-lt"/>
              </a:rPr>
              <a:t>Bonus Topics</a:t>
            </a:r>
          </a:p>
          <a:p>
            <a:r>
              <a:rPr lang="en-US" sz="1200" dirty="0">
                <a:latin typeface="+mj-lt"/>
              </a:rPr>
              <a:t>Labels</a:t>
            </a:r>
          </a:p>
          <a:p>
            <a:r>
              <a:rPr lang="en-US" sz="1200" dirty="0">
                <a:latin typeface="+mj-lt"/>
              </a:rPr>
              <a:t>Views</a:t>
            </a:r>
          </a:p>
          <a:p>
            <a:r>
              <a:rPr lang="en-US" sz="1200" dirty="0">
                <a:latin typeface="+mj-lt"/>
              </a:rPr>
              <a:t>Layouts</a:t>
            </a:r>
          </a:p>
          <a:p>
            <a:r>
              <a:rPr lang="en-US" sz="1200" dirty="0">
                <a:latin typeface="+mj-lt"/>
              </a:rPr>
              <a:t>Containers</a:t>
            </a:r>
          </a:p>
        </p:txBody>
      </p:sp>
      <p:cxnSp>
        <p:nvCxnSpPr>
          <p:cNvPr id="28" name="Connector: Elbow 27">
            <a:extLst>
              <a:ext uri="{FF2B5EF4-FFF2-40B4-BE49-F238E27FC236}">
                <a16:creationId xmlns:a16="http://schemas.microsoft.com/office/drawing/2014/main" id="{92BF674D-2584-42EA-B8B7-F2381C9C7769}"/>
              </a:ext>
            </a:extLst>
          </p:cNvPr>
          <p:cNvCxnSpPr>
            <a:cxnSpLocks/>
          </p:cNvCxnSpPr>
          <p:nvPr userDrawn="1"/>
        </p:nvCxnSpPr>
        <p:spPr>
          <a:xfrm flipV="1">
            <a:off x="7473221" y="2743201"/>
            <a:ext cx="622155" cy="252460"/>
          </a:xfrm>
          <a:prstGeom prst="bentConnector3">
            <a:avLst/>
          </a:prstGeom>
          <a:ln w="12700">
            <a:solidFill>
              <a:schemeClr val="accent1"/>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72A67D76-1191-4DD6-BAB5-B16CFE3160F8}"/>
              </a:ext>
            </a:extLst>
          </p:cNvPr>
          <p:cNvCxnSpPr>
            <a:cxnSpLocks/>
          </p:cNvCxnSpPr>
          <p:nvPr userDrawn="1"/>
        </p:nvCxnSpPr>
        <p:spPr>
          <a:xfrm flipV="1">
            <a:off x="7473221" y="3112316"/>
            <a:ext cx="638933" cy="170423"/>
          </a:xfrm>
          <a:prstGeom prst="bentConnector3">
            <a:avLst/>
          </a:prstGeom>
          <a:ln w="12700">
            <a:solidFill>
              <a:schemeClr val="accent1"/>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33ADB815-BB9D-4A1D-A660-10188317AD67}"/>
              </a:ext>
            </a:extLst>
          </p:cNvPr>
          <p:cNvCxnSpPr>
            <a:cxnSpLocks/>
          </p:cNvCxnSpPr>
          <p:nvPr userDrawn="1"/>
        </p:nvCxnSpPr>
        <p:spPr>
          <a:xfrm flipV="1">
            <a:off x="7473221" y="3336199"/>
            <a:ext cx="1956005" cy="357301"/>
          </a:xfrm>
          <a:prstGeom prst="bentConnector3">
            <a:avLst/>
          </a:prstGeom>
          <a:ln w="12700">
            <a:solidFill>
              <a:schemeClr val="accent1"/>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5A5F2D7-12C2-4064-8A7A-DDF18BFF5384}"/>
              </a:ext>
            </a:extLst>
          </p:cNvPr>
          <p:cNvCxnSpPr/>
          <p:nvPr userDrawn="1"/>
        </p:nvCxnSpPr>
        <p:spPr>
          <a:xfrm>
            <a:off x="7013196" y="4176531"/>
            <a:ext cx="526503" cy="0"/>
          </a:xfrm>
          <a:prstGeom prst="line">
            <a:avLst/>
          </a:prstGeom>
          <a:ln w="12700">
            <a:solidFill>
              <a:schemeClr val="accent1"/>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5D4D12B-8440-4668-ADDB-3DF8F3AE553F}"/>
              </a:ext>
            </a:extLst>
          </p:cNvPr>
          <p:cNvCxnSpPr/>
          <p:nvPr userDrawn="1"/>
        </p:nvCxnSpPr>
        <p:spPr>
          <a:xfrm>
            <a:off x="7022983" y="4521878"/>
            <a:ext cx="526503" cy="0"/>
          </a:xfrm>
          <a:prstGeom prst="line">
            <a:avLst/>
          </a:prstGeom>
          <a:ln w="12700">
            <a:solidFill>
              <a:schemeClr val="accent1"/>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7DC46B4C-FF2F-4A6D-B184-50CAB116C497}"/>
              </a:ext>
            </a:extLst>
          </p:cNvPr>
          <p:cNvCxnSpPr>
            <a:cxnSpLocks/>
          </p:cNvCxnSpPr>
          <p:nvPr userDrawn="1"/>
        </p:nvCxnSpPr>
        <p:spPr>
          <a:xfrm>
            <a:off x="1316554" y="2487442"/>
            <a:ext cx="934936" cy="419646"/>
          </a:xfrm>
          <a:prstGeom prst="bentConnector3">
            <a:avLst/>
          </a:prstGeom>
          <a:ln w="12700">
            <a:solidFill>
              <a:schemeClr val="accent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A1ED76D0-6B29-45D4-AD8E-8F0415679B2E}"/>
              </a:ext>
            </a:extLst>
          </p:cNvPr>
          <p:cNvCxnSpPr>
            <a:cxnSpLocks/>
          </p:cNvCxnSpPr>
          <p:nvPr userDrawn="1"/>
        </p:nvCxnSpPr>
        <p:spPr>
          <a:xfrm>
            <a:off x="1466473" y="3047529"/>
            <a:ext cx="756610" cy="173843"/>
          </a:xfrm>
          <a:prstGeom prst="bentConnector3">
            <a:avLst/>
          </a:prstGeom>
          <a:ln w="12700">
            <a:solidFill>
              <a:schemeClr val="accent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99934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ilent 16:9 Divider">
    <p:bg>
      <p:bgPr>
        <a:solidFill>
          <a:schemeClr val="bg1"/>
        </a:solidFill>
        <a:effectLst/>
      </p:bgPr>
    </p:bg>
    <p:spTree>
      <p:nvGrpSpPr>
        <p:cNvPr id="1" name=""/>
        <p:cNvGrpSpPr/>
        <p:nvPr/>
      </p:nvGrpSpPr>
      <p:grpSpPr>
        <a:xfrm>
          <a:off x="0" y="0"/>
          <a:ext cx="0" cy="0"/>
          <a:chOff x="0" y="0"/>
          <a:chExt cx="0" cy="0"/>
        </a:xfrm>
      </p:grpSpPr>
      <p:sp>
        <p:nvSpPr>
          <p:cNvPr id="15" name="Rectangle 14"/>
          <p:cNvSpPr/>
          <p:nvPr/>
        </p:nvSpPr>
        <p:spPr>
          <a:xfrm>
            <a:off x="3658171" y="2752035"/>
            <a:ext cx="304797" cy="373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latin typeface="Arial" panose="020B0604020202020204" pitchFamily="34" charset="0"/>
            </a:endParaRPr>
          </a:p>
        </p:txBody>
      </p:sp>
      <p:sp>
        <p:nvSpPr>
          <p:cNvPr id="18" name="Rectangle 17"/>
          <p:cNvSpPr/>
          <p:nvPr/>
        </p:nvSpPr>
        <p:spPr>
          <a:xfrm>
            <a:off x="4862820" y="2752035"/>
            <a:ext cx="7024380" cy="37334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latin typeface="Arial" panose="020B0604020202020204" pitchFamily="34" charset="0"/>
            </a:endParaRPr>
          </a:p>
        </p:txBody>
      </p:sp>
      <p:sp>
        <p:nvSpPr>
          <p:cNvPr id="17" name="Rectangle 16"/>
          <p:cNvSpPr/>
          <p:nvPr/>
        </p:nvSpPr>
        <p:spPr>
          <a:xfrm>
            <a:off x="-2" y="2752035"/>
            <a:ext cx="3663924" cy="37334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latin typeface="Arial" panose="020B0604020202020204" pitchFamily="34" charset="0"/>
            </a:endParaRPr>
          </a:p>
        </p:txBody>
      </p:sp>
      <p:sp>
        <p:nvSpPr>
          <p:cNvPr id="2" name="Title 1"/>
          <p:cNvSpPr>
            <a:spLocks noGrp="1"/>
          </p:cNvSpPr>
          <p:nvPr>
            <p:ph type="title" hasCustomPrompt="1"/>
          </p:nvPr>
        </p:nvSpPr>
        <p:spPr>
          <a:xfrm>
            <a:off x="485098" y="386498"/>
            <a:ext cx="11198901" cy="1362075"/>
          </a:xfrm>
        </p:spPr>
        <p:txBody>
          <a:bodyPr anchor="b" anchorCtr="0">
            <a:noAutofit/>
          </a:bodyPr>
          <a:lstStyle>
            <a:lvl1pPr>
              <a:defRPr sz="2800" b="0" cap="none" baseline="0">
                <a:solidFill>
                  <a:schemeClr val="accent1"/>
                </a:solidFill>
                <a:latin typeface="Arial" panose="020B0604020202020204" pitchFamily="34" charset="0"/>
                <a:ea typeface="Roboto Medium" panose="02000000000000000000" pitchFamily="2" charset="0"/>
                <a:cs typeface="Arial" panose="020B0604020202020204" pitchFamily="34" charset="0"/>
              </a:defRPr>
            </a:lvl1pPr>
          </a:lstStyle>
          <a:p>
            <a:r>
              <a:rPr lang="en-US" dirty="0"/>
              <a:t>Click to Edit Master Title Style</a:t>
            </a:r>
          </a:p>
        </p:txBody>
      </p:sp>
      <p:sp>
        <p:nvSpPr>
          <p:cNvPr id="3" name="Text Placeholder 2"/>
          <p:cNvSpPr>
            <a:spLocks noGrp="1"/>
          </p:cNvSpPr>
          <p:nvPr>
            <p:ph type="body" idx="1"/>
          </p:nvPr>
        </p:nvSpPr>
        <p:spPr>
          <a:xfrm>
            <a:off x="485098" y="1748574"/>
            <a:ext cx="11198901" cy="861496"/>
          </a:xfrm>
        </p:spPr>
        <p:txBody>
          <a:bodyPr>
            <a:normAutofit/>
          </a:bodyPr>
          <a:lstStyle>
            <a:lvl1pPr marL="0" indent="0">
              <a:buNone/>
              <a:defRPr sz="2600">
                <a:solidFill>
                  <a:schemeClr val="tx1"/>
                </a:solidFill>
                <a:latin typeface="Arial" panose="020B0604020202020204" pitchFamily="34" charset="0"/>
                <a:ea typeface="Roboto Light" panose="02000000000000000000" pitchFamily="2" charset="0"/>
                <a:cs typeface="Arial" panose="020B06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bwMode="gray">
          <a:xfrm>
            <a:off x="1097280" y="6621625"/>
            <a:ext cx="1060704" cy="118872"/>
          </a:xfrm>
        </p:spPr>
        <p:txBody>
          <a:bodyPr/>
          <a:lstStyle>
            <a:lvl1pPr algn="l">
              <a:defRPr sz="800">
                <a:solidFill>
                  <a:schemeClr val="tx2"/>
                </a:solidFill>
              </a:defRPr>
            </a:lvl1pPr>
          </a:lstStyle>
          <a:p>
            <a:fld id="{10A125A2-E0FB-4FA0-99BE-FF7471FE1C8D}" type="datetime4">
              <a:rPr lang="en-US" smtClean="0"/>
              <a:t>February 23, 2026</a:t>
            </a:fld>
            <a:endParaRPr lang="en-US" dirty="0"/>
          </a:p>
        </p:txBody>
      </p:sp>
      <p:sp>
        <p:nvSpPr>
          <p:cNvPr id="5" name="Footer Placeholder 4"/>
          <p:cNvSpPr>
            <a:spLocks noGrp="1"/>
          </p:cNvSpPr>
          <p:nvPr>
            <p:ph type="ftr" sz="quarter" idx="11"/>
          </p:nvPr>
        </p:nvSpPr>
        <p:spPr bwMode="gray">
          <a:xfrm>
            <a:off x="2615184" y="6621625"/>
            <a:ext cx="5212080" cy="118872"/>
          </a:xfrm>
        </p:spPr>
        <p:txBody>
          <a:bodyPr/>
          <a:lstStyle>
            <a:lvl1pPr algn="l">
              <a:defRPr sz="800">
                <a:solidFill>
                  <a:schemeClr val="tx2"/>
                </a:solidFill>
              </a:defRPr>
            </a:lvl1pPr>
          </a:lstStyle>
          <a:p>
            <a:r>
              <a:rPr lang="en-US"/>
              <a:t>SLIMS Java API Training          R4526A-CU660         For Research Use Only. Not for use in diagnostic procedures.</a:t>
            </a:r>
            <a:endParaRPr lang="en-US" dirty="0"/>
          </a:p>
        </p:txBody>
      </p:sp>
      <p:sp>
        <p:nvSpPr>
          <p:cNvPr id="6" name="Slide Number Placeholder 5"/>
          <p:cNvSpPr>
            <a:spLocks noGrp="1"/>
          </p:cNvSpPr>
          <p:nvPr>
            <p:ph type="sldNum" sz="quarter" idx="12"/>
          </p:nvPr>
        </p:nvSpPr>
        <p:spPr bwMode="gray">
          <a:xfrm>
            <a:off x="502920" y="6621625"/>
            <a:ext cx="530352" cy="118872"/>
          </a:xfrm>
        </p:spPr>
        <p:txBody>
          <a:bodyPr/>
          <a:lstStyle>
            <a:lvl1pPr>
              <a:defRPr sz="800" b="1" i="0">
                <a:solidFill>
                  <a:schemeClr val="tx2"/>
                </a:solidFill>
                <a:latin typeface="Arial" panose="020B0604020202020204" pitchFamily="34" charset="0"/>
                <a:ea typeface="Roboto" pitchFamily="2" charset="0"/>
                <a:cs typeface="Arial" panose="020B0604020202020204" pitchFamily="34" charset="0"/>
              </a:defRPr>
            </a:lvl1pPr>
          </a:lstStyle>
          <a:p>
            <a:fld id="{CBD803B2-A378-42BD-B5EC-F7748F169FE0}" type="slidenum">
              <a:rPr lang="en-US" smtClean="0"/>
              <a:pPr/>
              <a:t>‹#›</a:t>
            </a:fld>
            <a:endParaRPr lang="en-US" dirty="0"/>
          </a:p>
        </p:txBody>
      </p:sp>
      <p:sp>
        <p:nvSpPr>
          <p:cNvPr id="19" name="Rectangle 18"/>
          <p:cNvSpPr/>
          <p:nvPr/>
        </p:nvSpPr>
        <p:spPr>
          <a:xfrm>
            <a:off x="11887199" y="2752035"/>
            <a:ext cx="304799" cy="373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latin typeface="Arial" panose="020B0604020202020204" pitchFamily="34" charset="0"/>
            </a:endParaRPr>
          </a:p>
        </p:txBody>
      </p:sp>
      <p:sp>
        <p:nvSpPr>
          <p:cNvPr id="31" name="Rectangle 30"/>
          <p:cNvSpPr/>
          <p:nvPr/>
        </p:nvSpPr>
        <p:spPr>
          <a:xfrm>
            <a:off x="3962969" y="2752035"/>
            <a:ext cx="899851" cy="37334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latin typeface="Arial" panose="020B0604020202020204" pitchFamily="34" charset="0"/>
            </a:endParaRPr>
          </a:p>
        </p:txBody>
      </p:sp>
      <p:sp>
        <p:nvSpPr>
          <p:cNvPr id="30" name="AutoShape 3"/>
          <p:cNvSpPr>
            <a:spLocks noChangeAspect="1" noChangeArrowheads="1" noTextEdit="1"/>
          </p:cNvSpPr>
          <p:nvPr/>
        </p:nvSpPr>
        <p:spPr bwMode="auto">
          <a:xfrm>
            <a:off x="7498971" y="532271"/>
            <a:ext cx="2171700" cy="909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33" name="Rectangle 32"/>
          <p:cNvSpPr/>
          <p:nvPr userDrawn="1"/>
        </p:nvSpPr>
        <p:spPr>
          <a:xfrm>
            <a:off x="11887199" y="2752035"/>
            <a:ext cx="304799" cy="373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latin typeface="Arial" panose="020B0604020202020204" pitchFamily="34" charset="0"/>
            </a:endParaRP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6494483"/>
            <a:ext cx="12190476" cy="371429"/>
          </a:xfrm>
          <a:prstGeom prst="rect">
            <a:avLst/>
          </a:prstGeom>
        </p:spPr>
      </p:pic>
    </p:spTree>
    <p:extLst>
      <p:ext uri="{BB962C8B-B14F-4D97-AF65-F5344CB8AC3E}">
        <p14:creationId xmlns:p14="http://schemas.microsoft.com/office/powerpoint/2010/main" val="3647792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ilent 16:9 Content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6A12C3-055F-41B1-9284-326F6CED61F1}"/>
              </a:ext>
            </a:extLst>
          </p:cNvPr>
          <p:cNvSpPr/>
          <p:nvPr userDrawn="1"/>
        </p:nvSpPr>
        <p:spPr>
          <a:xfrm>
            <a:off x="0" y="1287522"/>
            <a:ext cx="3844925" cy="4887306"/>
          </a:xfrm>
          <a:prstGeom prst="rect">
            <a:avLst/>
          </a:prstGeom>
          <a:solidFill>
            <a:srgbClr val="E2EE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a:xfrm>
            <a:off x="1097280" y="6618854"/>
            <a:ext cx="1060704" cy="118872"/>
          </a:xfrm>
        </p:spPr>
        <p:txBody>
          <a:bodyPr/>
          <a:lstStyle>
            <a:lvl1pPr algn="l">
              <a:defRPr sz="800">
                <a:solidFill>
                  <a:schemeClr val="bg1"/>
                </a:solidFill>
              </a:defRPr>
            </a:lvl1pPr>
          </a:lstStyle>
          <a:p>
            <a:fld id="{376051B5-AB1E-4917-A75F-BBA08D4CB91F}" type="datetime4">
              <a:rPr lang="en-US" smtClean="0"/>
              <a:t>February 23, 2026</a:t>
            </a:fld>
            <a:endParaRPr lang="en-US" dirty="0"/>
          </a:p>
        </p:txBody>
      </p:sp>
      <p:sp>
        <p:nvSpPr>
          <p:cNvPr id="5" name="Footer Placeholder 4"/>
          <p:cNvSpPr>
            <a:spLocks noGrp="1"/>
          </p:cNvSpPr>
          <p:nvPr>
            <p:ph type="ftr" sz="quarter" idx="11"/>
          </p:nvPr>
        </p:nvSpPr>
        <p:spPr>
          <a:xfrm>
            <a:off x="2615184" y="6619947"/>
            <a:ext cx="5394960" cy="118872"/>
          </a:xfrm>
        </p:spPr>
        <p:txBody>
          <a:bodyPr/>
          <a:lstStyle>
            <a:lvl1pPr algn="l">
              <a:defRPr sz="800">
                <a:solidFill>
                  <a:schemeClr val="bg1"/>
                </a:solidFill>
              </a:defRPr>
            </a:lvl1pPr>
          </a:lstStyle>
          <a:p>
            <a:r>
              <a:rPr lang="en-US"/>
              <a:t>SLIMS Java API Training          R4526A-CU660         For Research Use Only. Not for use in diagnostic procedures.</a:t>
            </a:r>
            <a:endParaRPr lang="en-US" dirty="0"/>
          </a:p>
        </p:txBody>
      </p:sp>
      <p:sp>
        <p:nvSpPr>
          <p:cNvPr id="6" name="Slide Number Placeholder 5"/>
          <p:cNvSpPr>
            <a:spLocks noGrp="1"/>
          </p:cNvSpPr>
          <p:nvPr>
            <p:ph type="sldNum" sz="quarter" idx="12"/>
          </p:nvPr>
        </p:nvSpPr>
        <p:spPr>
          <a:xfrm>
            <a:off x="502920" y="6620256"/>
            <a:ext cx="438912" cy="118872"/>
          </a:xfrm>
        </p:spPr>
        <p:txBody>
          <a:bodyPr/>
          <a:lstStyle>
            <a:lvl1pPr>
              <a:defRPr sz="800"/>
            </a:lvl1pPr>
          </a:lstStyle>
          <a:p>
            <a:fld id="{CBD803B2-A378-42BD-B5EC-F7748F169FE0}" type="slidenum">
              <a:rPr lang="en-US" smtClean="0"/>
              <a:pPr/>
              <a:t>‹#›</a:t>
            </a:fld>
            <a:endParaRPr lang="en-US" dirty="0"/>
          </a:p>
        </p:txBody>
      </p:sp>
      <p:sp>
        <p:nvSpPr>
          <p:cNvPr id="9" name="Picture Placeholder 8"/>
          <p:cNvSpPr>
            <a:spLocks noGrp="1"/>
          </p:cNvSpPr>
          <p:nvPr>
            <p:ph type="pic" sz="quarter" idx="14"/>
          </p:nvPr>
        </p:nvSpPr>
        <p:spPr>
          <a:xfrm>
            <a:off x="3989507" y="1287522"/>
            <a:ext cx="7712015" cy="4887306"/>
          </a:xfrm>
          <a:solidFill>
            <a:schemeClr val="bg2">
              <a:lumMod val="95000"/>
            </a:schemeClr>
          </a:solidFill>
        </p:spPr>
        <p:txBody>
          <a:bodyPr/>
          <a:lstStyle>
            <a:lvl1pPr>
              <a:defRPr/>
            </a:lvl1pPr>
          </a:lstStyle>
          <a:p>
            <a:r>
              <a:rPr lang="en-US"/>
              <a:t>Click icon to add picture</a:t>
            </a:r>
            <a:endParaRPr lang="en-US" dirty="0"/>
          </a:p>
        </p:txBody>
      </p:sp>
      <p:sp>
        <p:nvSpPr>
          <p:cNvPr id="10" name="Text Placeholder 58"/>
          <p:cNvSpPr>
            <a:spLocks noGrp="1"/>
          </p:cNvSpPr>
          <p:nvPr>
            <p:ph type="body" sz="quarter" idx="13" hasCustomPrompt="1"/>
          </p:nvPr>
        </p:nvSpPr>
        <p:spPr>
          <a:xfrm>
            <a:off x="503238" y="722247"/>
            <a:ext cx="11198284" cy="390099"/>
          </a:xfrm>
        </p:spPr>
        <p:txBody>
          <a:bodyPr/>
          <a:lstStyle>
            <a:lvl1pPr>
              <a:defRPr sz="2400">
                <a:solidFill>
                  <a:schemeClr val="tx2"/>
                </a:solidFill>
                <a:latin typeface="Arial" panose="020B0604020202020204" pitchFamily="34" charset="0"/>
                <a:ea typeface="Roboto" pitchFamily="2" charset="0"/>
              </a:defRPr>
            </a:lvl1pPr>
            <a:lvl2pPr>
              <a:defRPr>
                <a:solidFill>
                  <a:schemeClr val="tx2"/>
                </a:solidFill>
                <a:latin typeface="Arial" panose="020B0604020202020204" pitchFamily="34" charset="0"/>
                <a:ea typeface="Roboto" pitchFamily="2" charset="0"/>
              </a:defRPr>
            </a:lvl2pPr>
          </a:lstStyle>
          <a:p>
            <a:pPr lvl="0"/>
            <a:r>
              <a:rPr lang="en-US" dirty="0"/>
              <a:t>Subhead goes here</a:t>
            </a:r>
          </a:p>
          <a:p>
            <a:pPr lvl="1"/>
            <a:endParaRPr lang="en-US" dirty="0"/>
          </a:p>
        </p:txBody>
      </p:sp>
      <p:sp>
        <p:nvSpPr>
          <p:cNvPr id="11" name="Title 1"/>
          <p:cNvSpPr>
            <a:spLocks noGrp="1"/>
          </p:cNvSpPr>
          <p:nvPr>
            <p:ph type="title" hasCustomPrompt="1"/>
          </p:nvPr>
        </p:nvSpPr>
        <p:spPr>
          <a:xfrm>
            <a:off x="502919" y="246888"/>
            <a:ext cx="11198597" cy="484632"/>
          </a:xfrm>
        </p:spPr>
        <p:txBody>
          <a:bodyPr anchor="t" anchorCtr="0">
            <a:normAutofit/>
          </a:bodyPr>
          <a:lstStyle>
            <a:lvl1pPr>
              <a:defRPr sz="2800" b="0" i="0">
                <a:latin typeface="Arial" panose="020B0604020202020204" pitchFamily="34" charset="0"/>
                <a:ea typeface="Roboto Medium" panose="02000000000000000000" pitchFamily="2" charset="0"/>
                <a:cs typeface="Arial" panose="020B0604020202020204" pitchFamily="34" charset="0"/>
              </a:defRPr>
            </a:lvl1pPr>
          </a:lstStyle>
          <a:p>
            <a:r>
              <a:rPr lang="en-US" dirty="0"/>
              <a:t>Click to Edit Master Title Style</a:t>
            </a:r>
          </a:p>
        </p:txBody>
      </p:sp>
      <p:sp>
        <p:nvSpPr>
          <p:cNvPr id="13" name="Content Placeholder 2"/>
          <p:cNvSpPr>
            <a:spLocks noGrp="1"/>
          </p:cNvSpPr>
          <p:nvPr>
            <p:ph sz="half" idx="1"/>
          </p:nvPr>
        </p:nvSpPr>
        <p:spPr>
          <a:xfrm>
            <a:off x="502920" y="1287522"/>
            <a:ext cx="3342005" cy="4887306"/>
          </a:xfrm>
        </p:spPr>
        <p:txBody>
          <a:bodyPr/>
          <a:lstStyle>
            <a:lvl1pPr>
              <a:defRPr sz="2100">
                <a:latin typeface="Arial" panose="020B0604020202020204" pitchFamily="34" charset="0"/>
              </a:defRPr>
            </a:lvl1pPr>
            <a:lvl2pPr>
              <a:defRPr sz="1900">
                <a:latin typeface="Arial" panose="020B0604020202020204" pitchFamily="34" charset="0"/>
              </a:defRPr>
            </a:lvl2pPr>
            <a:lvl3pPr marL="457200" indent="-230188">
              <a:defRPr sz="1700">
                <a:latin typeface="Arial" panose="020B0604020202020204" pitchFamily="34" charset="0"/>
              </a:defRPr>
            </a:lvl3pPr>
            <a:lvl4pPr>
              <a:defRPr sz="1700">
                <a:latin typeface="Arial" panose="020B0604020202020204" pitchFamily="34" charset="0"/>
              </a:defRPr>
            </a:lvl4pPr>
            <a:lvl5pPr>
              <a:defRPr sz="150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22693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ilent 16:9 Vocabular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6A12C3-055F-41B1-9284-326F6CED61F1}"/>
              </a:ext>
            </a:extLst>
          </p:cNvPr>
          <p:cNvSpPr/>
          <p:nvPr userDrawn="1"/>
        </p:nvSpPr>
        <p:spPr>
          <a:xfrm>
            <a:off x="0" y="1287522"/>
            <a:ext cx="3844925" cy="4887306"/>
          </a:xfrm>
          <a:prstGeom prst="rect">
            <a:avLst/>
          </a:prstGeom>
          <a:solidFill>
            <a:srgbClr val="E2EE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a:xfrm>
            <a:off x="1097280" y="6618854"/>
            <a:ext cx="1060704" cy="118872"/>
          </a:xfrm>
        </p:spPr>
        <p:txBody>
          <a:bodyPr/>
          <a:lstStyle>
            <a:lvl1pPr algn="l">
              <a:defRPr sz="800">
                <a:solidFill>
                  <a:schemeClr val="bg1"/>
                </a:solidFill>
              </a:defRPr>
            </a:lvl1pPr>
          </a:lstStyle>
          <a:p>
            <a:fld id="{8D6CCC01-A4A4-4FE3-A261-6971BA6B0D5E}" type="datetime4">
              <a:rPr lang="en-US" smtClean="0"/>
              <a:t>February 23, 2026</a:t>
            </a:fld>
            <a:endParaRPr lang="en-US" dirty="0"/>
          </a:p>
        </p:txBody>
      </p:sp>
      <p:sp>
        <p:nvSpPr>
          <p:cNvPr id="5" name="Footer Placeholder 4"/>
          <p:cNvSpPr>
            <a:spLocks noGrp="1"/>
          </p:cNvSpPr>
          <p:nvPr>
            <p:ph type="ftr" sz="quarter" idx="11"/>
          </p:nvPr>
        </p:nvSpPr>
        <p:spPr>
          <a:xfrm>
            <a:off x="2615184" y="6619947"/>
            <a:ext cx="5394960" cy="118872"/>
          </a:xfrm>
        </p:spPr>
        <p:txBody>
          <a:bodyPr/>
          <a:lstStyle>
            <a:lvl1pPr algn="l">
              <a:defRPr sz="800">
                <a:solidFill>
                  <a:schemeClr val="bg1"/>
                </a:solidFill>
              </a:defRPr>
            </a:lvl1pPr>
          </a:lstStyle>
          <a:p>
            <a:r>
              <a:rPr lang="en-US"/>
              <a:t>SLIMS Java API Training          R4526A-CU660         For Research Use Only. Not for use in diagnostic procedures.</a:t>
            </a:r>
            <a:endParaRPr lang="en-US" dirty="0"/>
          </a:p>
        </p:txBody>
      </p:sp>
      <p:sp>
        <p:nvSpPr>
          <p:cNvPr id="6" name="Slide Number Placeholder 5"/>
          <p:cNvSpPr>
            <a:spLocks noGrp="1"/>
          </p:cNvSpPr>
          <p:nvPr>
            <p:ph type="sldNum" sz="quarter" idx="12"/>
          </p:nvPr>
        </p:nvSpPr>
        <p:spPr>
          <a:xfrm>
            <a:off x="502920" y="6620256"/>
            <a:ext cx="438912" cy="118872"/>
          </a:xfrm>
        </p:spPr>
        <p:txBody>
          <a:bodyPr/>
          <a:lstStyle>
            <a:lvl1pPr>
              <a:defRPr sz="800"/>
            </a:lvl1pPr>
          </a:lstStyle>
          <a:p>
            <a:fld id="{CBD803B2-A378-42BD-B5EC-F7748F169FE0}" type="slidenum">
              <a:rPr lang="en-US" smtClean="0"/>
              <a:pPr/>
              <a:t>‹#›</a:t>
            </a:fld>
            <a:endParaRPr lang="en-US" dirty="0"/>
          </a:p>
        </p:txBody>
      </p:sp>
      <p:sp>
        <p:nvSpPr>
          <p:cNvPr id="9" name="Picture Placeholder 8"/>
          <p:cNvSpPr>
            <a:spLocks noGrp="1"/>
          </p:cNvSpPr>
          <p:nvPr>
            <p:ph type="pic" sz="quarter" idx="14"/>
          </p:nvPr>
        </p:nvSpPr>
        <p:spPr>
          <a:xfrm>
            <a:off x="3989507" y="1287522"/>
            <a:ext cx="7712015" cy="4887306"/>
          </a:xfrm>
          <a:solidFill>
            <a:schemeClr val="bg2">
              <a:lumMod val="95000"/>
            </a:schemeClr>
          </a:solidFill>
        </p:spPr>
        <p:txBody>
          <a:bodyPr/>
          <a:lstStyle>
            <a:lvl1pPr>
              <a:defRPr/>
            </a:lvl1pPr>
          </a:lstStyle>
          <a:p>
            <a:r>
              <a:rPr lang="en-US"/>
              <a:t>Click icon to add picture</a:t>
            </a:r>
            <a:endParaRPr lang="en-US" dirty="0"/>
          </a:p>
        </p:txBody>
      </p:sp>
      <p:sp>
        <p:nvSpPr>
          <p:cNvPr id="10" name="Text Placeholder 58"/>
          <p:cNvSpPr>
            <a:spLocks noGrp="1"/>
          </p:cNvSpPr>
          <p:nvPr>
            <p:ph type="body" sz="quarter" idx="13" hasCustomPrompt="1"/>
          </p:nvPr>
        </p:nvSpPr>
        <p:spPr>
          <a:xfrm>
            <a:off x="503238" y="722247"/>
            <a:ext cx="11198284" cy="390099"/>
          </a:xfrm>
        </p:spPr>
        <p:txBody>
          <a:bodyPr/>
          <a:lstStyle>
            <a:lvl1pPr>
              <a:defRPr sz="2400">
                <a:solidFill>
                  <a:schemeClr val="tx2"/>
                </a:solidFill>
                <a:latin typeface="Arial" panose="020B0604020202020204" pitchFamily="34" charset="0"/>
                <a:ea typeface="Roboto" pitchFamily="2" charset="0"/>
              </a:defRPr>
            </a:lvl1pPr>
            <a:lvl2pPr>
              <a:defRPr>
                <a:solidFill>
                  <a:schemeClr val="tx2"/>
                </a:solidFill>
                <a:latin typeface="Arial" panose="020B0604020202020204" pitchFamily="34" charset="0"/>
                <a:ea typeface="Roboto" pitchFamily="2" charset="0"/>
              </a:defRPr>
            </a:lvl2pPr>
          </a:lstStyle>
          <a:p>
            <a:pPr lvl="0"/>
            <a:r>
              <a:rPr lang="en-US" dirty="0"/>
              <a:t>Subhead goes here</a:t>
            </a:r>
          </a:p>
          <a:p>
            <a:pPr lvl="1"/>
            <a:endParaRPr lang="en-US" dirty="0"/>
          </a:p>
        </p:txBody>
      </p:sp>
      <p:sp>
        <p:nvSpPr>
          <p:cNvPr id="11" name="Title 1"/>
          <p:cNvSpPr>
            <a:spLocks noGrp="1"/>
          </p:cNvSpPr>
          <p:nvPr>
            <p:ph type="title" hasCustomPrompt="1"/>
          </p:nvPr>
        </p:nvSpPr>
        <p:spPr>
          <a:xfrm>
            <a:off x="502919" y="246888"/>
            <a:ext cx="11198597" cy="484632"/>
          </a:xfrm>
        </p:spPr>
        <p:txBody>
          <a:bodyPr anchor="t" anchorCtr="0">
            <a:normAutofit/>
          </a:bodyPr>
          <a:lstStyle>
            <a:lvl1pPr>
              <a:defRPr sz="2800" b="0" i="0">
                <a:latin typeface="Arial" panose="020B0604020202020204" pitchFamily="34" charset="0"/>
                <a:ea typeface="Roboto Medium" panose="02000000000000000000" pitchFamily="2" charset="0"/>
                <a:cs typeface="Arial" panose="020B0604020202020204" pitchFamily="34" charset="0"/>
              </a:defRPr>
            </a:lvl1pPr>
          </a:lstStyle>
          <a:p>
            <a:r>
              <a:rPr lang="en-US" dirty="0"/>
              <a:t>Click to Edit Master Title Style</a:t>
            </a:r>
          </a:p>
        </p:txBody>
      </p:sp>
      <p:sp>
        <p:nvSpPr>
          <p:cNvPr id="13" name="Content Placeholder 2"/>
          <p:cNvSpPr>
            <a:spLocks noGrp="1"/>
          </p:cNvSpPr>
          <p:nvPr>
            <p:ph sz="half" idx="1"/>
          </p:nvPr>
        </p:nvSpPr>
        <p:spPr>
          <a:xfrm>
            <a:off x="502920" y="1287522"/>
            <a:ext cx="3342005" cy="4887306"/>
          </a:xfrm>
        </p:spPr>
        <p:txBody>
          <a:bodyPr/>
          <a:lstStyle>
            <a:lvl1pPr>
              <a:defRPr sz="2100">
                <a:latin typeface="Arial" panose="020B0604020202020204" pitchFamily="34" charset="0"/>
              </a:defRPr>
            </a:lvl1pPr>
            <a:lvl2pPr>
              <a:defRPr sz="1900">
                <a:latin typeface="Arial" panose="020B0604020202020204" pitchFamily="34" charset="0"/>
              </a:defRPr>
            </a:lvl2pPr>
            <a:lvl3pPr marL="457200" indent="-230188">
              <a:defRPr sz="1700">
                <a:latin typeface="Arial" panose="020B0604020202020204" pitchFamily="34" charset="0"/>
              </a:defRPr>
            </a:lvl3pPr>
            <a:lvl4pPr>
              <a:defRPr sz="1700">
                <a:latin typeface="Arial" panose="020B0604020202020204" pitchFamily="34" charset="0"/>
              </a:defRPr>
            </a:lvl4pPr>
            <a:lvl5pPr>
              <a:defRPr sz="150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Graphic 13" descr="Bullseye">
            <a:extLst>
              <a:ext uri="{FF2B5EF4-FFF2-40B4-BE49-F238E27FC236}">
                <a16:creationId xmlns:a16="http://schemas.microsoft.com/office/drawing/2014/main" id="{3F463467-6C95-4BA9-AC87-99D4CE03657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10637" y="0"/>
            <a:ext cx="1081363" cy="1081363"/>
          </a:xfrm>
          <a:prstGeom prst="rect">
            <a:avLst/>
          </a:prstGeom>
        </p:spPr>
      </p:pic>
    </p:spTree>
    <p:extLst>
      <p:ext uri="{BB962C8B-B14F-4D97-AF65-F5344CB8AC3E}">
        <p14:creationId xmlns:p14="http://schemas.microsoft.com/office/powerpoint/2010/main" val="10755704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Agilent 16:9 Store Tips">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097280" y="6618854"/>
            <a:ext cx="1060704" cy="118872"/>
          </a:xfrm>
        </p:spPr>
        <p:txBody>
          <a:bodyPr/>
          <a:lstStyle>
            <a:lvl1pPr algn="l">
              <a:defRPr sz="800">
                <a:solidFill>
                  <a:schemeClr val="bg1"/>
                </a:solidFill>
              </a:defRPr>
            </a:lvl1pPr>
          </a:lstStyle>
          <a:p>
            <a:fld id="{77173793-3CE5-4014-87D1-662700A8431F}" type="datetime4">
              <a:rPr lang="en-US" smtClean="0"/>
              <a:t>February 23, 2026</a:t>
            </a:fld>
            <a:endParaRPr lang="en-US" dirty="0"/>
          </a:p>
        </p:txBody>
      </p:sp>
      <p:sp>
        <p:nvSpPr>
          <p:cNvPr id="5" name="Footer Placeholder 4"/>
          <p:cNvSpPr>
            <a:spLocks noGrp="1"/>
          </p:cNvSpPr>
          <p:nvPr>
            <p:ph type="ftr" sz="quarter" idx="11"/>
          </p:nvPr>
        </p:nvSpPr>
        <p:spPr>
          <a:xfrm>
            <a:off x="2615184" y="6619947"/>
            <a:ext cx="5394960" cy="118872"/>
          </a:xfrm>
        </p:spPr>
        <p:txBody>
          <a:bodyPr/>
          <a:lstStyle>
            <a:lvl1pPr algn="l">
              <a:defRPr sz="800">
                <a:solidFill>
                  <a:schemeClr val="bg1"/>
                </a:solidFill>
              </a:defRPr>
            </a:lvl1pPr>
          </a:lstStyle>
          <a:p>
            <a:r>
              <a:rPr lang="en-US"/>
              <a:t>SLIMS Java API Training          R4526A-CU660         For Research Use Only. Not for use in diagnostic procedures.</a:t>
            </a:r>
            <a:endParaRPr lang="en-US" dirty="0"/>
          </a:p>
        </p:txBody>
      </p:sp>
      <p:sp>
        <p:nvSpPr>
          <p:cNvPr id="6" name="Slide Number Placeholder 5"/>
          <p:cNvSpPr>
            <a:spLocks noGrp="1"/>
          </p:cNvSpPr>
          <p:nvPr>
            <p:ph type="sldNum" sz="quarter" idx="12"/>
          </p:nvPr>
        </p:nvSpPr>
        <p:spPr>
          <a:xfrm>
            <a:off x="502920" y="6620256"/>
            <a:ext cx="438912" cy="118872"/>
          </a:xfrm>
        </p:spPr>
        <p:txBody>
          <a:bodyPr/>
          <a:lstStyle>
            <a:lvl1pPr>
              <a:defRPr sz="800"/>
            </a:lvl1pPr>
          </a:lstStyle>
          <a:p>
            <a:fld id="{CBD803B2-A378-42BD-B5EC-F7748F169FE0}" type="slidenum">
              <a:rPr lang="en-US" smtClean="0"/>
              <a:pPr/>
              <a:t>‹#›</a:t>
            </a:fld>
            <a:endParaRPr lang="en-US" dirty="0"/>
          </a:p>
        </p:txBody>
      </p:sp>
      <p:sp>
        <p:nvSpPr>
          <p:cNvPr id="17" name="Title 1">
            <a:extLst>
              <a:ext uri="{FF2B5EF4-FFF2-40B4-BE49-F238E27FC236}">
                <a16:creationId xmlns:a16="http://schemas.microsoft.com/office/drawing/2014/main" id="{49850075-48AD-421A-B7B6-B40CEE4250D9}"/>
              </a:ext>
            </a:extLst>
          </p:cNvPr>
          <p:cNvSpPr>
            <a:spLocks noGrp="1"/>
          </p:cNvSpPr>
          <p:nvPr>
            <p:ph type="title" hasCustomPrompt="1"/>
          </p:nvPr>
        </p:nvSpPr>
        <p:spPr>
          <a:xfrm>
            <a:off x="502919" y="246888"/>
            <a:ext cx="11198597" cy="484632"/>
          </a:xfrm>
        </p:spPr>
        <p:txBody>
          <a:bodyPr anchor="t" anchorCtr="0">
            <a:normAutofit/>
          </a:bodyPr>
          <a:lstStyle>
            <a:lvl1pPr>
              <a:defRPr sz="2800" b="0" i="0">
                <a:latin typeface="Arial" panose="020B0604020202020204" pitchFamily="34" charset="0"/>
                <a:ea typeface="Roboto Medium" panose="02000000000000000000" pitchFamily="2" charset="0"/>
                <a:cs typeface="Arial" panose="020B0604020202020204" pitchFamily="34" charset="0"/>
              </a:defRPr>
            </a:lvl1pPr>
          </a:lstStyle>
          <a:p>
            <a:r>
              <a:rPr lang="en-US" dirty="0"/>
              <a:t>Title</a:t>
            </a:r>
          </a:p>
        </p:txBody>
      </p:sp>
      <p:sp>
        <p:nvSpPr>
          <p:cNvPr id="22" name="Rectangle 21">
            <a:extLst>
              <a:ext uri="{FF2B5EF4-FFF2-40B4-BE49-F238E27FC236}">
                <a16:creationId xmlns:a16="http://schemas.microsoft.com/office/drawing/2014/main" id="{1BB10CF5-D321-4A33-9189-7F1D80266327}"/>
              </a:ext>
            </a:extLst>
          </p:cNvPr>
          <p:cNvSpPr/>
          <p:nvPr userDrawn="1"/>
        </p:nvSpPr>
        <p:spPr>
          <a:xfrm>
            <a:off x="515361" y="872836"/>
            <a:ext cx="11186161" cy="1182471"/>
          </a:xfrm>
          <a:prstGeom prst="rect">
            <a:avLst/>
          </a:prstGeom>
          <a:solidFill>
            <a:srgbClr val="E2EE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37FCE313-58CB-40AB-9F14-8F8EEACB1F29}"/>
              </a:ext>
            </a:extLst>
          </p:cNvPr>
          <p:cNvSpPr>
            <a:spLocks noGrp="1"/>
          </p:cNvSpPr>
          <p:nvPr>
            <p:ph type="body" sz="quarter" idx="14"/>
          </p:nvPr>
        </p:nvSpPr>
        <p:spPr>
          <a:xfrm>
            <a:off x="503238" y="872836"/>
            <a:ext cx="11198225" cy="1182977"/>
          </a:xfrm>
        </p:spPr>
        <p:txBody>
          <a:bodyPr>
            <a:noAutofit/>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dirty="0"/>
              <a:t>Click to edit Master text styles</a:t>
            </a:r>
          </a:p>
          <a:p>
            <a:pPr lvl="2"/>
            <a:r>
              <a:rPr lang="en-US" dirty="0"/>
              <a:t>Second level</a:t>
            </a:r>
          </a:p>
        </p:txBody>
      </p:sp>
    </p:spTree>
    <p:extLst>
      <p:ext uri="{BB962C8B-B14F-4D97-AF65-F5344CB8AC3E}">
        <p14:creationId xmlns:p14="http://schemas.microsoft.com/office/powerpoint/2010/main" val="12340573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ilent 16:9 Image">
    <p:spTree>
      <p:nvGrpSpPr>
        <p:cNvPr id="1" name=""/>
        <p:cNvGrpSpPr/>
        <p:nvPr/>
      </p:nvGrpSpPr>
      <p:grpSpPr>
        <a:xfrm>
          <a:off x="0" y="0"/>
          <a:ext cx="0" cy="0"/>
          <a:chOff x="0" y="0"/>
          <a:chExt cx="0" cy="0"/>
        </a:xfrm>
      </p:grpSpPr>
      <p:sp>
        <p:nvSpPr>
          <p:cNvPr id="9" name="Picture Placeholder 8"/>
          <p:cNvSpPr>
            <a:spLocks noGrp="1"/>
          </p:cNvSpPr>
          <p:nvPr>
            <p:ph type="pic" sz="quarter" idx="14"/>
          </p:nvPr>
        </p:nvSpPr>
        <p:spPr>
          <a:xfrm>
            <a:off x="64" y="1368725"/>
            <a:ext cx="12191936" cy="5114351"/>
          </a:xfrm>
          <a:solidFill>
            <a:schemeClr val="bg2">
              <a:lumMod val="95000"/>
            </a:schemeClr>
          </a:solidFill>
        </p:spPr>
        <p:txBody>
          <a:bodyPr/>
          <a:lstStyle>
            <a:lvl1pPr>
              <a:defRPr/>
            </a:lvl1pPr>
          </a:lstStyle>
          <a:p>
            <a:r>
              <a:rPr lang="en-US"/>
              <a:t>Click icon to add picture</a:t>
            </a:r>
            <a:endParaRPr lang="en-US" dirty="0"/>
          </a:p>
        </p:txBody>
      </p:sp>
      <p:sp>
        <p:nvSpPr>
          <p:cNvPr id="4" name="Date Placeholder 3"/>
          <p:cNvSpPr>
            <a:spLocks noGrp="1"/>
          </p:cNvSpPr>
          <p:nvPr>
            <p:ph type="dt" sz="half" idx="10"/>
          </p:nvPr>
        </p:nvSpPr>
        <p:spPr>
          <a:xfrm>
            <a:off x="1097280" y="6616700"/>
            <a:ext cx="1060704" cy="118872"/>
          </a:xfrm>
        </p:spPr>
        <p:txBody>
          <a:bodyPr/>
          <a:lstStyle>
            <a:lvl1pPr algn="l">
              <a:defRPr sz="800">
                <a:solidFill>
                  <a:schemeClr val="bg1"/>
                </a:solidFill>
              </a:defRPr>
            </a:lvl1pPr>
          </a:lstStyle>
          <a:p>
            <a:fld id="{6E2BBD9C-62C5-471C-B155-4ED001679A87}" type="datetime4">
              <a:rPr lang="en-US" smtClean="0"/>
              <a:t>February 23, 2026</a:t>
            </a:fld>
            <a:endParaRPr lang="en-US" dirty="0"/>
          </a:p>
        </p:txBody>
      </p:sp>
      <p:sp>
        <p:nvSpPr>
          <p:cNvPr id="5" name="Footer Placeholder 4"/>
          <p:cNvSpPr>
            <a:spLocks noGrp="1"/>
          </p:cNvSpPr>
          <p:nvPr>
            <p:ph type="ftr" sz="quarter" idx="11"/>
          </p:nvPr>
        </p:nvSpPr>
        <p:spPr>
          <a:xfrm>
            <a:off x="2615184" y="6619947"/>
            <a:ext cx="5394960" cy="118872"/>
          </a:xfrm>
        </p:spPr>
        <p:txBody>
          <a:bodyPr/>
          <a:lstStyle>
            <a:lvl1pPr algn="l">
              <a:defRPr sz="800">
                <a:solidFill>
                  <a:schemeClr val="bg1"/>
                </a:solidFill>
              </a:defRPr>
            </a:lvl1pPr>
          </a:lstStyle>
          <a:p>
            <a:r>
              <a:rPr lang="en-US"/>
              <a:t>SLIMS Java API Training          R4526A-CU660         For Research Use Only. Not for use in diagnostic procedures.</a:t>
            </a:r>
            <a:endParaRPr lang="en-US" dirty="0"/>
          </a:p>
        </p:txBody>
      </p:sp>
      <p:sp>
        <p:nvSpPr>
          <p:cNvPr id="6" name="Slide Number Placeholder 5"/>
          <p:cNvSpPr>
            <a:spLocks noGrp="1"/>
          </p:cNvSpPr>
          <p:nvPr>
            <p:ph type="sldNum" sz="quarter" idx="12"/>
          </p:nvPr>
        </p:nvSpPr>
        <p:spPr>
          <a:xfrm>
            <a:off x="502920" y="6620256"/>
            <a:ext cx="438912" cy="118872"/>
          </a:xfrm>
        </p:spPr>
        <p:txBody>
          <a:bodyPr/>
          <a:lstStyle>
            <a:lvl1pPr>
              <a:defRPr sz="800"/>
            </a:lvl1pPr>
          </a:lstStyle>
          <a:p>
            <a:fld id="{CBD803B2-A378-42BD-B5EC-F7748F169FE0}" type="slidenum">
              <a:rPr lang="en-US" smtClean="0"/>
              <a:pPr/>
              <a:t>‹#›</a:t>
            </a:fld>
            <a:endParaRPr lang="en-US" dirty="0"/>
          </a:p>
        </p:txBody>
      </p:sp>
      <p:sp>
        <p:nvSpPr>
          <p:cNvPr id="8" name="Text Placeholder 58"/>
          <p:cNvSpPr>
            <a:spLocks noGrp="1"/>
          </p:cNvSpPr>
          <p:nvPr>
            <p:ph type="body" sz="quarter" idx="13" hasCustomPrompt="1"/>
          </p:nvPr>
        </p:nvSpPr>
        <p:spPr>
          <a:xfrm>
            <a:off x="503238" y="722247"/>
            <a:ext cx="11198284" cy="390099"/>
          </a:xfrm>
        </p:spPr>
        <p:txBody>
          <a:bodyPr/>
          <a:lstStyle>
            <a:lvl1pPr>
              <a:defRPr sz="2400">
                <a:solidFill>
                  <a:schemeClr val="tx2"/>
                </a:solidFill>
                <a:latin typeface="Arial" panose="020B0604020202020204" pitchFamily="34" charset="0"/>
                <a:ea typeface="Roboto" pitchFamily="2" charset="0"/>
              </a:defRPr>
            </a:lvl1pPr>
            <a:lvl2pPr>
              <a:defRPr>
                <a:solidFill>
                  <a:schemeClr val="tx2"/>
                </a:solidFill>
                <a:latin typeface="Arial" panose="020B0604020202020204" pitchFamily="34" charset="0"/>
                <a:ea typeface="Roboto" pitchFamily="2" charset="0"/>
              </a:defRPr>
            </a:lvl2pPr>
          </a:lstStyle>
          <a:p>
            <a:pPr lvl="0"/>
            <a:r>
              <a:rPr lang="en-US" dirty="0"/>
              <a:t>Subhead goes here</a:t>
            </a:r>
          </a:p>
          <a:p>
            <a:pPr lvl="1"/>
            <a:endParaRPr lang="en-US" dirty="0"/>
          </a:p>
        </p:txBody>
      </p:sp>
      <p:sp>
        <p:nvSpPr>
          <p:cNvPr id="10" name="Title 1"/>
          <p:cNvSpPr>
            <a:spLocks noGrp="1"/>
          </p:cNvSpPr>
          <p:nvPr>
            <p:ph type="title" hasCustomPrompt="1"/>
          </p:nvPr>
        </p:nvSpPr>
        <p:spPr>
          <a:xfrm>
            <a:off x="502919" y="246888"/>
            <a:ext cx="11198597" cy="484632"/>
          </a:xfrm>
        </p:spPr>
        <p:txBody>
          <a:bodyPr anchor="t" anchorCtr="0">
            <a:normAutofit/>
          </a:bodyPr>
          <a:lstStyle>
            <a:lvl1pPr>
              <a:defRPr sz="2800" b="0" i="0">
                <a:latin typeface="Arial" panose="020B0604020202020204" pitchFamily="34" charset="0"/>
                <a:ea typeface="Roboto Medium" panose="02000000000000000000" pitchFamily="2"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0775819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ilent 16:9 End">
    <p:spTree>
      <p:nvGrpSpPr>
        <p:cNvPr id="1" name=""/>
        <p:cNvGrpSpPr/>
        <p:nvPr/>
      </p:nvGrpSpPr>
      <p:grpSpPr>
        <a:xfrm>
          <a:off x="0" y="0"/>
          <a:ext cx="0" cy="0"/>
          <a:chOff x="0" y="0"/>
          <a:chExt cx="0" cy="0"/>
        </a:xfrm>
      </p:grpSpPr>
      <p:sp>
        <p:nvSpPr>
          <p:cNvPr id="22" name="Rectangle 21"/>
          <p:cNvSpPr/>
          <p:nvPr userDrawn="1"/>
        </p:nvSpPr>
        <p:spPr>
          <a:xfrm>
            <a:off x="7918824" y="-1"/>
            <a:ext cx="621169" cy="687294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30" name="Rectangle 29"/>
          <p:cNvSpPr/>
          <p:nvPr userDrawn="1"/>
        </p:nvSpPr>
        <p:spPr>
          <a:xfrm>
            <a:off x="-1" y="-1"/>
            <a:ext cx="7918825" cy="6872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Arial" panose="020B0604020202020204" pitchFamily="34" charset="0"/>
            </a:endParaRPr>
          </a:p>
        </p:txBody>
      </p:sp>
      <p:sp>
        <p:nvSpPr>
          <p:cNvPr id="31" name="Rectangle 30"/>
          <p:cNvSpPr/>
          <p:nvPr userDrawn="1"/>
        </p:nvSpPr>
        <p:spPr>
          <a:xfrm>
            <a:off x="10064080" y="-1"/>
            <a:ext cx="2127920" cy="6872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latin typeface="Arial" panose="020B0604020202020204" pitchFamily="34" charset="0"/>
            </a:endParaRPr>
          </a:p>
        </p:txBody>
      </p:sp>
      <p:sp>
        <p:nvSpPr>
          <p:cNvPr id="32" name="Rectangle 31"/>
          <p:cNvSpPr/>
          <p:nvPr userDrawn="1"/>
        </p:nvSpPr>
        <p:spPr>
          <a:xfrm>
            <a:off x="8539992" y="-1"/>
            <a:ext cx="1524087" cy="687294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 name="Title 1"/>
          <p:cNvSpPr>
            <a:spLocks noGrp="1"/>
          </p:cNvSpPr>
          <p:nvPr>
            <p:ph type="ctrTitle" hasCustomPrompt="1"/>
          </p:nvPr>
        </p:nvSpPr>
        <p:spPr bwMode="white">
          <a:xfrm>
            <a:off x="476103" y="1109600"/>
            <a:ext cx="7143939" cy="3850885"/>
          </a:xfrm>
        </p:spPr>
        <p:txBody>
          <a:bodyPr lIns="0" tIns="0" rIns="0" bIns="0" anchor="t" anchorCtr="0">
            <a:noAutofit/>
          </a:bodyPr>
          <a:lstStyle>
            <a:lvl1pPr algn="l">
              <a:defRPr sz="6000" b="0" i="0">
                <a:solidFill>
                  <a:schemeClr val="bg1"/>
                </a:solidFill>
                <a:latin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bwMode="white">
          <a:xfrm>
            <a:off x="476103" y="5092929"/>
            <a:ext cx="7143939" cy="1137771"/>
          </a:xfrm>
        </p:spPr>
        <p:txBody>
          <a:bodyPr lIns="0" tIns="0" rIns="0" bIns="0" anchor="t" anchorCtr="0">
            <a:normAutofit/>
          </a:bodyPr>
          <a:lstStyle>
            <a:lvl1pPr marL="0" indent="0" algn="l">
              <a:spcBef>
                <a:spcPts val="300"/>
              </a:spcBef>
              <a:buNone/>
              <a:defRPr sz="1800">
                <a:solidFill>
                  <a:schemeClr val="bg1"/>
                </a:solidFill>
                <a:latin typeface="Arial" panose="020B0604020202020204" pitchFamily="34" charset="0"/>
                <a:ea typeface="Roboto"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bwMode="gray">
          <a:xfrm>
            <a:off x="1097280" y="6621625"/>
            <a:ext cx="1060704" cy="118872"/>
          </a:xfrm>
        </p:spPr>
        <p:txBody>
          <a:bodyPr/>
          <a:lstStyle>
            <a:lvl1pPr algn="l">
              <a:defRPr sz="800">
                <a:solidFill>
                  <a:schemeClr val="bg1"/>
                </a:solidFill>
              </a:defRPr>
            </a:lvl1pPr>
          </a:lstStyle>
          <a:p>
            <a:fld id="{F25383BE-A949-4902-B6B8-6328782A848A}" type="datetime4">
              <a:rPr lang="en-US" smtClean="0"/>
              <a:t>February 23, 2026</a:t>
            </a:fld>
            <a:endParaRPr lang="en-US" dirty="0"/>
          </a:p>
        </p:txBody>
      </p:sp>
      <p:sp>
        <p:nvSpPr>
          <p:cNvPr id="5" name="Footer Placeholder 4"/>
          <p:cNvSpPr>
            <a:spLocks noGrp="1"/>
          </p:cNvSpPr>
          <p:nvPr>
            <p:ph type="ftr" sz="quarter" idx="11"/>
          </p:nvPr>
        </p:nvSpPr>
        <p:spPr bwMode="gray">
          <a:xfrm>
            <a:off x="2615184" y="6621625"/>
            <a:ext cx="4937760" cy="118872"/>
          </a:xfrm>
        </p:spPr>
        <p:txBody>
          <a:bodyPr/>
          <a:lstStyle>
            <a:lvl1pPr algn="l">
              <a:defRPr sz="800">
                <a:solidFill>
                  <a:schemeClr val="bg1"/>
                </a:solidFill>
              </a:defRPr>
            </a:lvl1pPr>
          </a:lstStyle>
          <a:p>
            <a:r>
              <a:rPr lang="en-US"/>
              <a:t>SLIMS Java API Training          R4526A-CU660         For Research Use Only. Not for use in diagnostic procedures.</a:t>
            </a:r>
            <a:endParaRPr lang="en-US" dirty="0"/>
          </a:p>
        </p:txBody>
      </p:sp>
      <p:sp>
        <p:nvSpPr>
          <p:cNvPr id="6" name="Slide Number Placeholder 5"/>
          <p:cNvSpPr>
            <a:spLocks noGrp="1"/>
          </p:cNvSpPr>
          <p:nvPr>
            <p:ph type="sldNum" sz="quarter" idx="12"/>
          </p:nvPr>
        </p:nvSpPr>
        <p:spPr bwMode="gray">
          <a:xfrm>
            <a:off x="502920" y="6621625"/>
            <a:ext cx="530352" cy="118872"/>
          </a:xfrm>
        </p:spPr>
        <p:txBody>
          <a:bodyPr/>
          <a:lstStyle>
            <a:lvl1pPr>
              <a:defRPr sz="800" b="1" i="0">
                <a:solidFill>
                  <a:schemeClr val="bg1"/>
                </a:solidFill>
                <a:latin typeface="Arial" panose="020B0604020202020204" pitchFamily="34" charset="0"/>
                <a:ea typeface="Roboto" pitchFamily="2" charset="0"/>
                <a:cs typeface="Arial" panose="020B0604020202020204" pitchFamily="34" charset="0"/>
              </a:defRPr>
            </a:lvl1pPr>
          </a:lstStyle>
          <a:p>
            <a:fld id="{CBD803B2-A378-42BD-B5EC-F7748F169FE0}" type="slidenum">
              <a:rPr lang="en-US" smtClean="0"/>
              <a:pPr/>
              <a:t>‹#›</a:t>
            </a:fld>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67544" y="283"/>
            <a:ext cx="2133424" cy="6857433"/>
          </a:xfrm>
          <a:prstGeom prst="rect">
            <a:avLst/>
          </a:prstGeom>
        </p:spPr>
      </p:pic>
    </p:spTree>
    <p:extLst>
      <p:ext uri="{BB962C8B-B14F-4D97-AF65-F5344CB8AC3E}">
        <p14:creationId xmlns:p14="http://schemas.microsoft.com/office/powerpoint/2010/main" val="27243109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Empty">
  <p:cSld name="Empty">
    <p:spTree>
      <p:nvGrpSpPr>
        <p:cNvPr id="1" name="Shape 86"/>
        <p:cNvGrpSpPr/>
        <p:nvPr/>
      </p:nvGrpSpPr>
      <p:grpSpPr>
        <a:xfrm>
          <a:off x="0" y="0"/>
          <a:ext cx="0" cy="0"/>
          <a:chOff x="0" y="0"/>
          <a:chExt cx="0" cy="0"/>
        </a:xfrm>
      </p:grpSpPr>
    </p:spTree>
    <p:extLst>
      <p:ext uri="{BB962C8B-B14F-4D97-AF65-F5344CB8AC3E}">
        <p14:creationId xmlns:p14="http://schemas.microsoft.com/office/powerpoint/2010/main" val="1434576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2" name="Group 11"/>
          <p:cNvGrpSpPr/>
          <p:nvPr userDrawn="1"/>
        </p:nvGrpSpPr>
        <p:grpSpPr>
          <a:xfrm>
            <a:off x="0" y="6482602"/>
            <a:ext cx="12192000" cy="377952"/>
            <a:chOff x="0" y="6482602"/>
            <a:chExt cx="12192000" cy="377952"/>
          </a:xfrm>
        </p:grpSpPr>
        <p:pic>
          <p:nvPicPr>
            <p:cNvPr id="13" name="Picture 12"/>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0" y="6482602"/>
              <a:ext cx="12192000" cy="377952"/>
            </a:xfrm>
            <a:prstGeom prst="rect">
              <a:avLst/>
            </a:prstGeom>
          </p:spPr>
        </p:pic>
        <p:pic>
          <p:nvPicPr>
            <p:cNvPr id="11" name="Picture 10"/>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504" y="6487228"/>
              <a:ext cx="12190992" cy="371825"/>
            </a:xfrm>
            <a:prstGeom prst="rect">
              <a:avLst/>
            </a:prstGeom>
          </p:spPr>
        </p:pic>
      </p:grpSp>
      <p:sp>
        <p:nvSpPr>
          <p:cNvPr id="2" name="Title Placeholder 1"/>
          <p:cNvSpPr>
            <a:spLocks noGrp="1"/>
          </p:cNvSpPr>
          <p:nvPr userDrawn="1">
            <p:ph type="title"/>
          </p:nvPr>
        </p:nvSpPr>
        <p:spPr>
          <a:xfrm>
            <a:off x="498491" y="248556"/>
            <a:ext cx="11194268" cy="905495"/>
          </a:xfrm>
          <a:prstGeom prst="rect">
            <a:avLst/>
          </a:prstGeom>
        </p:spPr>
        <p:txBody>
          <a:bodyPr vert="horz" lIns="0" tIns="45720" rIns="91440" bIns="45720" rtlCol="0" anchor="t" anchorCtr="0">
            <a:normAutofit/>
          </a:bodyPr>
          <a:lstStyle/>
          <a:p>
            <a:r>
              <a:rPr lang="en-US"/>
              <a:t>Click to edit Master title style</a:t>
            </a:r>
            <a:endParaRPr lang="en-US" dirty="0"/>
          </a:p>
        </p:txBody>
      </p:sp>
      <p:sp>
        <p:nvSpPr>
          <p:cNvPr id="3" name="Text Placeholder 2"/>
          <p:cNvSpPr>
            <a:spLocks noGrp="1"/>
          </p:cNvSpPr>
          <p:nvPr userDrawn="1">
            <p:ph type="body" idx="1"/>
          </p:nvPr>
        </p:nvSpPr>
        <p:spPr>
          <a:xfrm>
            <a:off x="498491" y="1291996"/>
            <a:ext cx="11194268" cy="4668376"/>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userDrawn="1">
            <p:ph type="ftr" sz="quarter" idx="3"/>
          </p:nvPr>
        </p:nvSpPr>
        <p:spPr bwMode="white">
          <a:xfrm>
            <a:off x="2614298" y="6620256"/>
            <a:ext cx="5303520" cy="118872"/>
          </a:xfrm>
          <a:prstGeom prst="rect">
            <a:avLst/>
          </a:prstGeom>
        </p:spPr>
        <p:txBody>
          <a:bodyPr vert="horz" lIns="0" tIns="0" rIns="0" bIns="0" rtlCol="0" anchor="ctr"/>
          <a:lstStyle>
            <a:lvl1pPr algn="l">
              <a:defRPr sz="800">
                <a:solidFill>
                  <a:schemeClr val="bg1"/>
                </a:solidFill>
                <a:latin typeface="Arial" panose="020B0604020202020204" pitchFamily="34" charset="0"/>
                <a:cs typeface="Arial" panose="020B0604020202020204" pitchFamily="34" charset="0"/>
              </a:defRPr>
            </a:lvl1pPr>
          </a:lstStyle>
          <a:p>
            <a:r>
              <a:rPr lang="en-US"/>
              <a:t>SLIMS Java API Training          R4526A-CU660         For Research Use Only. Not for use in diagnostic procedures.</a:t>
            </a:r>
            <a:endParaRPr lang="en-US" dirty="0"/>
          </a:p>
        </p:txBody>
      </p:sp>
      <p:sp>
        <p:nvSpPr>
          <p:cNvPr id="4" name="Date Placeholder 3"/>
          <p:cNvSpPr>
            <a:spLocks noGrp="1"/>
          </p:cNvSpPr>
          <p:nvPr userDrawn="1">
            <p:ph type="dt" sz="half" idx="2"/>
          </p:nvPr>
        </p:nvSpPr>
        <p:spPr bwMode="white">
          <a:xfrm>
            <a:off x="1092982" y="6620256"/>
            <a:ext cx="1055857" cy="118872"/>
          </a:xfrm>
          <a:prstGeom prst="rect">
            <a:avLst/>
          </a:prstGeom>
        </p:spPr>
        <p:txBody>
          <a:bodyPr vert="horz" lIns="0" tIns="0" rIns="0" bIns="0" rtlCol="0" anchor="ctr"/>
          <a:lstStyle>
            <a:lvl1pPr marL="0" algn="l" defTabSz="685800" rtl="0" eaLnBrk="1" latinLnBrk="0" hangingPunct="1">
              <a:defRPr lang="en-US" sz="800" kern="1200" smtClean="0">
                <a:solidFill>
                  <a:schemeClr val="bg1"/>
                </a:solidFill>
                <a:latin typeface="Arial" panose="020B0604020202020204" pitchFamily="34" charset="0"/>
                <a:ea typeface="+mn-ea"/>
                <a:cs typeface="Arial" panose="020B0604020202020204" pitchFamily="34" charset="0"/>
              </a:defRPr>
            </a:lvl1pPr>
          </a:lstStyle>
          <a:p>
            <a:fld id="{9927198E-7068-467F-92FB-2EC39D888D31}" type="datetime4">
              <a:rPr lang="en-US" smtClean="0"/>
              <a:t>February 23, 2026</a:t>
            </a:fld>
            <a:endParaRPr lang="en-US" dirty="0"/>
          </a:p>
        </p:txBody>
      </p:sp>
      <p:sp>
        <p:nvSpPr>
          <p:cNvPr id="6" name="Slide Number Placeholder 5"/>
          <p:cNvSpPr>
            <a:spLocks noGrp="1"/>
          </p:cNvSpPr>
          <p:nvPr userDrawn="1">
            <p:ph type="sldNum" sz="quarter" idx="4"/>
          </p:nvPr>
        </p:nvSpPr>
        <p:spPr bwMode="white">
          <a:xfrm>
            <a:off x="502920" y="6620256"/>
            <a:ext cx="434347" cy="118872"/>
          </a:xfrm>
          <a:prstGeom prst="rect">
            <a:avLst/>
          </a:prstGeom>
        </p:spPr>
        <p:txBody>
          <a:bodyPr vert="horz" lIns="0" tIns="0" rIns="0" bIns="0" rtlCol="0" anchor="ctr"/>
          <a:lstStyle>
            <a:lvl1pPr marL="0" algn="l" defTabSz="685800" rtl="0" eaLnBrk="1" latinLnBrk="0" hangingPunct="1">
              <a:defRPr lang="en-US" sz="800" b="0" i="0" kern="1200" smtClean="0">
                <a:solidFill>
                  <a:schemeClr val="bg1"/>
                </a:solidFill>
                <a:latin typeface="Arial" panose="020B0604020202020204" pitchFamily="34" charset="0"/>
                <a:ea typeface="Roboto" pitchFamily="2" charset="0"/>
                <a:cs typeface="Arial" panose="020B0604020202020204" pitchFamily="34" charset="0"/>
              </a:defRPr>
            </a:lvl1pPr>
          </a:lstStyle>
          <a:p>
            <a:fld id="{CBD803B2-A378-42BD-B5EC-F7748F169FE0}" type="slidenum">
              <a:rPr lang="en-US" smtClean="0"/>
              <a:pPr/>
              <a:t>‹#›</a:t>
            </a:fld>
            <a:endParaRPr lang="en-US" dirty="0"/>
          </a:p>
        </p:txBody>
      </p:sp>
    </p:spTree>
    <p:extLst>
      <p:ext uri="{BB962C8B-B14F-4D97-AF65-F5344CB8AC3E}">
        <p14:creationId xmlns:p14="http://schemas.microsoft.com/office/powerpoint/2010/main" val="3906870091"/>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802" r:id="rId5"/>
    <p:sldLayoutId id="2147483810" r:id="rId6"/>
    <p:sldLayoutId id="2147483811" r:id="rId7"/>
    <p:sldLayoutId id="2147483809" r:id="rId8"/>
    <p:sldLayoutId id="2147483799" r:id="rId9"/>
    <p:sldLayoutId id="2147483786" r:id="rId10"/>
    <p:sldLayoutId id="2147483795" r:id="rId11"/>
    <p:sldLayoutId id="2147483801" r:id="rId12"/>
    <p:sldLayoutId id="2147483808" r:id="rId13"/>
    <p:sldLayoutId id="2147483797" r:id="rId14"/>
    <p:sldLayoutId id="2147483798" r:id="rId15"/>
    <p:sldLayoutId id="2147483812" r:id="rId16"/>
  </p:sldLayoutIdLst>
  <p:hf hdr="0" dt="0"/>
  <p:txStyles>
    <p:titleStyle>
      <a:lvl1pPr algn="l" defTabSz="685800" rtl="0" eaLnBrk="1" latinLnBrk="0" hangingPunct="1">
        <a:lnSpc>
          <a:spcPct val="90000"/>
        </a:lnSpc>
        <a:spcBef>
          <a:spcPct val="0"/>
        </a:spcBef>
        <a:buNone/>
        <a:defRPr sz="2800" b="0" i="0" kern="1200">
          <a:solidFill>
            <a:schemeClr val="accent1"/>
          </a:solidFill>
          <a:latin typeface="Arial" panose="020B0604020202020204" pitchFamily="34" charset="0"/>
          <a:ea typeface="Roboto Medium" panose="02000000000000000000" pitchFamily="2" charset="0"/>
          <a:cs typeface="Arial" panose="020B0604020202020204" pitchFamily="34" charset="0"/>
        </a:defRPr>
      </a:lvl1pPr>
    </p:titleStyle>
    <p:bodyStyle>
      <a:lvl1pPr marL="0" indent="0" algn="l" defTabSz="685800" rtl="0" eaLnBrk="1" latinLnBrk="0" hangingPunct="1">
        <a:lnSpc>
          <a:spcPct val="90000"/>
        </a:lnSpc>
        <a:spcBef>
          <a:spcPts val="1200"/>
        </a:spcBef>
        <a:buFontTx/>
        <a:buNone/>
        <a:defRPr sz="2100" kern="1200">
          <a:solidFill>
            <a:schemeClr val="tx1"/>
          </a:solidFill>
          <a:latin typeface="Arial" panose="020B0604020202020204" pitchFamily="34" charset="0"/>
          <a:ea typeface="Roboto" panose="02000000000000000000" pitchFamily="2" charset="0"/>
          <a:cs typeface="Arial" panose="020B0604020202020204" pitchFamily="34" charset="0"/>
        </a:defRPr>
      </a:lvl1pPr>
      <a:lvl2pPr marL="173038" indent="-173038" algn="l" defTabSz="685800" rtl="0" eaLnBrk="1" latinLnBrk="0" hangingPunct="1">
        <a:lnSpc>
          <a:spcPct val="90000"/>
        </a:lnSpc>
        <a:spcBef>
          <a:spcPts val="600"/>
        </a:spcBef>
        <a:buClr>
          <a:schemeClr val="tx1"/>
        </a:buClr>
        <a:buFont typeface="Arial" panose="020B0604020202020204" pitchFamily="34" charset="0"/>
        <a:buChar char="•"/>
        <a:defRPr sz="1900" kern="1200">
          <a:solidFill>
            <a:schemeClr val="tx1"/>
          </a:solidFill>
          <a:latin typeface="Arial" panose="020B0604020202020204" pitchFamily="34" charset="0"/>
          <a:ea typeface="Roboto" panose="02000000000000000000" pitchFamily="2" charset="0"/>
          <a:cs typeface="Arial" panose="020B0604020202020204" pitchFamily="34" charset="0"/>
        </a:defRPr>
      </a:lvl2pPr>
      <a:lvl3pPr marL="457200" indent="-228600" algn="l" defTabSz="685800" rtl="0" eaLnBrk="1" latinLnBrk="0" hangingPunct="1">
        <a:lnSpc>
          <a:spcPct val="90000"/>
        </a:lnSpc>
        <a:spcBef>
          <a:spcPts val="600"/>
        </a:spcBef>
        <a:buClr>
          <a:schemeClr val="tx1"/>
        </a:buClr>
        <a:buFont typeface="Arial" panose="020B0604020202020204" pitchFamily="34" charset="0"/>
        <a:buChar char="–"/>
        <a:defRPr sz="1700" kern="1200">
          <a:solidFill>
            <a:schemeClr val="tx1"/>
          </a:solidFill>
          <a:latin typeface="Arial" panose="020B0604020202020204" pitchFamily="34" charset="0"/>
          <a:ea typeface="Roboto" panose="02000000000000000000" pitchFamily="2" charset="0"/>
          <a:cs typeface="Arial" panose="020B0604020202020204" pitchFamily="34" charset="0"/>
        </a:defRPr>
      </a:lvl3pPr>
      <a:lvl4pPr marL="627063" indent="-168275" algn="l" defTabSz="685800" rtl="0" eaLnBrk="1" latinLnBrk="0" hangingPunct="1">
        <a:lnSpc>
          <a:spcPct val="90000"/>
        </a:lnSpc>
        <a:spcBef>
          <a:spcPts val="600"/>
        </a:spcBef>
        <a:buClr>
          <a:schemeClr val="tx1"/>
        </a:buClr>
        <a:buFont typeface="Arial" panose="020B0604020202020204" pitchFamily="34" charset="0"/>
        <a:buChar char="•"/>
        <a:defRPr sz="1700" kern="1200">
          <a:solidFill>
            <a:schemeClr val="tx1"/>
          </a:solidFill>
          <a:latin typeface="Arial" panose="020B0604020202020204" pitchFamily="34" charset="0"/>
          <a:ea typeface="Roboto" panose="02000000000000000000" pitchFamily="2" charset="0"/>
          <a:cs typeface="Arial" panose="020B0604020202020204" pitchFamily="34" charset="0"/>
        </a:defRPr>
      </a:lvl4pPr>
      <a:lvl5pPr marL="857250" indent="-182563" algn="l" defTabSz="685800" rtl="0" eaLnBrk="1" latinLnBrk="0" hangingPunct="1">
        <a:lnSpc>
          <a:spcPct val="90000"/>
        </a:lnSpc>
        <a:spcBef>
          <a:spcPts val="600"/>
        </a:spcBef>
        <a:buClr>
          <a:schemeClr val="tx1"/>
        </a:buClr>
        <a:buFont typeface="Arial" panose="020B0604020202020204" pitchFamily="34" charset="0"/>
        <a:buChar char="–"/>
        <a:defRPr sz="1500" kern="1200">
          <a:solidFill>
            <a:schemeClr val="tx1"/>
          </a:solidFill>
          <a:latin typeface="Arial" panose="020B0604020202020204" pitchFamily="34" charset="0"/>
          <a:ea typeface="Roboto" panose="02000000000000000000" pitchFamily="2" charset="0"/>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3" orient="horz" pos="2160">
          <p15:clr>
            <a:srgbClr val="F26B43"/>
          </p15:clr>
        </p15:guide>
        <p15:guide id="14" pos="6720">
          <p15:clr>
            <a:srgbClr val="F26B43"/>
          </p15:clr>
        </p15:guide>
        <p15:guide id="15" orient="horz" pos="912">
          <p15:clr>
            <a:srgbClr val="F26B43"/>
          </p15:clr>
        </p15:guide>
        <p15:guide id="16" orient="horz" pos="192">
          <p15:clr>
            <a:srgbClr val="F26B43"/>
          </p15:clr>
        </p15:guide>
        <p15:guide id="17" orient="horz" pos="3888">
          <p15:clr>
            <a:srgbClr val="F26B43"/>
          </p15:clr>
        </p15:guide>
        <p15:guide id="18" pos="312">
          <p15:clr>
            <a:srgbClr val="F26B43"/>
          </p15:clr>
        </p15:guide>
        <p15:guide id="19" pos="7488">
          <p15:clr>
            <a:srgbClr val="F26B43"/>
          </p15:clr>
        </p15:guide>
        <p15:guide id="20" orient="horz" pos="1008">
          <p15:clr>
            <a:srgbClr val="F26B43"/>
          </p15:clr>
        </p15:guide>
        <p15:guide id="21" orient="horz" pos="4032">
          <p15:clr>
            <a:srgbClr val="F26B43"/>
          </p15:clr>
        </p15:guide>
        <p15:guide id="22" pos="3840">
          <p15:clr>
            <a:srgbClr val="F26B43"/>
          </p15:clr>
        </p15:guide>
        <p15:guide id="23" orient="horz" pos="4272">
          <p15:clr>
            <a:srgbClr val="F26B43"/>
          </p15:clr>
        </p15:guide>
        <p15:guide id="24" pos="68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hyperlink" Target="https://cglu-test.fra.slims.agilent.com/slims/slimsrest/v1/swagger-ui/index.html" TargetMode="External"/><Relationship Id="rId7" Type="http://schemas.openxmlformats.org/officeDocument/2006/relationships/image" Target="../media/image16.sv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19.svg"/></Relationships>
</file>

<file path=ppt/slides/_rels/slide6.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hyperlink" Target="https://github.com/genohm/slims-python-api" TargetMode="External"/><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9.svg"/><Relationship Id="rId4" Type="http://schemas.openxmlformats.org/officeDocument/2006/relationships/hyperlink" Target="https://readthedocs.org/projects/slims-python-api/" TargetMode="External"/><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hyperlink" Target="https://camel.apache.org/components/2.x/index.html" TargetMode="External"/><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9.svg"/><Relationship Id="rId4" Type="http://schemas.openxmlformats.org/officeDocument/2006/relationships/hyperlink" Target="https://spring.io/" TargetMode="External"/><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hyperlink" Target="https://github.com/genohm/slims-api" TargetMode="External"/><Relationship Id="rId7" Type="http://schemas.openxmlformats.org/officeDocument/2006/relationships/image" Target="../media/image16.sv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19.sv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22.png"/><Relationship Id="rId5" Type="http://schemas.microsoft.com/office/2007/relationships/hdphoto" Target="../media/hdphoto1.wdp"/><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mvnrepository.com/" TargetMode="External"/><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1.xml"/><Relationship Id="rId5" Type="http://schemas.openxmlformats.org/officeDocument/2006/relationships/image" Target="../media/image27.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1.xml"/><Relationship Id="rId5" Type="http://schemas.openxmlformats.org/officeDocument/2006/relationships/image" Target="../media/image28.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hyperlink" Target="https://camel.apache.org/components/3.16.x/index.html"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SLIMS Java API Training</a:t>
            </a:r>
          </a:p>
        </p:txBody>
      </p:sp>
      <p:sp>
        <p:nvSpPr>
          <p:cNvPr id="3" name="Subtitle 2"/>
          <p:cNvSpPr>
            <a:spLocks noGrp="1"/>
          </p:cNvSpPr>
          <p:nvPr>
            <p:ph type="subTitle" idx="1"/>
          </p:nvPr>
        </p:nvSpPr>
        <p:spPr/>
        <p:txBody>
          <a:bodyPr/>
          <a:lstStyle/>
          <a:p>
            <a:r>
              <a:rPr lang="en-US" b="0" dirty="0"/>
              <a:t>Manon REIST</a:t>
            </a:r>
          </a:p>
          <a:p>
            <a:r>
              <a:rPr lang="en-US" sz="1600" b="0" dirty="0"/>
              <a:t>SLIMS Technical Lead</a:t>
            </a:r>
          </a:p>
          <a:p>
            <a:r>
              <a:rPr lang="en-US" sz="1600" b="0" dirty="0"/>
              <a:t>Februar</a:t>
            </a:r>
            <a:r>
              <a:rPr lang="en-US" sz="1600" dirty="0"/>
              <a:t>y 23</a:t>
            </a:r>
            <a:r>
              <a:rPr lang="en-US" sz="1600" baseline="30000" dirty="0"/>
              <a:t>rd</a:t>
            </a:r>
            <a:r>
              <a:rPr lang="en-US" sz="1600" dirty="0"/>
              <a:t> – March 2</a:t>
            </a:r>
            <a:r>
              <a:rPr lang="en-US" sz="1600" baseline="30000" dirty="0"/>
              <a:t>nd</a:t>
            </a:r>
            <a:r>
              <a:rPr lang="en-US" sz="1600" dirty="0"/>
              <a:t> 2026</a:t>
            </a:r>
            <a:endParaRPr lang="en-US" sz="1600" b="0" dirty="0"/>
          </a:p>
        </p:txBody>
      </p:sp>
      <p:sp>
        <p:nvSpPr>
          <p:cNvPr id="17" name="Text Placeholder 16"/>
          <p:cNvSpPr>
            <a:spLocks noGrp="1"/>
          </p:cNvSpPr>
          <p:nvPr>
            <p:ph type="body" sz="quarter" idx="13"/>
          </p:nvPr>
        </p:nvSpPr>
        <p:spPr/>
        <p:txBody>
          <a:bodyPr/>
          <a:lstStyle/>
          <a:p>
            <a:r>
              <a:rPr lang="en-US" dirty="0"/>
              <a:t>Customization Training Series</a:t>
            </a:r>
          </a:p>
        </p:txBody>
      </p:sp>
      <p:sp>
        <p:nvSpPr>
          <p:cNvPr id="7" name="Rectangle 6">
            <a:extLst>
              <a:ext uri="{FF2B5EF4-FFF2-40B4-BE49-F238E27FC236}">
                <a16:creationId xmlns:a16="http://schemas.microsoft.com/office/drawing/2014/main" id="{03494AB1-712C-498F-883C-F7ABDA4EC0E8}"/>
              </a:ext>
            </a:extLst>
          </p:cNvPr>
          <p:cNvSpPr/>
          <p:nvPr/>
        </p:nvSpPr>
        <p:spPr>
          <a:xfrm>
            <a:off x="5486400" y="0"/>
            <a:ext cx="303307" cy="6858000"/>
          </a:xfrm>
          <a:prstGeom prst="rect">
            <a:avLst/>
          </a:prstGeom>
          <a:solidFill>
            <a:srgbClr val="00B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38FECEEB-A8CF-4FE9-9E8E-214519779666}"/>
              </a:ext>
            </a:extLst>
          </p:cNvPr>
          <p:cNvSpPr>
            <a:spLocks noGrp="1"/>
          </p:cNvSpPr>
          <p:nvPr>
            <p:ph type="sldNum" sz="quarter" idx="12"/>
          </p:nvPr>
        </p:nvSpPr>
        <p:spPr/>
        <p:txBody>
          <a:bodyPr/>
          <a:lstStyle/>
          <a:p>
            <a:fld id="{CBD803B2-A378-42BD-B5EC-F7748F169FE0}" type="slidenum">
              <a:rPr lang="en-US" smtClean="0"/>
              <a:pPr/>
              <a:t>1</a:t>
            </a:fld>
            <a:endParaRPr lang="en-US" dirty="0"/>
          </a:p>
        </p:txBody>
      </p:sp>
      <p:pic>
        <p:nvPicPr>
          <p:cNvPr id="10" name="Picture 9">
            <a:extLst>
              <a:ext uri="{FF2B5EF4-FFF2-40B4-BE49-F238E27FC236}">
                <a16:creationId xmlns:a16="http://schemas.microsoft.com/office/drawing/2014/main" id="{4994163C-7480-48FA-977E-45DA59F81A0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485" r="13128"/>
          <a:stretch/>
        </p:blipFill>
        <p:spPr>
          <a:xfrm>
            <a:off x="6381750" y="3844"/>
            <a:ext cx="3686175" cy="6871153"/>
          </a:xfrm>
          <a:prstGeom prst="rect">
            <a:avLst/>
          </a:prstGeom>
        </p:spPr>
      </p:pic>
      <p:sp>
        <p:nvSpPr>
          <p:cNvPr id="4" name="Footer Placeholder 3">
            <a:extLst>
              <a:ext uri="{FF2B5EF4-FFF2-40B4-BE49-F238E27FC236}">
                <a16:creationId xmlns:a16="http://schemas.microsoft.com/office/drawing/2014/main" id="{8E4ACE0A-E09B-4871-B059-52244054178F}"/>
              </a:ext>
            </a:extLst>
          </p:cNvPr>
          <p:cNvSpPr>
            <a:spLocks noGrp="1"/>
          </p:cNvSpPr>
          <p:nvPr>
            <p:ph type="ftr" sz="quarter" idx="11"/>
          </p:nvPr>
        </p:nvSpPr>
        <p:spPr/>
        <p:txBody>
          <a:bodyPr/>
          <a:lstStyle/>
          <a:p>
            <a:r>
              <a:rPr lang="en-US"/>
              <a:t>R4526A-CU660                                                              For Research Use Only. Not for use in diagnostic procedures.</a:t>
            </a:r>
            <a:endParaRPr lang="en-US" dirty="0"/>
          </a:p>
        </p:txBody>
      </p:sp>
    </p:spTree>
    <p:extLst>
      <p:ext uri="{BB962C8B-B14F-4D97-AF65-F5344CB8AC3E}">
        <p14:creationId xmlns:p14="http://schemas.microsoft.com/office/powerpoint/2010/main" val="107018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CDBC3E-4C10-44C7-A3D0-8AF5D8A5F234}"/>
              </a:ext>
            </a:extLst>
          </p:cNvPr>
          <p:cNvSpPr>
            <a:spLocks noGrp="1"/>
          </p:cNvSpPr>
          <p:nvPr>
            <p:ph idx="1"/>
          </p:nvPr>
        </p:nvSpPr>
        <p:spPr/>
        <p:txBody>
          <a:bodyPr/>
          <a:lstStyle/>
          <a:p>
            <a:pPr marL="342900" lvl="0" indent="-342900">
              <a:spcBef>
                <a:spcPts val="0"/>
              </a:spcBef>
              <a:buClr>
                <a:srgbClr val="595959"/>
              </a:buClr>
              <a:buSzPts val="2000"/>
              <a:buFont typeface="Arial" panose="020B0604020202020204" pitchFamily="34" charset="0"/>
              <a:buChar char="•"/>
            </a:pPr>
            <a:r>
              <a:rPr lang="en-US" sz="2400" dirty="0">
                <a:solidFill>
                  <a:srgbClr val="595959"/>
                </a:solidFill>
                <a:latin typeface="+mj-lt"/>
                <a:ea typeface="Open Sans" panose="020B0606030504020204" pitchFamily="34" charset="0"/>
                <a:cs typeface="Open Sans" panose="020B0606030504020204" pitchFamily="34" charset="0"/>
                <a:sym typeface="Open Sans"/>
              </a:rPr>
              <a:t>Introduction</a:t>
            </a:r>
            <a:endParaRPr lang="en-US" sz="2400" dirty="0">
              <a:latin typeface="+mj-lt"/>
              <a:ea typeface="Open Sans" panose="020B0606030504020204" pitchFamily="34" charset="0"/>
              <a:cs typeface="Open Sans" panose="020B0606030504020204" pitchFamily="34" charset="0"/>
              <a:sym typeface="Open Sans"/>
            </a:endParaRPr>
          </a:p>
          <a:p>
            <a:pPr marL="342900" lvl="0" indent="-342900">
              <a:spcBef>
                <a:spcPts val="0"/>
              </a:spcBef>
              <a:buClr>
                <a:srgbClr val="595959"/>
              </a:buClr>
              <a:buSzPts val="2000"/>
              <a:buFont typeface="Arial" panose="020B0604020202020204" pitchFamily="34" charset="0"/>
              <a:buChar char="•"/>
            </a:pPr>
            <a:r>
              <a:rPr lang="en-US" sz="2400" dirty="0">
                <a:solidFill>
                  <a:srgbClr val="595959"/>
                </a:solidFill>
                <a:latin typeface="+mj-lt"/>
                <a:ea typeface="Open Sans" panose="020B0606030504020204" pitchFamily="34" charset="0"/>
                <a:cs typeface="Open Sans" panose="020B0606030504020204" pitchFamily="34" charset="0"/>
                <a:sym typeface="Open Sans"/>
              </a:rPr>
              <a:t>Architecture and technology</a:t>
            </a:r>
          </a:p>
          <a:p>
            <a:pPr marL="342900" lvl="0" indent="-342900">
              <a:spcBef>
                <a:spcPts val="0"/>
              </a:spcBef>
              <a:buClr>
                <a:srgbClr val="595959"/>
              </a:buClr>
              <a:buSzPts val="2000"/>
              <a:buFont typeface="Arial" panose="020B0604020202020204" pitchFamily="34" charset="0"/>
              <a:buChar char="•"/>
            </a:pPr>
            <a:r>
              <a:rPr lang="en-US" sz="2400" dirty="0">
                <a:solidFill>
                  <a:srgbClr val="595959"/>
                </a:solidFill>
                <a:latin typeface="+mj-lt"/>
                <a:ea typeface="Open Sans" panose="020B0606030504020204" pitchFamily="34" charset="0"/>
                <a:cs typeface="Open Sans" panose="020B0606030504020204" pitchFamily="34" charset="0"/>
                <a:sym typeface="Open Sans"/>
              </a:rPr>
              <a:t>Set up your local environment</a:t>
            </a:r>
          </a:p>
          <a:p>
            <a:pPr marL="342900" lvl="0" indent="-342900">
              <a:spcBef>
                <a:spcPts val="0"/>
              </a:spcBef>
              <a:buClr>
                <a:srgbClr val="595959"/>
              </a:buClr>
              <a:buSzPts val="2000"/>
              <a:buFont typeface="Arial" panose="020B0604020202020204" pitchFamily="34" charset="0"/>
              <a:buChar char="•"/>
            </a:pPr>
            <a:r>
              <a:rPr lang="en-US" sz="2400" dirty="0">
                <a:solidFill>
                  <a:srgbClr val="595959"/>
                </a:solidFill>
                <a:latin typeface="+mj-lt"/>
                <a:ea typeface="Open Sans" panose="020B0606030504020204" pitchFamily="34" charset="0"/>
                <a:cs typeface="Open Sans" panose="020B0606030504020204" pitchFamily="34" charset="0"/>
                <a:sym typeface="Open Sans"/>
              </a:rPr>
              <a:t>Demo of SLIMS Java API</a:t>
            </a:r>
            <a:endParaRPr lang="en-US" sz="2400" dirty="0">
              <a:latin typeface="+mj-lt"/>
              <a:ea typeface="Open Sans" panose="020B0606030504020204" pitchFamily="34" charset="0"/>
              <a:cs typeface="Open Sans" panose="020B0606030504020204" pitchFamily="34" charset="0"/>
              <a:sym typeface="Open Sans"/>
            </a:endParaRPr>
          </a:p>
          <a:p>
            <a:pPr marL="342900" lvl="0" indent="-342900">
              <a:spcBef>
                <a:spcPts val="0"/>
              </a:spcBef>
              <a:buClr>
                <a:srgbClr val="595959"/>
              </a:buClr>
              <a:buSzPts val="2000"/>
              <a:buFont typeface="Arial" panose="020B0604020202020204" pitchFamily="34" charset="0"/>
              <a:buChar char="•"/>
            </a:pPr>
            <a:r>
              <a:rPr lang="en-US" sz="2400" dirty="0">
                <a:solidFill>
                  <a:srgbClr val="595959"/>
                </a:solidFill>
                <a:latin typeface="+mj-lt"/>
                <a:ea typeface="Open Sans" panose="020B0606030504020204" pitchFamily="34" charset="0"/>
                <a:cs typeface="Open Sans" panose="020B0606030504020204" pitchFamily="34" charset="0"/>
                <a:sym typeface="Open Sans"/>
              </a:rPr>
              <a:t>Try yourself</a:t>
            </a:r>
          </a:p>
          <a:p>
            <a:pPr marL="342900" lvl="0" indent="-342900">
              <a:spcBef>
                <a:spcPts val="0"/>
              </a:spcBef>
              <a:buClr>
                <a:srgbClr val="595959"/>
              </a:buClr>
              <a:buSzPts val="2000"/>
              <a:buFont typeface="Arial" panose="020B0604020202020204" pitchFamily="34" charset="0"/>
              <a:buChar char="•"/>
            </a:pPr>
            <a:r>
              <a:rPr lang="en-US" sz="2400" dirty="0">
                <a:solidFill>
                  <a:srgbClr val="595959"/>
                </a:solidFill>
                <a:latin typeface="+mj-lt"/>
                <a:ea typeface="Open Sans" panose="020B0606030504020204" pitchFamily="34" charset="0"/>
                <a:cs typeface="Open Sans" panose="020B0606030504020204" pitchFamily="34" charset="0"/>
                <a:sym typeface="Open Sans"/>
              </a:rPr>
              <a:t>Best practices</a:t>
            </a:r>
            <a:endParaRPr lang="en-US" sz="1400" dirty="0">
              <a:solidFill>
                <a:srgbClr val="595959"/>
              </a:solidFill>
              <a:latin typeface="+mj-lt"/>
              <a:ea typeface="Open Sans"/>
              <a:cs typeface="Open Sans"/>
              <a:sym typeface="Open Sans"/>
            </a:endParaRPr>
          </a:p>
        </p:txBody>
      </p:sp>
      <p:sp>
        <p:nvSpPr>
          <p:cNvPr id="5" name="Title 4">
            <a:extLst>
              <a:ext uri="{FF2B5EF4-FFF2-40B4-BE49-F238E27FC236}">
                <a16:creationId xmlns:a16="http://schemas.microsoft.com/office/drawing/2014/main" id="{B68F1BD6-6917-4468-B3BD-A6A183474EE7}"/>
              </a:ext>
            </a:extLst>
          </p:cNvPr>
          <p:cNvSpPr>
            <a:spLocks noGrp="1"/>
          </p:cNvSpPr>
          <p:nvPr>
            <p:ph type="title"/>
          </p:nvPr>
        </p:nvSpPr>
        <p:spPr/>
        <p:txBody>
          <a:bodyPr/>
          <a:lstStyle/>
          <a:p>
            <a:r>
              <a:rPr lang="en-US" dirty="0"/>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5EDB4-B01F-6B0B-0016-284897866D31}"/>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5E47116A-E0A4-F07B-EC70-4B9BE371EC13}"/>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5" name="Slide Number Placeholder 4">
            <a:extLst>
              <a:ext uri="{FF2B5EF4-FFF2-40B4-BE49-F238E27FC236}">
                <a16:creationId xmlns:a16="http://schemas.microsoft.com/office/drawing/2014/main" id="{FE224882-B71C-4D5E-3E95-F99B666D92F2}"/>
              </a:ext>
            </a:extLst>
          </p:cNvPr>
          <p:cNvSpPr>
            <a:spLocks noGrp="1"/>
          </p:cNvSpPr>
          <p:nvPr>
            <p:ph type="sldNum" sz="quarter" idx="12"/>
          </p:nvPr>
        </p:nvSpPr>
        <p:spPr/>
        <p:txBody>
          <a:bodyPr/>
          <a:lstStyle/>
          <a:p>
            <a:fld id="{3DC502AB-CAB1-460E-959E-ECF1712112BC}" type="slidenum">
              <a:rPr lang="en-US" smtClean="0"/>
              <a:pPr/>
              <a:t>3</a:t>
            </a:fld>
            <a:endParaRPr lang="en-US" dirty="0"/>
          </a:p>
        </p:txBody>
      </p:sp>
      <p:sp>
        <p:nvSpPr>
          <p:cNvPr id="168" name="Text Placeholder 167">
            <a:extLst>
              <a:ext uri="{FF2B5EF4-FFF2-40B4-BE49-F238E27FC236}">
                <a16:creationId xmlns:a16="http://schemas.microsoft.com/office/drawing/2014/main" id="{68B35652-72F3-E819-0538-C02A4702C504}"/>
              </a:ext>
            </a:extLst>
          </p:cNvPr>
          <p:cNvSpPr>
            <a:spLocks noGrp="1"/>
          </p:cNvSpPr>
          <p:nvPr>
            <p:ph type="body" sz="quarter" idx="13"/>
          </p:nvPr>
        </p:nvSpPr>
        <p:spPr/>
        <p:txBody>
          <a:bodyPr>
            <a:normAutofit lnSpcReduction="10000"/>
          </a:bodyPr>
          <a:lstStyle/>
          <a:p>
            <a:r>
              <a:rPr lang="en-US" dirty="0"/>
              <a:t>On prem deployments</a:t>
            </a:r>
          </a:p>
        </p:txBody>
      </p:sp>
      <p:sp>
        <p:nvSpPr>
          <p:cNvPr id="3" name="Title 2">
            <a:extLst>
              <a:ext uri="{FF2B5EF4-FFF2-40B4-BE49-F238E27FC236}">
                <a16:creationId xmlns:a16="http://schemas.microsoft.com/office/drawing/2014/main" id="{10917E7A-D81E-D47A-7FA6-2B2C0A331B29}"/>
              </a:ext>
            </a:extLst>
          </p:cNvPr>
          <p:cNvSpPr>
            <a:spLocks noGrp="1"/>
          </p:cNvSpPr>
          <p:nvPr>
            <p:ph type="title"/>
          </p:nvPr>
        </p:nvSpPr>
        <p:spPr>
          <a:xfrm>
            <a:off x="502919" y="234063"/>
            <a:ext cx="11198597" cy="484632"/>
          </a:xfrm>
        </p:spPr>
        <p:txBody>
          <a:bodyPr>
            <a:normAutofit/>
          </a:bodyPr>
          <a:lstStyle/>
          <a:p>
            <a:r>
              <a:rPr lang="en-US" dirty="0"/>
              <a:t>SLIMS Architecture</a:t>
            </a:r>
          </a:p>
        </p:txBody>
      </p:sp>
      <p:sp>
        <p:nvSpPr>
          <p:cNvPr id="9" name="Rectangle: Rounded Corners 8">
            <a:extLst>
              <a:ext uri="{FF2B5EF4-FFF2-40B4-BE49-F238E27FC236}">
                <a16:creationId xmlns:a16="http://schemas.microsoft.com/office/drawing/2014/main" id="{62B4D140-B162-ECF2-2B44-458D374DD342}"/>
              </a:ext>
            </a:extLst>
          </p:cNvPr>
          <p:cNvSpPr/>
          <p:nvPr/>
        </p:nvSpPr>
        <p:spPr>
          <a:xfrm>
            <a:off x="4901162" y="4331622"/>
            <a:ext cx="2562444" cy="627320"/>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Folder outline">
            <a:extLst>
              <a:ext uri="{FF2B5EF4-FFF2-40B4-BE49-F238E27FC236}">
                <a16:creationId xmlns:a16="http://schemas.microsoft.com/office/drawing/2014/main" id="{306835F3-6B0D-D53A-3427-692BE27E5EB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07618" y="5367503"/>
            <a:ext cx="914400" cy="982268"/>
          </a:xfrm>
          <a:prstGeom prst="rect">
            <a:avLst/>
          </a:prstGeom>
        </p:spPr>
      </p:pic>
      <p:pic>
        <p:nvPicPr>
          <p:cNvPr id="18" name="Graphic 17" descr="Database outline">
            <a:extLst>
              <a:ext uri="{FF2B5EF4-FFF2-40B4-BE49-F238E27FC236}">
                <a16:creationId xmlns:a16="http://schemas.microsoft.com/office/drawing/2014/main" id="{92E3BBA5-4B50-8F87-6F3F-C54EE6184BF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699795" y="5435856"/>
            <a:ext cx="914400" cy="914400"/>
          </a:xfrm>
          <a:prstGeom prst="rect">
            <a:avLst/>
          </a:prstGeom>
        </p:spPr>
      </p:pic>
      <p:sp>
        <p:nvSpPr>
          <p:cNvPr id="19" name="Rectangle: Rounded Corners 18">
            <a:extLst>
              <a:ext uri="{FF2B5EF4-FFF2-40B4-BE49-F238E27FC236}">
                <a16:creationId xmlns:a16="http://schemas.microsoft.com/office/drawing/2014/main" id="{DA6F25F6-2519-605B-3082-4C01AF02C690}"/>
              </a:ext>
            </a:extLst>
          </p:cNvPr>
          <p:cNvSpPr/>
          <p:nvPr/>
        </p:nvSpPr>
        <p:spPr>
          <a:xfrm>
            <a:off x="1921156" y="2554599"/>
            <a:ext cx="8540176" cy="1426147"/>
          </a:xfrm>
          <a:prstGeom prst="roundRect">
            <a:avLst>
              <a:gd name="adj" fmla="val 29740"/>
            </a:avLst>
          </a:prstGeom>
          <a:noFill/>
          <a:ln w="19050">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Graphic 20" descr="Gears outline">
            <a:extLst>
              <a:ext uri="{FF2B5EF4-FFF2-40B4-BE49-F238E27FC236}">
                <a16:creationId xmlns:a16="http://schemas.microsoft.com/office/drawing/2014/main" id="{F6D412C3-51C6-905A-943E-90076CD87E3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443967">
            <a:off x="7472789" y="4351676"/>
            <a:ext cx="567486" cy="567486"/>
          </a:xfrm>
          <a:prstGeom prst="rect">
            <a:avLst/>
          </a:prstGeom>
        </p:spPr>
      </p:pic>
      <p:pic>
        <p:nvPicPr>
          <p:cNvPr id="22" name="Graphic 21" descr="Gears outline">
            <a:extLst>
              <a:ext uri="{FF2B5EF4-FFF2-40B4-BE49-F238E27FC236}">
                <a16:creationId xmlns:a16="http://schemas.microsoft.com/office/drawing/2014/main" id="{261C35DE-2220-1A0B-10B1-B28240A073C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7144992">
            <a:off x="4334519" y="4298712"/>
            <a:ext cx="567486" cy="567486"/>
          </a:xfrm>
          <a:prstGeom prst="rect">
            <a:avLst/>
          </a:prstGeom>
        </p:spPr>
      </p:pic>
      <p:sp>
        <p:nvSpPr>
          <p:cNvPr id="23" name="TextBox 22">
            <a:extLst>
              <a:ext uri="{FF2B5EF4-FFF2-40B4-BE49-F238E27FC236}">
                <a16:creationId xmlns:a16="http://schemas.microsoft.com/office/drawing/2014/main" id="{D678E3C7-99F4-3C11-B668-0B3451F60975}"/>
              </a:ext>
            </a:extLst>
          </p:cNvPr>
          <p:cNvSpPr txBox="1"/>
          <p:nvPr/>
        </p:nvSpPr>
        <p:spPr>
          <a:xfrm>
            <a:off x="3494691" y="5610871"/>
            <a:ext cx="788999" cy="430887"/>
          </a:xfrm>
          <a:prstGeom prst="rect">
            <a:avLst/>
          </a:prstGeom>
          <a:noFill/>
        </p:spPr>
        <p:txBody>
          <a:bodyPr wrap="none" rtlCol="0">
            <a:spAutoFit/>
          </a:bodyPr>
          <a:lstStyle/>
          <a:p>
            <a:pPr defTabSz="274320"/>
            <a:endParaRPr lang="en-US" sz="1100" dirty="0"/>
          </a:p>
          <a:p>
            <a:pPr defTabSz="274320"/>
            <a:r>
              <a:rPr lang="en-US" sz="1100" dirty="0"/>
              <a:t>Database</a:t>
            </a:r>
          </a:p>
        </p:txBody>
      </p:sp>
      <p:sp>
        <p:nvSpPr>
          <p:cNvPr id="24" name="TextBox 23">
            <a:extLst>
              <a:ext uri="{FF2B5EF4-FFF2-40B4-BE49-F238E27FC236}">
                <a16:creationId xmlns:a16="http://schemas.microsoft.com/office/drawing/2014/main" id="{8A51D550-D36E-4C85-E317-460DF02CA0BA}"/>
              </a:ext>
            </a:extLst>
          </p:cNvPr>
          <p:cNvSpPr txBox="1"/>
          <p:nvPr/>
        </p:nvSpPr>
        <p:spPr>
          <a:xfrm>
            <a:off x="7259518" y="2517656"/>
            <a:ext cx="1290738" cy="261610"/>
          </a:xfrm>
          <a:prstGeom prst="rect">
            <a:avLst/>
          </a:prstGeom>
          <a:noFill/>
          <a:ln>
            <a:noFill/>
          </a:ln>
        </p:spPr>
        <p:txBody>
          <a:bodyPr wrap="none" rtlCol="0">
            <a:spAutoFit/>
          </a:bodyPr>
          <a:lstStyle/>
          <a:p>
            <a:pPr defTabSz="274320"/>
            <a:r>
              <a:rPr lang="en-US" sz="1100" dirty="0" err="1">
                <a:solidFill>
                  <a:schemeClr val="accent4"/>
                </a:solidFill>
              </a:rPr>
              <a:t>Hazelcast</a:t>
            </a:r>
            <a:r>
              <a:rPr lang="en-US" sz="1100" dirty="0">
                <a:solidFill>
                  <a:schemeClr val="accent4"/>
                </a:solidFill>
              </a:rPr>
              <a:t> Cluster</a:t>
            </a:r>
          </a:p>
        </p:txBody>
      </p:sp>
      <p:sp>
        <p:nvSpPr>
          <p:cNvPr id="25" name="TextBox 24">
            <a:extLst>
              <a:ext uri="{FF2B5EF4-FFF2-40B4-BE49-F238E27FC236}">
                <a16:creationId xmlns:a16="http://schemas.microsoft.com/office/drawing/2014/main" id="{6B71D7E6-C870-0750-F14F-BAD85FDEA4FC}"/>
              </a:ext>
            </a:extLst>
          </p:cNvPr>
          <p:cNvSpPr txBox="1"/>
          <p:nvPr/>
        </p:nvSpPr>
        <p:spPr>
          <a:xfrm>
            <a:off x="9567758" y="5727832"/>
            <a:ext cx="946093" cy="261610"/>
          </a:xfrm>
          <a:prstGeom prst="rect">
            <a:avLst/>
          </a:prstGeom>
          <a:noFill/>
        </p:spPr>
        <p:txBody>
          <a:bodyPr wrap="none" rtlCol="0">
            <a:spAutoFit/>
          </a:bodyPr>
          <a:lstStyle/>
          <a:p>
            <a:pPr defTabSz="274320"/>
            <a:r>
              <a:rPr lang="en-US" sz="1100" dirty="0"/>
              <a:t>File Storage</a:t>
            </a:r>
          </a:p>
        </p:txBody>
      </p:sp>
      <p:sp>
        <p:nvSpPr>
          <p:cNvPr id="29" name="TextBox 28">
            <a:extLst>
              <a:ext uri="{FF2B5EF4-FFF2-40B4-BE49-F238E27FC236}">
                <a16:creationId xmlns:a16="http://schemas.microsoft.com/office/drawing/2014/main" id="{B401DB71-833D-FC33-9413-404785257FD5}"/>
              </a:ext>
            </a:extLst>
          </p:cNvPr>
          <p:cNvSpPr txBox="1"/>
          <p:nvPr/>
        </p:nvSpPr>
        <p:spPr>
          <a:xfrm>
            <a:off x="5683577" y="4504614"/>
            <a:ext cx="982961" cy="261610"/>
          </a:xfrm>
          <a:prstGeom prst="rect">
            <a:avLst/>
          </a:prstGeom>
          <a:noFill/>
        </p:spPr>
        <p:txBody>
          <a:bodyPr wrap="none" rtlCol="0">
            <a:spAutoFit/>
          </a:bodyPr>
          <a:lstStyle/>
          <a:p>
            <a:pPr algn="ctr" defTabSz="274320"/>
            <a:r>
              <a:rPr lang="en-US" sz="1100" dirty="0"/>
              <a:t>Platform-API</a:t>
            </a:r>
          </a:p>
        </p:txBody>
      </p:sp>
      <p:cxnSp>
        <p:nvCxnSpPr>
          <p:cNvPr id="36" name="Connector: Elbow 35">
            <a:extLst>
              <a:ext uri="{FF2B5EF4-FFF2-40B4-BE49-F238E27FC236}">
                <a16:creationId xmlns:a16="http://schemas.microsoft.com/office/drawing/2014/main" id="{E4C574C6-BDA9-217E-34D7-B6A74062C343}"/>
              </a:ext>
            </a:extLst>
          </p:cNvPr>
          <p:cNvCxnSpPr>
            <a:stCxn id="18" idx="0"/>
            <a:endCxn id="16" idx="0"/>
          </p:cNvCxnSpPr>
          <p:nvPr/>
        </p:nvCxnSpPr>
        <p:spPr>
          <a:xfrm rot="5400000" flipH="1" flipV="1">
            <a:off x="6126730" y="2397769"/>
            <a:ext cx="68353" cy="6007823"/>
          </a:xfrm>
          <a:prstGeom prst="bentConnector3">
            <a:avLst>
              <a:gd name="adj1" fmla="val 37222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F9BC24A-9581-4320-EB5B-DE2B3D7852F5}"/>
              </a:ext>
            </a:extLst>
          </p:cNvPr>
          <p:cNvCxnSpPr>
            <a:cxnSpLocks/>
            <a:stCxn id="9" idx="2"/>
          </p:cNvCxnSpPr>
          <p:nvPr/>
        </p:nvCxnSpPr>
        <p:spPr>
          <a:xfrm>
            <a:off x="6182384" y="4958942"/>
            <a:ext cx="0" cy="22328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F5729D76-3949-778D-3F2C-65A630E7E05C}"/>
              </a:ext>
            </a:extLst>
          </p:cNvPr>
          <p:cNvSpPr/>
          <p:nvPr/>
        </p:nvSpPr>
        <p:spPr>
          <a:xfrm>
            <a:off x="6828916" y="1782152"/>
            <a:ext cx="1269379" cy="476324"/>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387C857-0F4D-C6B7-BDDC-FC7EFD71C5EF}"/>
              </a:ext>
            </a:extLst>
          </p:cNvPr>
          <p:cNvSpPr txBox="1"/>
          <p:nvPr/>
        </p:nvSpPr>
        <p:spPr>
          <a:xfrm>
            <a:off x="7028909" y="1881302"/>
            <a:ext cx="898003" cy="261610"/>
          </a:xfrm>
          <a:prstGeom prst="rect">
            <a:avLst/>
          </a:prstGeom>
          <a:noFill/>
        </p:spPr>
        <p:txBody>
          <a:bodyPr wrap="square" rtlCol="0">
            <a:spAutoFit/>
          </a:bodyPr>
          <a:lstStyle/>
          <a:p>
            <a:pPr algn="ctr" defTabSz="274320"/>
            <a:r>
              <a:rPr lang="en-US" sz="1100" dirty="0"/>
              <a:t>Python-API</a:t>
            </a:r>
          </a:p>
        </p:txBody>
      </p:sp>
      <p:cxnSp>
        <p:nvCxnSpPr>
          <p:cNvPr id="56" name="Connector: Elbow 55">
            <a:extLst>
              <a:ext uri="{FF2B5EF4-FFF2-40B4-BE49-F238E27FC236}">
                <a16:creationId xmlns:a16="http://schemas.microsoft.com/office/drawing/2014/main" id="{45C718A9-80BC-C166-07D9-124B9D438606}"/>
              </a:ext>
            </a:extLst>
          </p:cNvPr>
          <p:cNvCxnSpPr>
            <a:cxnSpLocks/>
            <a:stCxn id="63" idx="2"/>
            <a:endCxn id="15" idx="2"/>
          </p:cNvCxnSpPr>
          <p:nvPr/>
        </p:nvCxnSpPr>
        <p:spPr>
          <a:xfrm rot="16200000" flipH="1">
            <a:off x="6017768" y="539151"/>
            <a:ext cx="164150" cy="6214089"/>
          </a:xfrm>
          <a:prstGeom prst="bentConnector3">
            <a:avLst>
              <a:gd name="adj1" fmla="val 325917"/>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4F340747-D196-8BC8-0171-CD2325B70D0D}"/>
              </a:ext>
            </a:extLst>
          </p:cNvPr>
          <p:cNvCxnSpPr>
            <a:cxnSpLocks/>
            <a:endCxn id="9" idx="0"/>
          </p:cNvCxnSpPr>
          <p:nvPr/>
        </p:nvCxnSpPr>
        <p:spPr>
          <a:xfrm>
            <a:off x="6182384" y="4099560"/>
            <a:ext cx="0" cy="232062"/>
          </a:xfrm>
          <a:prstGeom prst="straightConnector1">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CAFFA041-34C1-36CE-3B35-F56E1A9032C2}"/>
              </a:ext>
            </a:extLst>
          </p:cNvPr>
          <p:cNvSpPr/>
          <p:nvPr/>
        </p:nvSpPr>
        <p:spPr>
          <a:xfrm>
            <a:off x="8475160" y="2803235"/>
            <a:ext cx="1733108" cy="754912"/>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D10CE8E4-8E5B-E14B-8353-402E1C43888B}"/>
              </a:ext>
            </a:extLst>
          </p:cNvPr>
          <p:cNvSpPr/>
          <p:nvPr/>
        </p:nvSpPr>
        <p:spPr>
          <a:xfrm>
            <a:off x="8407747" y="2888297"/>
            <a:ext cx="1733108" cy="754912"/>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6963516D-9C60-4AA2-4F00-0A2303AE5609}"/>
              </a:ext>
            </a:extLst>
          </p:cNvPr>
          <p:cNvSpPr/>
          <p:nvPr/>
        </p:nvSpPr>
        <p:spPr>
          <a:xfrm>
            <a:off x="8340334" y="2973359"/>
            <a:ext cx="1733108" cy="754912"/>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35837F2-6270-9CF9-A7AB-041C670013F9}"/>
              </a:ext>
            </a:extLst>
          </p:cNvPr>
          <p:cNvSpPr txBox="1"/>
          <p:nvPr/>
        </p:nvSpPr>
        <p:spPr>
          <a:xfrm>
            <a:off x="8246649" y="3106018"/>
            <a:ext cx="1883849" cy="430887"/>
          </a:xfrm>
          <a:prstGeom prst="rect">
            <a:avLst/>
          </a:prstGeom>
          <a:noFill/>
        </p:spPr>
        <p:txBody>
          <a:bodyPr wrap="none" rtlCol="0">
            <a:spAutoFit/>
          </a:bodyPr>
          <a:lstStyle/>
          <a:p>
            <a:pPr algn="ctr" defTabSz="274320"/>
            <a:r>
              <a:rPr lang="en-US" sz="1100" dirty="0"/>
              <a:t>SLIMS GATE Plugins</a:t>
            </a:r>
          </a:p>
          <a:p>
            <a:pPr algn="ctr" defTabSz="274320"/>
            <a:r>
              <a:rPr lang="en-US" sz="1100" dirty="0"/>
              <a:t>(Apache, Camel, Java API)</a:t>
            </a:r>
          </a:p>
        </p:txBody>
      </p:sp>
      <p:grpSp>
        <p:nvGrpSpPr>
          <p:cNvPr id="47" name="Group 46">
            <a:extLst>
              <a:ext uri="{FF2B5EF4-FFF2-40B4-BE49-F238E27FC236}">
                <a16:creationId xmlns:a16="http://schemas.microsoft.com/office/drawing/2014/main" id="{D3FE3D4D-55C1-6143-4A1A-CDA68D2F83CC}"/>
              </a:ext>
            </a:extLst>
          </p:cNvPr>
          <p:cNvGrpSpPr/>
          <p:nvPr/>
        </p:nvGrpSpPr>
        <p:grpSpPr>
          <a:xfrm>
            <a:off x="7924846" y="524860"/>
            <a:ext cx="2562444" cy="977406"/>
            <a:chOff x="5241757" y="1145949"/>
            <a:chExt cx="2562444" cy="1016653"/>
          </a:xfrm>
        </p:grpSpPr>
        <p:sp>
          <p:nvSpPr>
            <p:cNvPr id="8" name="Rectangle: Rounded Corners 7">
              <a:extLst>
                <a:ext uri="{FF2B5EF4-FFF2-40B4-BE49-F238E27FC236}">
                  <a16:creationId xmlns:a16="http://schemas.microsoft.com/office/drawing/2014/main" id="{D79BFA81-C565-991D-F9BF-A64FCF2988A6}"/>
                </a:ext>
              </a:extLst>
            </p:cNvPr>
            <p:cNvSpPr/>
            <p:nvPr/>
          </p:nvSpPr>
          <p:spPr>
            <a:xfrm>
              <a:off x="5241757" y="1145949"/>
              <a:ext cx="2562444" cy="1016653"/>
            </a:xfrm>
            <a:prstGeom prst="roundRect">
              <a:avLst>
                <a:gd name="adj" fmla="val 18236"/>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3DD0D263-08F2-6B27-A5A0-F54AFA2CF8F9}"/>
                </a:ext>
              </a:extLst>
            </p:cNvPr>
            <p:cNvSpPr txBox="1"/>
            <p:nvPr/>
          </p:nvSpPr>
          <p:spPr>
            <a:xfrm>
              <a:off x="5857767" y="1231011"/>
              <a:ext cx="1189749" cy="307777"/>
            </a:xfrm>
            <a:prstGeom prst="rect">
              <a:avLst/>
            </a:prstGeom>
            <a:noFill/>
          </p:spPr>
          <p:txBody>
            <a:bodyPr wrap="none" rtlCol="0">
              <a:spAutoFit/>
            </a:bodyPr>
            <a:lstStyle/>
            <a:p>
              <a:pPr algn="ctr" defTabSz="274320"/>
              <a:r>
                <a:rPr lang="en-US" sz="1400" dirty="0"/>
                <a:t>Lab Network</a:t>
              </a:r>
            </a:p>
          </p:txBody>
        </p:sp>
        <p:sp>
          <p:nvSpPr>
            <p:cNvPr id="33" name="TextBox 32">
              <a:extLst>
                <a:ext uri="{FF2B5EF4-FFF2-40B4-BE49-F238E27FC236}">
                  <a16:creationId xmlns:a16="http://schemas.microsoft.com/office/drawing/2014/main" id="{A57F57E4-7052-624F-88B7-F06EBFCA956C}"/>
                </a:ext>
              </a:extLst>
            </p:cNvPr>
            <p:cNvSpPr txBox="1"/>
            <p:nvPr/>
          </p:nvSpPr>
          <p:spPr>
            <a:xfrm>
              <a:off x="5670680" y="1454252"/>
              <a:ext cx="1040671" cy="600164"/>
            </a:xfrm>
            <a:prstGeom prst="rect">
              <a:avLst/>
            </a:prstGeom>
            <a:noFill/>
          </p:spPr>
          <p:txBody>
            <a:bodyPr wrap="none" rtlCol="0">
              <a:spAutoFit/>
            </a:bodyPr>
            <a:lstStyle/>
            <a:p>
              <a:pPr marL="171450" indent="-171450" defTabSz="274320">
                <a:buFontTx/>
                <a:buChar char="-"/>
              </a:pPr>
              <a:r>
                <a:rPr lang="en-US" sz="1100" dirty="0"/>
                <a:t>Printers</a:t>
              </a:r>
            </a:p>
            <a:p>
              <a:pPr marL="171450" indent="-171450" defTabSz="274320">
                <a:buFontTx/>
                <a:buChar char="-"/>
              </a:pPr>
              <a:r>
                <a:rPr lang="en-US" sz="1100" dirty="0"/>
                <a:t>HL7</a:t>
              </a:r>
            </a:p>
            <a:p>
              <a:pPr marL="171450" indent="-171450" defTabSz="274320">
                <a:buFontTx/>
                <a:buChar char="-"/>
              </a:pPr>
              <a:r>
                <a:rPr lang="en-US" sz="1100" dirty="0"/>
                <a:t>Sequencer</a:t>
              </a:r>
            </a:p>
          </p:txBody>
        </p:sp>
        <p:sp>
          <p:nvSpPr>
            <p:cNvPr id="34" name="TextBox 33">
              <a:extLst>
                <a:ext uri="{FF2B5EF4-FFF2-40B4-BE49-F238E27FC236}">
                  <a16:creationId xmlns:a16="http://schemas.microsoft.com/office/drawing/2014/main" id="{945A35CC-A13A-5748-C27C-89712B7B9F1C}"/>
                </a:ext>
              </a:extLst>
            </p:cNvPr>
            <p:cNvSpPr txBox="1"/>
            <p:nvPr/>
          </p:nvSpPr>
          <p:spPr>
            <a:xfrm>
              <a:off x="6625865" y="1454252"/>
              <a:ext cx="625492" cy="600164"/>
            </a:xfrm>
            <a:prstGeom prst="rect">
              <a:avLst/>
            </a:prstGeom>
            <a:noFill/>
          </p:spPr>
          <p:txBody>
            <a:bodyPr wrap="none" rtlCol="0">
              <a:spAutoFit/>
            </a:bodyPr>
            <a:lstStyle/>
            <a:p>
              <a:pPr marL="171450" indent="-171450" defTabSz="274320">
                <a:buFontTx/>
                <a:buChar char="-"/>
              </a:pPr>
              <a:r>
                <a:rPr lang="en-US" sz="1100" dirty="0"/>
                <a:t>Mail</a:t>
              </a:r>
            </a:p>
            <a:p>
              <a:pPr marL="171450" indent="-171450" defTabSz="274320">
                <a:buFontTx/>
                <a:buChar char="-"/>
              </a:pPr>
              <a:r>
                <a:rPr lang="en-US" sz="1100" dirty="0"/>
                <a:t>FTP</a:t>
              </a:r>
            </a:p>
            <a:p>
              <a:pPr defTabSz="274320"/>
              <a:endParaRPr lang="en-US" sz="1100" dirty="0"/>
            </a:p>
          </p:txBody>
        </p:sp>
      </p:grpSp>
      <p:cxnSp>
        <p:nvCxnSpPr>
          <p:cNvPr id="46" name="Straight Arrow Connector 45">
            <a:extLst>
              <a:ext uri="{FF2B5EF4-FFF2-40B4-BE49-F238E27FC236}">
                <a16:creationId xmlns:a16="http://schemas.microsoft.com/office/drawing/2014/main" id="{BC6C26FC-E5D5-7E61-DB83-A80FC6579911}"/>
              </a:ext>
            </a:extLst>
          </p:cNvPr>
          <p:cNvCxnSpPr>
            <a:cxnSpLocks/>
            <a:stCxn id="8" idx="2"/>
          </p:cNvCxnSpPr>
          <p:nvPr/>
        </p:nvCxnSpPr>
        <p:spPr>
          <a:xfrm>
            <a:off x="9206068" y="1502266"/>
            <a:ext cx="17784" cy="1435235"/>
          </a:xfrm>
          <a:prstGeom prst="straightConnector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9" name="Connector: Elbow 78">
            <a:extLst>
              <a:ext uri="{FF2B5EF4-FFF2-40B4-BE49-F238E27FC236}">
                <a16:creationId xmlns:a16="http://schemas.microsoft.com/office/drawing/2014/main" id="{427D4AB1-EC08-D79E-6FC3-AD022FF303CC}"/>
              </a:ext>
            </a:extLst>
          </p:cNvPr>
          <p:cNvCxnSpPr/>
          <p:nvPr/>
        </p:nvCxnSpPr>
        <p:spPr>
          <a:xfrm>
            <a:off x="802309" y="5134379"/>
            <a:ext cx="457200" cy="9569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Connector: Elbow 79">
            <a:extLst>
              <a:ext uri="{FF2B5EF4-FFF2-40B4-BE49-F238E27FC236}">
                <a16:creationId xmlns:a16="http://schemas.microsoft.com/office/drawing/2014/main" id="{8A45A2FE-22DC-C62A-7C8C-AD7011EC9B33}"/>
              </a:ext>
            </a:extLst>
          </p:cNvPr>
          <p:cNvCxnSpPr/>
          <p:nvPr/>
        </p:nvCxnSpPr>
        <p:spPr>
          <a:xfrm>
            <a:off x="802309" y="5388011"/>
            <a:ext cx="457200" cy="95693"/>
          </a:xfrm>
          <a:prstGeom prst="bentConnector3">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64730CC-B82E-00BB-BB68-11BCB2A2C696}"/>
              </a:ext>
            </a:extLst>
          </p:cNvPr>
          <p:cNvSpPr txBox="1"/>
          <p:nvPr/>
        </p:nvSpPr>
        <p:spPr>
          <a:xfrm>
            <a:off x="1259509" y="5099267"/>
            <a:ext cx="899605" cy="246221"/>
          </a:xfrm>
          <a:prstGeom prst="rect">
            <a:avLst/>
          </a:prstGeom>
          <a:noFill/>
        </p:spPr>
        <p:txBody>
          <a:bodyPr wrap="none" rtlCol="0">
            <a:spAutoFit/>
          </a:bodyPr>
          <a:lstStyle/>
          <a:p>
            <a:pPr defTabSz="274320"/>
            <a:r>
              <a:rPr lang="en-US" sz="1000" dirty="0"/>
              <a:t>Dependency</a:t>
            </a:r>
          </a:p>
        </p:txBody>
      </p:sp>
      <p:sp>
        <p:nvSpPr>
          <p:cNvPr id="82" name="TextBox 81">
            <a:extLst>
              <a:ext uri="{FF2B5EF4-FFF2-40B4-BE49-F238E27FC236}">
                <a16:creationId xmlns:a16="http://schemas.microsoft.com/office/drawing/2014/main" id="{2B20003C-67DB-EB5E-FD3C-FE7311F0A057}"/>
              </a:ext>
            </a:extLst>
          </p:cNvPr>
          <p:cNvSpPr txBox="1"/>
          <p:nvPr/>
        </p:nvSpPr>
        <p:spPr>
          <a:xfrm>
            <a:off x="1271597" y="5360593"/>
            <a:ext cx="1072730" cy="246221"/>
          </a:xfrm>
          <a:prstGeom prst="rect">
            <a:avLst/>
          </a:prstGeom>
          <a:noFill/>
        </p:spPr>
        <p:txBody>
          <a:bodyPr wrap="none" rtlCol="0">
            <a:spAutoFit/>
          </a:bodyPr>
          <a:lstStyle/>
          <a:p>
            <a:pPr defTabSz="274320"/>
            <a:r>
              <a:rPr lang="en-US" sz="1000" dirty="0"/>
              <a:t>Communication</a:t>
            </a:r>
          </a:p>
        </p:txBody>
      </p:sp>
      <p:grpSp>
        <p:nvGrpSpPr>
          <p:cNvPr id="88" name="Group 87">
            <a:extLst>
              <a:ext uri="{FF2B5EF4-FFF2-40B4-BE49-F238E27FC236}">
                <a16:creationId xmlns:a16="http://schemas.microsoft.com/office/drawing/2014/main" id="{A3F2B37A-A746-A242-186A-E554C2100DF8}"/>
              </a:ext>
            </a:extLst>
          </p:cNvPr>
          <p:cNvGrpSpPr/>
          <p:nvPr/>
        </p:nvGrpSpPr>
        <p:grpSpPr>
          <a:xfrm>
            <a:off x="3970597" y="2973359"/>
            <a:ext cx="1259890" cy="569334"/>
            <a:chOff x="2620772" y="2855931"/>
            <a:chExt cx="1408283" cy="754912"/>
          </a:xfrm>
        </p:grpSpPr>
        <p:sp>
          <p:nvSpPr>
            <p:cNvPr id="49" name="Rectangle: Rounded Corners 48">
              <a:extLst>
                <a:ext uri="{FF2B5EF4-FFF2-40B4-BE49-F238E27FC236}">
                  <a16:creationId xmlns:a16="http://schemas.microsoft.com/office/drawing/2014/main" id="{86E26393-7ADA-566C-9E07-C86A2BA2211A}"/>
                </a:ext>
              </a:extLst>
            </p:cNvPr>
            <p:cNvSpPr/>
            <p:nvPr/>
          </p:nvSpPr>
          <p:spPr>
            <a:xfrm>
              <a:off x="2620772" y="2855931"/>
              <a:ext cx="1408283" cy="754912"/>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5E9B95E1-4AB8-18E2-6532-F42F0C956398}"/>
                </a:ext>
              </a:extLst>
            </p:cNvPr>
            <p:cNvSpPr txBox="1"/>
            <p:nvPr/>
          </p:nvSpPr>
          <p:spPr>
            <a:xfrm>
              <a:off x="2959136" y="3048677"/>
              <a:ext cx="756938" cy="261610"/>
            </a:xfrm>
            <a:prstGeom prst="rect">
              <a:avLst/>
            </a:prstGeom>
            <a:noFill/>
          </p:spPr>
          <p:txBody>
            <a:bodyPr wrap="none" rtlCol="0">
              <a:spAutoFit/>
            </a:bodyPr>
            <a:lstStyle/>
            <a:p>
              <a:pPr algn="ctr" defTabSz="274320"/>
              <a:r>
                <a:rPr lang="en-US" sz="1100" dirty="0"/>
                <a:t>SLIMS-R</a:t>
              </a:r>
            </a:p>
          </p:txBody>
        </p:sp>
      </p:grpSp>
      <p:grpSp>
        <p:nvGrpSpPr>
          <p:cNvPr id="89" name="Group 88">
            <a:extLst>
              <a:ext uri="{FF2B5EF4-FFF2-40B4-BE49-F238E27FC236}">
                <a16:creationId xmlns:a16="http://schemas.microsoft.com/office/drawing/2014/main" id="{449B188B-2782-9E07-8A43-381A9C6B30A0}"/>
              </a:ext>
            </a:extLst>
          </p:cNvPr>
          <p:cNvGrpSpPr/>
          <p:nvPr/>
        </p:nvGrpSpPr>
        <p:grpSpPr>
          <a:xfrm>
            <a:off x="4268153" y="1782152"/>
            <a:ext cx="1338356" cy="476324"/>
            <a:chOff x="2168020" y="1497035"/>
            <a:chExt cx="1338356" cy="569333"/>
          </a:xfrm>
        </p:grpSpPr>
        <p:sp>
          <p:nvSpPr>
            <p:cNvPr id="58" name="Rectangle: Rounded Corners 57">
              <a:extLst>
                <a:ext uri="{FF2B5EF4-FFF2-40B4-BE49-F238E27FC236}">
                  <a16:creationId xmlns:a16="http://schemas.microsoft.com/office/drawing/2014/main" id="{7A927CD2-ADEA-A7F1-B78D-426FEF672E25}"/>
                </a:ext>
              </a:extLst>
            </p:cNvPr>
            <p:cNvSpPr/>
            <p:nvPr/>
          </p:nvSpPr>
          <p:spPr>
            <a:xfrm>
              <a:off x="2187065" y="1497035"/>
              <a:ext cx="1319311" cy="569333"/>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3DBBC63A-0D14-E7EC-3A47-E9FD518571E3}"/>
                </a:ext>
              </a:extLst>
            </p:cNvPr>
            <p:cNvSpPr txBox="1"/>
            <p:nvPr/>
          </p:nvSpPr>
          <p:spPr>
            <a:xfrm>
              <a:off x="2418308" y="1541771"/>
              <a:ext cx="764953" cy="261610"/>
            </a:xfrm>
            <a:prstGeom prst="rect">
              <a:avLst/>
            </a:prstGeom>
            <a:noFill/>
          </p:spPr>
          <p:txBody>
            <a:bodyPr wrap="none" rtlCol="0">
              <a:spAutoFit/>
            </a:bodyPr>
            <a:lstStyle/>
            <a:p>
              <a:pPr algn="ctr" defTabSz="274320"/>
              <a:r>
                <a:rPr lang="en-US" sz="1100" dirty="0"/>
                <a:t>Bench UI</a:t>
              </a:r>
            </a:p>
          </p:txBody>
        </p:sp>
        <p:sp>
          <p:nvSpPr>
            <p:cNvPr id="62" name="TextBox 61">
              <a:extLst>
                <a:ext uri="{FF2B5EF4-FFF2-40B4-BE49-F238E27FC236}">
                  <a16:creationId xmlns:a16="http://schemas.microsoft.com/office/drawing/2014/main" id="{6149230C-4C2B-37DF-0590-89E2D939C08F}"/>
                </a:ext>
              </a:extLst>
            </p:cNvPr>
            <p:cNvSpPr txBox="1"/>
            <p:nvPr/>
          </p:nvSpPr>
          <p:spPr>
            <a:xfrm>
              <a:off x="2168020" y="1768986"/>
              <a:ext cx="1319311" cy="230832"/>
            </a:xfrm>
            <a:prstGeom prst="rect">
              <a:avLst/>
            </a:prstGeom>
            <a:noFill/>
          </p:spPr>
          <p:txBody>
            <a:bodyPr wrap="square">
              <a:spAutoFit/>
            </a:bodyPr>
            <a:lstStyle/>
            <a:p>
              <a:pPr algn="ctr" defTabSz="274320"/>
              <a:r>
                <a:rPr lang="en-US" sz="900" dirty="0"/>
                <a:t>Frontend</a:t>
              </a:r>
            </a:p>
          </p:txBody>
        </p:sp>
      </p:grpSp>
      <p:grpSp>
        <p:nvGrpSpPr>
          <p:cNvPr id="120" name="Group 119">
            <a:extLst>
              <a:ext uri="{FF2B5EF4-FFF2-40B4-BE49-F238E27FC236}">
                <a16:creationId xmlns:a16="http://schemas.microsoft.com/office/drawing/2014/main" id="{2E64506B-B0CB-C5F2-7575-B5B0A5669FB6}"/>
              </a:ext>
            </a:extLst>
          </p:cNvPr>
          <p:cNvGrpSpPr/>
          <p:nvPr/>
        </p:nvGrpSpPr>
        <p:grpSpPr>
          <a:xfrm>
            <a:off x="2239824" y="2994788"/>
            <a:ext cx="1505950" cy="569333"/>
            <a:chOff x="455627" y="4138685"/>
            <a:chExt cx="1701210" cy="569333"/>
          </a:xfrm>
        </p:grpSpPr>
        <p:sp>
          <p:nvSpPr>
            <p:cNvPr id="63" name="Rectangle: Rounded Corners 62">
              <a:extLst>
                <a:ext uri="{FF2B5EF4-FFF2-40B4-BE49-F238E27FC236}">
                  <a16:creationId xmlns:a16="http://schemas.microsoft.com/office/drawing/2014/main" id="{BFA3DBED-026C-3B80-99DF-80F93B3B2D48}"/>
                </a:ext>
              </a:extLst>
            </p:cNvPr>
            <p:cNvSpPr/>
            <p:nvPr/>
          </p:nvSpPr>
          <p:spPr>
            <a:xfrm>
              <a:off x="455627" y="4138685"/>
              <a:ext cx="1701210" cy="569333"/>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D1F2BBAE-8053-A2E7-6219-DE55F3B2D489}"/>
                </a:ext>
              </a:extLst>
            </p:cNvPr>
            <p:cNvSpPr txBox="1"/>
            <p:nvPr/>
          </p:nvSpPr>
          <p:spPr>
            <a:xfrm>
              <a:off x="684727" y="4210194"/>
              <a:ext cx="1226618" cy="261610"/>
            </a:xfrm>
            <a:prstGeom prst="rect">
              <a:avLst/>
            </a:prstGeom>
            <a:noFill/>
          </p:spPr>
          <p:txBody>
            <a:bodyPr wrap="none" rtlCol="0">
              <a:spAutoFit/>
            </a:bodyPr>
            <a:lstStyle/>
            <a:p>
              <a:pPr algn="ctr" defTabSz="274320"/>
              <a:r>
                <a:rPr lang="en-US" sz="1100" dirty="0"/>
                <a:t>Requester portal</a:t>
              </a:r>
            </a:p>
          </p:txBody>
        </p:sp>
        <p:sp>
          <p:nvSpPr>
            <p:cNvPr id="68" name="TextBox 67">
              <a:extLst>
                <a:ext uri="{FF2B5EF4-FFF2-40B4-BE49-F238E27FC236}">
                  <a16:creationId xmlns:a16="http://schemas.microsoft.com/office/drawing/2014/main" id="{F0252A8D-9490-DA9F-D729-829861E9D602}"/>
                </a:ext>
              </a:extLst>
            </p:cNvPr>
            <p:cNvSpPr txBox="1"/>
            <p:nvPr/>
          </p:nvSpPr>
          <p:spPr>
            <a:xfrm>
              <a:off x="642266" y="4410636"/>
              <a:ext cx="1319311" cy="230832"/>
            </a:xfrm>
            <a:prstGeom prst="rect">
              <a:avLst/>
            </a:prstGeom>
            <a:noFill/>
          </p:spPr>
          <p:txBody>
            <a:bodyPr wrap="square">
              <a:spAutoFit/>
            </a:bodyPr>
            <a:lstStyle/>
            <a:p>
              <a:pPr algn="ctr" defTabSz="274320"/>
              <a:r>
                <a:rPr lang="en-US" sz="900" dirty="0"/>
                <a:t>Backend</a:t>
              </a:r>
            </a:p>
          </p:txBody>
        </p:sp>
      </p:grpSp>
      <p:grpSp>
        <p:nvGrpSpPr>
          <p:cNvPr id="90" name="Group 89">
            <a:extLst>
              <a:ext uri="{FF2B5EF4-FFF2-40B4-BE49-F238E27FC236}">
                <a16:creationId xmlns:a16="http://schemas.microsoft.com/office/drawing/2014/main" id="{97DB3851-F3C2-B31F-0C9D-12CB32C18E30}"/>
              </a:ext>
            </a:extLst>
          </p:cNvPr>
          <p:cNvGrpSpPr/>
          <p:nvPr/>
        </p:nvGrpSpPr>
        <p:grpSpPr>
          <a:xfrm>
            <a:off x="2235043" y="1782152"/>
            <a:ext cx="1501001" cy="476324"/>
            <a:chOff x="602768" y="861492"/>
            <a:chExt cx="1701210" cy="569333"/>
          </a:xfrm>
        </p:grpSpPr>
        <p:sp>
          <p:nvSpPr>
            <p:cNvPr id="69" name="Rectangle: Rounded Corners 68">
              <a:extLst>
                <a:ext uri="{FF2B5EF4-FFF2-40B4-BE49-F238E27FC236}">
                  <a16:creationId xmlns:a16="http://schemas.microsoft.com/office/drawing/2014/main" id="{D6FCFF37-94C1-6B78-BAB4-41F2D4E9868A}"/>
                </a:ext>
              </a:extLst>
            </p:cNvPr>
            <p:cNvSpPr/>
            <p:nvPr/>
          </p:nvSpPr>
          <p:spPr>
            <a:xfrm>
              <a:off x="602768" y="861492"/>
              <a:ext cx="1701210" cy="569333"/>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90A18B41-9C6C-17BF-4909-C63A93BDA62C}"/>
                </a:ext>
              </a:extLst>
            </p:cNvPr>
            <p:cNvSpPr txBox="1"/>
            <p:nvPr/>
          </p:nvSpPr>
          <p:spPr>
            <a:xfrm>
              <a:off x="840065" y="898205"/>
              <a:ext cx="1226618" cy="261610"/>
            </a:xfrm>
            <a:prstGeom prst="rect">
              <a:avLst/>
            </a:prstGeom>
            <a:noFill/>
          </p:spPr>
          <p:txBody>
            <a:bodyPr wrap="none" rtlCol="0">
              <a:spAutoFit/>
            </a:bodyPr>
            <a:lstStyle/>
            <a:p>
              <a:pPr algn="ctr" defTabSz="274320"/>
              <a:r>
                <a:rPr lang="en-US" sz="1100" dirty="0"/>
                <a:t>Requester portal</a:t>
              </a:r>
            </a:p>
          </p:txBody>
        </p:sp>
        <p:sp>
          <p:nvSpPr>
            <p:cNvPr id="73" name="TextBox 72">
              <a:extLst>
                <a:ext uri="{FF2B5EF4-FFF2-40B4-BE49-F238E27FC236}">
                  <a16:creationId xmlns:a16="http://schemas.microsoft.com/office/drawing/2014/main" id="{D3556385-002D-561A-1CEB-C8B7BB446AAA}"/>
                </a:ext>
              </a:extLst>
            </p:cNvPr>
            <p:cNvSpPr txBox="1"/>
            <p:nvPr/>
          </p:nvSpPr>
          <p:spPr>
            <a:xfrm>
              <a:off x="789407" y="1133443"/>
              <a:ext cx="1319311" cy="230832"/>
            </a:xfrm>
            <a:prstGeom prst="rect">
              <a:avLst/>
            </a:prstGeom>
            <a:noFill/>
          </p:spPr>
          <p:txBody>
            <a:bodyPr wrap="square">
              <a:spAutoFit/>
            </a:bodyPr>
            <a:lstStyle/>
            <a:p>
              <a:pPr algn="ctr" defTabSz="274320"/>
              <a:r>
                <a:rPr lang="en-US" sz="900" dirty="0"/>
                <a:t>Frontend</a:t>
              </a:r>
            </a:p>
          </p:txBody>
        </p:sp>
      </p:grpSp>
      <p:cxnSp>
        <p:nvCxnSpPr>
          <p:cNvPr id="51" name="Straight Arrow Connector 50">
            <a:extLst>
              <a:ext uri="{FF2B5EF4-FFF2-40B4-BE49-F238E27FC236}">
                <a16:creationId xmlns:a16="http://schemas.microsoft.com/office/drawing/2014/main" id="{4F920CA1-B0A6-2143-B25E-743B6FBCB0DB}"/>
              </a:ext>
            </a:extLst>
          </p:cNvPr>
          <p:cNvCxnSpPr>
            <a:cxnSpLocks/>
            <a:stCxn id="2" idx="2"/>
            <a:endCxn id="12" idx="0"/>
          </p:cNvCxnSpPr>
          <p:nvPr/>
        </p:nvCxnSpPr>
        <p:spPr>
          <a:xfrm flipH="1">
            <a:off x="6474632" y="1444463"/>
            <a:ext cx="10632" cy="1353275"/>
          </a:xfrm>
          <a:prstGeom prst="straightConnector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17" name="Group 116">
            <a:extLst>
              <a:ext uri="{FF2B5EF4-FFF2-40B4-BE49-F238E27FC236}">
                <a16:creationId xmlns:a16="http://schemas.microsoft.com/office/drawing/2014/main" id="{A764D8BE-3B4C-C024-0EA9-F28AD6FA4A49}"/>
              </a:ext>
            </a:extLst>
          </p:cNvPr>
          <p:cNvGrpSpPr/>
          <p:nvPr/>
        </p:nvGrpSpPr>
        <p:grpSpPr>
          <a:xfrm>
            <a:off x="5475175" y="554639"/>
            <a:ext cx="1860694" cy="3116005"/>
            <a:chOff x="4673726" y="584877"/>
            <a:chExt cx="1860694" cy="3116005"/>
          </a:xfrm>
        </p:grpSpPr>
        <p:sp>
          <p:nvSpPr>
            <p:cNvPr id="2" name="Rectangle: Rounded Corners 1">
              <a:extLst>
                <a:ext uri="{FF2B5EF4-FFF2-40B4-BE49-F238E27FC236}">
                  <a16:creationId xmlns:a16="http://schemas.microsoft.com/office/drawing/2014/main" id="{F0D145A2-766B-14B4-2841-E3AE93734E25}"/>
                </a:ext>
              </a:extLst>
            </p:cNvPr>
            <p:cNvSpPr/>
            <p:nvPr/>
          </p:nvSpPr>
          <p:spPr>
            <a:xfrm>
              <a:off x="4833210" y="584877"/>
              <a:ext cx="1701210" cy="889824"/>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Rounded Corners 69">
              <a:extLst>
                <a:ext uri="{FF2B5EF4-FFF2-40B4-BE49-F238E27FC236}">
                  <a16:creationId xmlns:a16="http://schemas.microsoft.com/office/drawing/2014/main" id="{52B4735A-772B-3D9A-4D9B-C1B5F660881D}"/>
                </a:ext>
              </a:extLst>
            </p:cNvPr>
            <p:cNvSpPr/>
            <p:nvPr/>
          </p:nvSpPr>
          <p:spPr>
            <a:xfrm>
              <a:off x="4821752" y="1155043"/>
              <a:ext cx="1646604" cy="220405"/>
            </a:xfrm>
            <a:prstGeom prst="roundRect">
              <a:avLst>
                <a:gd name="adj" fmla="val 29740"/>
              </a:avLst>
            </a:prstGeom>
            <a:solidFill>
              <a:schemeClr val="bg1"/>
            </a:solid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sp>
          <p:nvSpPr>
            <p:cNvPr id="72" name="Rectangle: Rounded Corners 71">
              <a:extLst>
                <a:ext uri="{FF2B5EF4-FFF2-40B4-BE49-F238E27FC236}">
                  <a16:creationId xmlns:a16="http://schemas.microsoft.com/office/drawing/2014/main" id="{CCD08224-75CC-B773-EA8A-65747A7152FF}"/>
                </a:ext>
              </a:extLst>
            </p:cNvPr>
            <p:cNvSpPr/>
            <p:nvPr/>
          </p:nvSpPr>
          <p:spPr>
            <a:xfrm>
              <a:off x="4774995" y="1100833"/>
              <a:ext cx="1646604" cy="220405"/>
            </a:xfrm>
            <a:prstGeom prst="roundRect">
              <a:avLst>
                <a:gd name="adj" fmla="val 29740"/>
              </a:avLst>
            </a:prstGeom>
            <a:solidFill>
              <a:schemeClr val="bg1"/>
            </a:solid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endParaRPr>
            </a:p>
          </p:txBody>
        </p:sp>
        <p:sp>
          <p:nvSpPr>
            <p:cNvPr id="12" name="Rectangle: Rounded Corners 11">
              <a:extLst>
                <a:ext uri="{FF2B5EF4-FFF2-40B4-BE49-F238E27FC236}">
                  <a16:creationId xmlns:a16="http://schemas.microsoft.com/office/drawing/2014/main" id="{0648A279-68B1-5311-EDC1-D7E42380E239}"/>
                </a:ext>
              </a:extLst>
            </p:cNvPr>
            <p:cNvSpPr/>
            <p:nvPr/>
          </p:nvSpPr>
          <p:spPr>
            <a:xfrm>
              <a:off x="4833210" y="2827976"/>
              <a:ext cx="1679945" cy="872906"/>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81DDB90-72FE-1A16-6407-E1368BF0B2A7}"/>
                </a:ext>
              </a:extLst>
            </p:cNvPr>
            <p:cNvSpPr txBox="1"/>
            <p:nvPr/>
          </p:nvSpPr>
          <p:spPr>
            <a:xfrm>
              <a:off x="5125909" y="2891172"/>
              <a:ext cx="1061509" cy="261610"/>
            </a:xfrm>
            <a:prstGeom prst="rect">
              <a:avLst/>
            </a:prstGeom>
            <a:noFill/>
          </p:spPr>
          <p:txBody>
            <a:bodyPr wrap="none" rtlCol="0">
              <a:spAutoFit/>
            </a:bodyPr>
            <a:lstStyle/>
            <a:p>
              <a:pPr algn="ctr" defTabSz="274320"/>
              <a:r>
                <a:rPr lang="en-US" sz="1100" dirty="0"/>
                <a:t>SLIMS Server</a:t>
              </a:r>
            </a:p>
          </p:txBody>
        </p:sp>
        <p:sp>
          <p:nvSpPr>
            <p:cNvPr id="31" name="TextBox 30">
              <a:extLst>
                <a:ext uri="{FF2B5EF4-FFF2-40B4-BE49-F238E27FC236}">
                  <a16:creationId xmlns:a16="http://schemas.microsoft.com/office/drawing/2014/main" id="{14458E85-F27B-E301-EC2A-D3A1AE23CB16}"/>
                </a:ext>
              </a:extLst>
            </p:cNvPr>
            <p:cNvSpPr txBox="1"/>
            <p:nvPr/>
          </p:nvSpPr>
          <p:spPr>
            <a:xfrm>
              <a:off x="5126016" y="713458"/>
              <a:ext cx="1115599" cy="261610"/>
            </a:xfrm>
            <a:prstGeom prst="rect">
              <a:avLst/>
            </a:prstGeom>
            <a:noFill/>
          </p:spPr>
          <p:txBody>
            <a:bodyPr wrap="square" rtlCol="0">
              <a:spAutoFit/>
            </a:bodyPr>
            <a:lstStyle/>
            <a:p>
              <a:pPr algn="ctr" defTabSz="274320"/>
              <a:r>
                <a:rPr lang="en-US" sz="1100" dirty="0"/>
                <a:t>SLIMS Client</a:t>
              </a:r>
            </a:p>
          </p:txBody>
        </p:sp>
        <p:sp>
          <p:nvSpPr>
            <p:cNvPr id="75" name="TextBox 74">
              <a:extLst>
                <a:ext uri="{FF2B5EF4-FFF2-40B4-BE49-F238E27FC236}">
                  <a16:creationId xmlns:a16="http://schemas.microsoft.com/office/drawing/2014/main" id="{618265FE-86C8-7848-4A8E-96F52584F712}"/>
                </a:ext>
              </a:extLst>
            </p:cNvPr>
            <p:cNvSpPr txBox="1"/>
            <p:nvPr/>
          </p:nvSpPr>
          <p:spPr>
            <a:xfrm>
              <a:off x="4673726" y="1107226"/>
              <a:ext cx="1851712" cy="230832"/>
            </a:xfrm>
            <a:prstGeom prst="rect">
              <a:avLst/>
            </a:prstGeom>
            <a:noFill/>
            <a:ln>
              <a:noFill/>
            </a:ln>
          </p:spPr>
          <p:txBody>
            <a:bodyPr wrap="square" rtlCol="0">
              <a:spAutoFit/>
            </a:bodyPr>
            <a:lstStyle/>
            <a:p>
              <a:pPr algn="ctr" defTabSz="274320"/>
              <a:r>
                <a:rPr lang="en-US" sz="900" dirty="0"/>
                <a:t>SLIMS GUI Plugins (</a:t>
              </a:r>
              <a:r>
                <a:rPr lang="en-US" sz="900" dirty="0" err="1"/>
                <a:t>Vaadin</a:t>
              </a:r>
              <a:r>
                <a:rPr lang="en-US" sz="900" dirty="0"/>
                <a:t>)</a:t>
              </a:r>
            </a:p>
          </p:txBody>
        </p:sp>
        <p:grpSp>
          <p:nvGrpSpPr>
            <p:cNvPr id="78" name="Group 77">
              <a:extLst>
                <a:ext uri="{FF2B5EF4-FFF2-40B4-BE49-F238E27FC236}">
                  <a16:creationId xmlns:a16="http://schemas.microsoft.com/office/drawing/2014/main" id="{2E7F19F9-B5B9-4941-3E8E-F26F4E71C941}"/>
                </a:ext>
              </a:extLst>
            </p:cNvPr>
            <p:cNvGrpSpPr/>
            <p:nvPr/>
          </p:nvGrpSpPr>
          <p:grpSpPr>
            <a:xfrm>
              <a:off x="5096753" y="3151703"/>
              <a:ext cx="1075335" cy="400110"/>
              <a:chOff x="472047" y="2472784"/>
              <a:chExt cx="1075335" cy="400110"/>
            </a:xfrm>
          </p:grpSpPr>
          <p:sp>
            <p:nvSpPr>
              <p:cNvPr id="77" name="Rectangle: Rounded Corners 76">
                <a:extLst>
                  <a:ext uri="{FF2B5EF4-FFF2-40B4-BE49-F238E27FC236}">
                    <a16:creationId xmlns:a16="http://schemas.microsoft.com/office/drawing/2014/main" id="{7E5C88D3-887A-E17C-92F3-6B0F76F72756}"/>
                  </a:ext>
                </a:extLst>
              </p:cNvPr>
              <p:cNvSpPr/>
              <p:nvPr/>
            </p:nvSpPr>
            <p:spPr>
              <a:xfrm>
                <a:off x="511015" y="2509638"/>
                <a:ext cx="1008610" cy="330772"/>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05530D06-7E27-8201-4582-1E6C27C9ABBF}"/>
                  </a:ext>
                </a:extLst>
              </p:cNvPr>
              <p:cNvSpPr txBox="1"/>
              <p:nvPr/>
            </p:nvSpPr>
            <p:spPr>
              <a:xfrm>
                <a:off x="472047" y="2472784"/>
                <a:ext cx="1075335" cy="400110"/>
              </a:xfrm>
              <a:prstGeom prst="rect">
                <a:avLst/>
              </a:prstGeom>
              <a:noFill/>
            </p:spPr>
            <p:txBody>
              <a:bodyPr wrap="square" rtlCol="0">
                <a:spAutoFit/>
              </a:bodyPr>
              <a:lstStyle/>
              <a:p>
                <a:pPr algn="ctr" defTabSz="274320"/>
                <a:r>
                  <a:rPr lang="en-US" sz="1050" dirty="0"/>
                  <a:t>SLIMS Rest</a:t>
                </a:r>
              </a:p>
              <a:p>
                <a:pPr algn="ctr" defTabSz="274320"/>
                <a:r>
                  <a:rPr lang="en-US" sz="900" dirty="0"/>
                  <a:t>(Rest-API)</a:t>
                </a:r>
              </a:p>
            </p:txBody>
          </p:sp>
        </p:grpSp>
      </p:grpSp>
      <p:cxnSp>
        <p:nvCxnSpPr>
          <p:cNvPr id="50" name="Straight Arrow Connector 49">
            <a:extLst>
              <a:ext uri="{FF2B5EF4-FFF2-40B4-BE49-F238E27FC236}">
                <a16:creationId xmlns:a16="http://schemas.microsoft.com/office/drawing/2014/main" id="{AADDAC8F-CE23-983E-4E3C-3B3EEE30377D}"/>
              </a:ext>
            </a:extLst>
          </p:cNvPr>
          <p:cNvCxnSpPr>
            <a:cxnSpLocks/>
            <a:stCxn id="7" idx="2"/>
            <a:endCxn id="74" idx="3"/>
          </p:cNvCxnSpPr>
          <p:nvPr/>
        </p:nvCxnSpPr>
        <p:spPr>
          <a:xfrm flipH="1">
            <a:off x="6973537" y="2258476"/>
            <a:ext cx="490069" cy="1063044"/>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FC302A82-991B-F08E-DB58-FED4D553C0F2}"/>
              </a:ext>
            </a:extLst>
          </p:cNvPr>
          <p:cNvCxnSpPr>
            <a:cxnSpLocks/>
            <a:stCxn id="58" idx="2"/>
            <a:endCxn id="74" idx="1"/>
          </p:cNvCxnSpPr>
          <p:nvPr/>
        </p:nvCxnSpPr>
        <p:spPr>
          <a:xfrm>
            <a:off x="4946854" y="2258476"/>
            <a:ext cx="951348" cy="1063044"/>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21" name="Connector: Elbow 109">
            <a:extLst>
              <a:ext uri="{FF2B5EF4-FFF2-40B4-BE49-F238E27FC236}">
                <a16:creationId xmlns:a16="http://schemas.microsoft.com/office/drawing/2014/main" id="{E87F7ABB-7F3F-A5D4-3EB7-1F769507ACAE}"/>
              </a:ext>
            </a:extLst>
          </p:cNvPr>
          <p:cNvCxnSpPr>
            <a:cxnSpLocks/>
            <a:stCxn id="69" idx="2"/>
            <a:endCxn id="63" idx="0"/>
          </p:cNvCxnSpPr>
          <p:nvPr/>
        </p:nvCxnSpPr>
        <p:spPr>
          <a:xfrm>
            <a:off x="2985544" y="2258476"/>
            <a:ext cx="7255" cy="736312"/>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F9A9B3C1-D560-FE82-65BC-7893795FD371}"/>
              </a:ext>
            </a:extLst>
          </p:cNvPr>
          <p:cNvCxnSpPr>
            <a:cxnSpLocks/>
            <a:stCxn id="49" idx="2"/>
          </p:cNvCxnSpPr>
          <p:nvPr/>
        </p:nvCxnSpPr>
        <p:spPr>
          <a:xfrm>
            <a:off x="4600542" y="3542693"/>
            <a:ext cx="0" cy="556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0EDD8517-3BB8-C34F-8219-D795FF8D1809}"/>
              </a:ext>
            </a:extLst>
          </p:cNvPr>
          <p:cNvCxnSpPr>
            <a:cxnSpLocks/>
          </p:cNvCxnSpPr>
          <p:nvPr/>
        </p:nvCxnSpPr>
        <p:spPr>
          <a:xfrm>
            <a:off x="6474632" y="3678264"/>
            <a:ext cx="0" cy="4212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7206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1C327-360E-1290-8681-432C2A9234E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390819D7-969F-6616-BD73-5BFD2C15518F}"/>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5" name="Slide Number Placeholder 4">
            <a:extLst>
              <a:ext uri="{FF2B5EF4-FFF2-40B4-BE49-F238E27FC236}">
                <a16:creationId xmlns:a16="http://schemas.microsoft.com/office/drawing/2014/main" id="{81BE2FB6-E8F2-3702-5053-5D71ECB14702}"/>
              </a:ext>
            </a:extLst>
          </p:cNvPr>
          <p:cNvSpPr>
            <a:spLocks noGrp="1"/>
          </p:cNvSpPr>
          <p:nvPr>
            <p:ph type="sldNum" sz="quarter" idx="12"/>
          </p:nvPr>
        </p:nvSpPr>
        <p:spPr/>
        <p:txBody>
          <a:bodyPr/>
          <a:lstStyle/>
          <a:p>
            <a:fld id="{3DC502AB-CAB1-460E-959E-ECF1712112BC}" type="slidenum">
              <a:rPr lang="en-US" smtClean="0"/>
              <a:pPr/>
              <a:t>4</a:t>
            </a:fld>
            <a:endParaRPr lang="en-US" dirty="0"/>
          </a:p>
        </p:txBody>
      </p:sp>
      <p:sp>
        <p:nvSpPr>
          <p:cNvPr id="168" name="Text Placeholder 167">
            <a:extLst>
              <a:ext uri="{FF2B5EF4-FFF2-40B4-BE49-F238E27FC236}">
                <a16:creationId xmlns:a16="http://schemas.microsoft.com/office/drawing/2014/main" id="{77800CFC-5DC6-7B46-6514-99D61AB76476}"/>
              </a:ext>
            </a:extLst>
          </p:cNvPr>
          <p:cNvSpPr>
            <a:spLocks noGrp="1"/>
          </p:cNvSpPr>
          <p:nvPr>
            <p:ph type="body" sz="quarter" idx="13"/>
          </p:nvPr>
        </p:nvSpPr>
        <p:spPr/>
        <p:txBody>
          <a:bodyPr>
            <a:normAutofit lnSpcReduction="10000"/>
          </a:bodyPr>
          <a:lstStyle/>
          <a:p>
            <a:r>
              <a:rPr lang="en-US" dirty="0"/>
              <a:t>Cloud deployments</a:t>
            </a:r>
          </a:p>
        </p:txBody>
      </p:sp>
      <p:sp>
        <p:nvSpPr>
          <p:cNvPr id="3" name="Title 2">
            <a:extLst>
              <a:ext uri="{FF2B5EF4-FFF2-40B4-BE49-F238E27FC236}">
                <a16:creationId xmlns:a16="http://schemas.microsoft.com/office/drawing/2014/main" id="{8789E2A6-BE9A-EEC3-9C9F-223FE8BC5F95}"/>
              </a:ext>
            </a:extLst>
          </p:cNvPr>
          <p:cNvSpPr>
            <a:spLocks noGrp="1"/>
          </p:cNvSpPr>
          <p:nvPr>
            <p:ph type="title"/>
          </p:nvPr>
        </p:nvSpPr>
        <p:spPr>
          <a:xfrm>
            <a:off x="502919" y="234063"/>
            <a:ext cx="11198597" cy="484632"/>
          </a:xfrm>
        </p:spPr>
        <p:txBody>
          <a:bodyPr>
            <a:normAutofit/>
          </a:bodyPr>
          <a:lstStyle/>
          <a:p>
            <a:r>
              <a:rPr lang="en-US" dirty="0"/>
              <a:t>SLIMS Architecture</a:t>
            </a:r>
          </a:p>
        </p:txBody>
      </p:sp>
      <p:sp>
        <p:nvSpPr>
          <p:cNvPr id="9" name="Rectangle: Rounded Corners 8">
            <a:extLst>
              <a:ext uri="{FF2B5EF4-FFF2-40B4-BE49-F238E27FC236}">
                <a16:creationId xmlns:a16="http://schemas.microsoft.com/office/drawing/2014/main" id="{53B51801-EE68-1E44-4DEB-F31755E6C815}"/>
              </a:ext>
            </a:extLst>
          </p:cNvPr>
          <p:cNvSpPr/>
          <p:nvPr/>
        </p:nvSpPr>
        <p:spPr>
          <a:xfrm>
            <a:off x="4901162" y="4331622"/>
            <a:ext cx="2562444" cy="627320"/>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Folder outline">
            <a:extLst>
              <a:ext uri="{FF2B5EF4-FFF2-40B4-BE49-F238E27FC236}">
                <a16:creationId xmlns:a16="http://schemas.microsoft.com/office/drawing/2014/main" id="{1DE19905-56E2-FD17-63D6-621E78BA081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07618" y="5367503"/>
            <a:ext cx="914400" cy="982268"/>
          </a:xfrm>
          <a:prstGeom prst="rect">
            <a:avLst/>
          </a:prstGeom>
        </p:spPr>
      </p:pic>
      <p:pic>
        <p:nvPicPr>
          <p:cNvPr id="18" name="Graphic 17" descr="Database outline">
            <a:extLst>
              <a:ext uri="{FF2B5EF4-FFF2-40B4-BE49-F238E27FC236}">
                <a16:creationId xmlns:a16="http://schemas.microsoft.com/office/drawing/2014/main" id="{2074E12E-6BD3-8B34-D9E4-98F908898FA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699795" y="5435856"/>
            <a:ext cx="914400" cy="914400"/>
          </a:xfrm>
          <a:prstGeom prst="rect">
            <a:avLst/>
          </a:prstGeom>
        </p:spPr>
      </p:pic>
      <p:sp>
        <p:nvSpPr>
          <p:cNvPr id="19" name="Rectangle: Rounded Corners 18">
            <a:extLst>
              <a:ext uri="{FF2B5EF4-FFF2-40B4-BE49-F238E27FC236}">
                <a16:creationId xmlns:a16="http://schemas.microsoft.com/office/drawing/2014/main" id="{728EB0F8-8359-DDEB-AAAC-4B598A3446DA}"/>
              </a:ext>
            </a:extLst>
          </p:cNvPr>
          <p:cNvSpPr/>
          <p:nvPr/>
        </p:nvSpPr>
        <p:spPr>
          <a:xfrm>
            <a:off x="1921156" y="2554599"/>
            <a:ext cx="8540176" cy="1426147"/>
          </a:xfrm>
          <a:prstGeom prst="roundRect">
            <a:avLst>
              <a:gd name="adj" fmla="val 29740"/>
            </a:avLst>
          </a:prstGeom>
          <a:noFill/>
          <a:ln w="19050">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Graphic 20" descr="Gears outline">
            <a:extLst>
              <a:ext uri="{FF2B5EF4-FFF2-40B4-BE49-F238E27FC236}">
                <a16:creationId xmlns:a16="http://schemas.microsoft.com/office/drawing/2014/main" id="{E458D60D-2CB4-0EFF-713A-A7797A0E3CA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443967">
            <a:off x="7472789" y="4351676"/>
            <a:ext cx="567486" cy="567486"/>
          </a:xfrm>
          <a:prstGeom prst="rect">
            <a:avLst/>
          </a:prstGeom>
        </p:spPr>
      </p:pic>
      <p:pic>
        <p:nvPicPr>
          <p:cNvPr id="22" name="Graphic 21" descr="Gears outline">
            <a:extLst>
              <a:ext uri="{FF2B5EF4-FFF2-40B4-BE49-F238E27FC236}">
                <a16:creationId xmlns:a16="http://schemas.microsoft.com/office/drawing/2014/main" id="{4E8A8D8C-66DD-66AD-DF05-C5D9312E304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7144992">
            <a:off x="4334519" y="4298712"/>
            <a:ext cx="567486" cy="567486"/>
          </a:xfrm>
          <a:prstGeom prst="rect">
            <a:avLst/>
          </a:prstGeom>
        </p:spPr>
      </p:pic>
      <p:sp>
        <p:nvSpPr>
          <p:cNvPr id="23" name="TextBox 22">
            <a:extLst>
              <a:ext uri="{FF2B5EF4-FFF2-40B4-BE49-F238E27FC236}">
                <a16:creationId xmlns:a16="http://schemas.microsoft.com/office/drawing/2014/main" id="{817DA284-5C41-2413-7B2C-EB31A50D7DA5}"/>
              </a:ext>
            </a:extLst>
          </p:cNvPr>
          <p:cNvSpPr txBox="1"/>
          <p:nvPr/>
        </p:nvSpPr>
        <p:spPr>
          <a:xfrm>
            <a:off x="3494691" y="5610871"/>
            <a:ext cx="788999" cy="430887"/>
          </a:xfrm>
          <a:prstGeom prst="rect">
            <a:avLst/>
          </a:prstGeom>
          <a:noFill/>
        </p:spPr>
        <p:txBody>
          <a:bodyPr wrap="none" rtlCol="0">
            <a:spAutoFit/>
          </a:bodyPr>
          <a:lstStyle/>
          <a:p>
            <a:pPr defTabSz="274320"/>
            <a:endParaRPr lang="en-US" sz="1100" dirty="0"/>
          </a:p>
          <a:p>
            <a:pPr defTabSz="274320"/>
            <a:r>
              <a:rPr lang="en-US" sz="1100" dirty="0"/>
              <a:t>Database</a:t>
            </a:r>
          </a:p>
        </p:txBody>
      </p:sp>
      <p:sp>
        <p:nvSpPr>
          <p:cNvPr id="24" name="TextBox 23">
            <a:extLst>
              <a:ext uri="{FF2B5EF4-FFF2-40B4-BE49-F238E27FC236}">
                <a16:creationId xmlns:a16="http://schemas.microsoft.com/office/drawing/2014/main" id="{E72CD0CD-4567-E36F-B81D-92A82EB31D0B}"/>
              </a:ext>
            </a:extLst>
          </p:cNvPr>
          <p:cNvSpPr txBox="1"/>
          <p:nvPr/>
        </p:nvSpPr>
        <p:spPr>
          <a:xfrm>
            <a:off x="7259518" y="2517656"/>
            <a:ext cx="1290738" cy="261610"/>
          </a:xfrm>
          <a:prstGeom prst="rect">
            <a:avLst/>
          </a:prstGeom>
          <a:noFill/>
          <a:ln>
            <a:noFill/>
          </a:ln>
        </p:spPr>
        <p:txBody>
          <a:bodyPr wrap="none" rtlCol="0">
            <a:spAutoFit/>
          </a:bodyPr>
          <a:lstStyle/>
          <a:p>
            <a:pPr defTabSz="274320"/>
            <a:r>
              <a:rPr lang="en-US" sz="1100" dirty="0" err="1">
                <a:solidFill>
                  <a:schemeClr val="accent4"/>
                </a:solidFill>
              </a:rPr>
              <a:t>Hazelcast</a:t>
            </a:r>
            <a:r>
              <a:rPr lang="en-US" sz="1100" dirty="0">
                <a:solidFill>
                  <a:schemeClr val="accent4"/>
                </a:solidFill>
              </a:rPr>
              <a:t> Cluster</a:t>
            </a:r>
          </a:p>
        </p:txBody>
      </p:sp>
      <p:sp>
        <p:nvSpPr>
          <p:cNvPr id="25" name="TextBox 24">
            <a:extLst>
              <a:ext uri="{FF2B5EF4-FFF2-40B4-BE49-F238E27FC236}">
                <a16:creationId xmlns:a16="http://schemas.microsoft.com/office/drawing/2014/main" id="{7B623144-656B-5BDD-256C-83AFF92D6594}"/>
              </a:ext>
            </a:extLst>
          </p:cNvPr>
          <p:cNvSpPr txBox="1"/>
          <p:nvPr/>
        </p:nvSpPr>
        <p:spPr>
          <a:xfrm>
            <a:off x="9567758" y="5727832"/>
            <a:ext cx="946093" cy="261610"/>
          </a:xfrm>
          <a:prstGeom prst="rect">
            <a:avLst/>
          </a:prstGeom>
          <a:noFill/>
        </p:spPr>
        <p:txBody>
          <a:bodyPr wrap="none" rtlCol="0">
            <a:spAutoFit/>
          </a:bodyPr>
          <a:lstStyle/>
          <a:p>
            <a:pPr defTabSz="274320"/>
            <a:r>
              <a:rPr lang="en-US" sz="1100" dirty="0"/>
              <a:t>File Storage</a:t>
            </a:r>
          </a:p>
        </p:txBody>
      </p:sp>
      <p:sp>
        <p:nvSpPr>
          <p:cNvPr id="29" name="TextBox 28">
            <a:extLst>
              <a:ext uri="{FF2B5EF4-FFF2-40B4-BE49-F238E27FC236}">
                <a16:creationId xmlns:a16="http://schemas.microsoft.com/office/drawing/2014/main" id="{AFF79A69-F3AD-FB9E-1D2E-CABDC174D543}"/>
              </a:ext>
            </a:extLst>
          </p:cNvPr>
          <p:cNvSpPr txBox="1"/>
          <p:nvPr/>
        </p:nvSpPr>
        <p:spPr>
          <a:xfrm>
            <a:off x="5683577" y="4504614"/>
            <a:ext cx="982961" cy="261610"/>
          </a:xfrm>
          <a:prstGeom prst="rect">
            <a:avLst/>
          </a:prstGeom>
          <a:noFill/>
        </p:spPr>
        <p:txBody>
          <a:bodyPr wrap="none" rtlCol="0">
            <a:spAutoFit/>
          </a:bodyPr>
          <a:lstStyle/>
          <a:p>
            <a:pPr algn="ctr" defTabSz="274320"/>
            <a:r>
              <a:rPr lang="en-US" sz="1100" dirty="0"/>
              <a:t>Platform-API</a:t>
            </a:r>
          </a:p>
        </p:txBody>
      </p:sp>
      <p:cxnSp>
        <p:nvCxnSpPr>
          <p:cNvPr id="36" name="Connector: Elbow 35">
            <a:extLst>
              <a:ext uri="{FF2B5EF4-FFF2-40B4-BE49-F238E27FC236}">
                <a16:creationId xmlns:a16="http://schemas.microsoft.com/office/drawing/2014/main" id="{66F34991-D27C-D166-0E7B-DCE5C190F146}"/>
              </a:ext>
            </a:extLst>
          </p:cNvPr>
          <p:cNvCxnSpPr>
            <a:stCxn id="18" idx="0"/>
            <a:endCxn id="16" idx="0"/>
          </p:cNvCxnSpPr>
          <p:nvPr/>
        </p:nvCxnSpPr>
        <p:spPr>
          <a:xfrm rot="5400000" flipH="1" flipV="1">
            <a:off x="6126730" y="2397769"/>
            <a:ext cx="68353" cy="6007823"/>
          </a:xfrm>
          <a:prstGeom prst="bentConnector3">
            <a:avLst>
              <a:gd name="adj1" fmla="val 37222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7F029C9-5E5C-CCC5-CBF1-8FFB77CB2A1E}"/>
              </a:ext>
            </a:extLst>
          </p:cNvPr>
          <p:cNvCxnSpPr>
            <a:cxnSpLocks/>
            <a:stCxn id="9" idx="2"/>
          </p:cNvCxnSpPr>
          <p:nvPr/>
        </p:nvCxnSpPr>
        <p:spPr>
          <a:xfrm>
            <a:off x="6182384" y="4958942"/>
            <a:ext cx="0" cy="22328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05B38D93-7811-3E13-AC04-D5B3A457451E}"/>
              </a:ext>
            </a:extLst>
          </p:cNvPr>
          <p:cNvSpPr/>
          <p:nvPr/>
        </p:nvSpPr>
        <p:spPr>
          <a:xfrm>
            <a:off x="6692197" y="1782152"/>
            <a:ext cx="1269379" cy="476324"/>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5099E4C-16D2-BE2C-51AC-B92F91D51E4D}"/>
              </a:ext>
            </a:extLst>
          </p:cNvPr>
          <p:cNvSpPr txBox="1"/>
          <p:nvPr/>
        </p:nvSpPr>
        <p:spPr>
          <a:xfrm>
            <a:off x="6892190" y="1881302"/>
            <a:ext cx="898003" cy="261610"/>
          </a:xfrm>
          <a:prstGeom prst="rect">
            <a:avLst/>
          </a:prstGeom>
          <a:noFill/>
        </p:spPr>
        <p:txBody>
          <a:bodyPr wrap="square" rtlCol="0">
            <a:spAutoFit/>
          </a:bodyPr>
          <a:lstStyle/>
          <a:p>
            <a:pPr algn="ctr" defTabSz="274320"/>
            <a:r>
              <a:rPr lang="en-US" sz="1100" dirty="0"/>
              <a:t>Python-API</a:t>
            </a:r>
          </a:p>
        </p:txBody>
      </p:sp>
      <p:cxnSp>
        <p:nvCxnSpPr>
          <p:cNvPr id="56" name="Connector: Elbow 55">
            <a:extLst>
              <a:ext uri="{FF2B5EF4-FFF2-40B4-BE49-F238E27FC236}">
                <a16:creationId xmlns:a16="http://schemas.microsoft.com/office/drawing/2014/main" id="{7F6BDE74-8048-E963-8B5F-2EE67034457E}"/>
              </a:ext>
            </a:extLst>
          </p:cNvPr>
          <p:cNvCxnSpPr>
            <a:cxnSpLocks/>
            <a:stCxn id="63" idx="2"/>
            <a:endCxn id="15" idx="2"/>
          </p:cNvCxnSpPr>
          <p:nvPr/>
        </p:nvCxnSpPr>
        <p:spPr>
          <a:xfrm rot="16200000" flipH="1">
            <a:off x="6017768" y="539151"/>
            <a:ext cx="164150" cy="6214089"/>
          </a:xfrm>
          <a:prstGeom prst="bentConnector3">
            <a:avLst>
              <a:gd name="adj1" fmla="val 325917"/>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133F41A6-7AB7-CE0B-DB42-EEFC4916598B}"/>
              </a:ext>
            </a:extLst>
          </p:cNvPr>
          <p:cNvCxnSpPr>
            <a:cxnSpLocks/>
            <a:endCxn id="9" idx="0"/>
          </p:cNvCxnSpPr>
          <p:nvPr/>
        </p:nvCxnSpPr>
        <p:spPr>
          <a:xfrm>
            <a:off x="6182384" y="4099560"/>
            <a:ext cx="0" cy="232062"/>
          </a:xfrm>
          <a:prstGeom prst="straightConnector1">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7FE99EFB-C319-60F2-3C0C-68FD3761B867}"/>
              </a:ext>
            </a:extLst>
          </p:cNvPr>
          <p:cNvSpPr/>
          <p:nvPr/>
        </p:nvSpPr>
        <p:spPr>
          <a:xfrm>
            <a:off x="8475160" y="2803235"/>
            <a:ext cx="1733108" cy="754912"/>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E4A72326-8D07-7EF5-FCCC-EDC1BA2D71CB}"/>
              </a:ext>
            </a:extLst>
          </p:cNvPr>
          <p:cNvSpPr/>
          <p:nvPr/>
        </p:nvSpPr>
        <p:spPr>
          <a:xfrm>
            <a:off x="8407747" y="2888297"/>
            <a:ext cx="1733108" cy="754912"/>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648015DD-FC6C-178C-A331-89980805A7FC}"/>
              </a:ext>
            </a:extLst>
          </p:cNvPr>
          <p:cNvSpPr/>
          <p:nvPr/>
        </p:nvSpPr>
        <p:spPr>
          <a:xfrm>
            <a:off x="8340334" y="2973359"/>
            <a:ext cx="1733108" cy="754912"/>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DC831289-3223-6883-EA28-F004C6BC32AC}"/>
              </a:ext>
            </a:extLst>
          </p:cNvPr>
          <p:cNvSpPr txBox="1"/>
          <p:nvPr/>
        </p:nvSpPr>
        <p:spPr>
          <a:xfrm>
            <a:off x="8246649" y="3106018"/>
            <a:ext cx="1883849" cy="430887"/>
          </a:xfrm>
          <a:prstGeom prst="rect">
            <a:avLst/>
          </a:prstGeom>
          <a:noFill/>
        </p:spPr>
        <p:txBody>
          <a:bodyPr wrap="none" rtlCol="0">
            <a:spAutoFit/>
          </a:bodyPr>
          <a:lstStyle/>
          <a:p>
            <a:pPr algn="ctr" defTabSz="274320"/>
            <a:r>
              <a:rPr lang="en-US" sz="1100" dirty="0"/>
              <a:t>SLIMS GATE Plugins</a:t>
            </a:r>
          </a:p>
          <a:p>
            <a:pPr algn="ctr" defTabSz="274320"/>
            <a:r>
              <a:rPr lang="en-US" sz="1100" dirty="0"/>
              <a:t>(Apache, Camel, Java API)</a:t>
            </a:r>
          </a:p>
        </p:txBody>
      </p:sp>
      <p:grpSp>
        <p:nvGrpSpPr>
          <p:cNvPr id="47" name="Group 46">
            <a:extLst>
              <a:ext uri="{FF2B5EF4-FFF2-40B4-BE49-F238E27FC236}">
                <a16:creationId xmlns:a16="http://schemas.microsoft.com/office/drawing/2014/main" id="{11847089-4B76-349E-631B-6ED37A46BDAA}"/>
              </a:ext>
            </a:extLst>
          </p:cNvPr>
          <p:cNvGrpSpPr/>
          <p:nvPr/>
        </p:nvGrpSpPr>
        <p:grpSpPr>
          <a:xfrm>
            <a:off x="7924846" y="524860"/>
            <a:ext cx="2562444" cy="978408"/>
            <a:chOff x="5241757" y="1145949"/>
            <a:chExt cx="2562444" cy="1016653"/>
          </a:xfrm>
        </p:grpSpPr>
        <p:sp>
          <p:nvSpPr>
            <p:cNvPr id="8" name="Rectangle: Rounded Corners 7">
              <a:extLst>
                <a:ext uri="{FF2B5EF4-FFF2-40B4-BE49-F238E27FC236}">
                  <a16:creationId xmlns:a16="http://schemas.microsoft.com/office/drawing/2014/main" id="{D1214EF7-2AEC-CA9A-14D8-B314343219DE}"/>
                </a:ext>
              </a:extLst>
            </p:cNvPr>
            <p:cNvSpPr/>
            <p:nvPr/>
          </p:nvSpPr>
          <p:spPr>
            <a:xfrm>
              <a:off x="5241757" y="1145949"/>
              <a:ext cx="2562444" cy="1016653"/>
            </a:xfrm>
            <a:prstGeom prst="roundRect">
              <a:avLst>
                <a:gd name="adj" fmla="val 18236"/>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406D516D-28A2-1238-8C72-D1785D922914}"/>
                </a:ext>
              </a:extLst>
            </p:cNvPr>
            <p:cNvSpPr txBox="1"/>
            <p:nvPr/>
          </p:nvSpPr>
          <p:spPr>
            <a:xfrm>
              <a:off x="5857767" y="1231011"/>
              <a:ext cx="1189749" cy="307777"/>
            </a:xfrm>
            <a:prstGeom prst="rect">
              <a:avLst/>
            </a:prstGeom>
            <a:noFill/>
          </p:spPr>
          <p:txBody>
            <a:bodyPr wrap="none" rtlCol="0">
              <a:spAutoFit/>
            </a:bodyPr>
            <a:lstStyle/>
            <a:p>
              <a:pPr algn="ctr" defTabSz="274320"/>
              <a:r>
                <a:rPr lang="en-US" sz="1400" dirty="0"/>
                <a:t>Lab Network</a:t>
              </a:r>
            </a:p>
          </p:txBody>
        </p:sp>
        <p:sp>
          <p:nvSpPr>
            <p:cNvPr id="33" name="TextBox 32">
              <a:extLst>
                <a:ext uri="{FF2B5EF4-FFF2-40B4-BE49-F238E27FC236}">
                  <a16:creationId xmlns:a16="http://schemas.microsoft.com/office/drawing/2014/main" id="{C0D3558C-F27A-0BB5-6609-90F383950ECA}"/>
                </a:ext>
              </a:extLst>
            </p:cNvPr>
            <p:cNvSpPr txBox="1"/>
            <p:nvPr/>
          </p:nvSpPr>
          <p:spPr>
            <a:xfrm>
              <a:off x="5670680" y="1454252"/>
              <a:ext cx="1040671" cy="600164"/>
            </a:xfrm>
            <a:prstGeom prst="rect">
              <a:avLst/>
            </a:prstGeom>
            <a:noFill/>
          </p:spPr>
          <p:txBody>
            <a:bodyPr wrap="none" rtlCol="0">
              <a:spAutoFit/>
            </a:bodyPr>
            <a:lstStyle/>
            <a:p>
              <a:pPr marL="171450" indent="-171450" defTabSz="274320">
                <a:buFontTx/>
                <a:buChar char="-"/>
              </a:pPr>
              <a:r>
                <a:rPr lang="en-US" sz="1100" dirty="0"/>
                <a:t>Printers</a:t>
              </a:r>
            </a:p>
            <a:p>
              <a:pPr marL="171450" indent="-171450" defTabSz="274320">
                <a:buFontTx/>
                <a:buChar char="-"/>
              </a:pPr>
              <a:r>
                <a:rPr lang="en-US" sz="1100" dirty="0"/>
                <a:t>HL7</a:t>
              </a:r>
            </a:p>
            <a:p>
              <a:pPr marL="171450" indent="-171450" defTabSz="274320">
                <a:buFontTx/>
                <a:buChar char="-"/>
              </a:pPr>
              <a:r>
                <a:rPr lang="en-US" sz="1100" dirty="0"/>
                <a:t>Sequencer</a:t>
              </a:r>
            </a:p>
          </p:txBody>
        </p:sp>
        <p:sp>
          <p:nvSpPr>
            <p:cNvPr id="34" name="TextBox 33">
              <a:extLst>
                <a:ext uri="{FF2B5EF4-FFF2-40B4-BE49-F238E27FC236}">
                  <a16:creationId xmlns:a16="http://schemas.microsoft.com/office/drawing/2014/main" id="{14807FA4-9859-BB0D-6DCC-60D21EDFFC25}"/>
                </a:ext>
              </a:extLst>
            </p:cNvPr>
            <p:cNvSpPr txBox="1"/>
            <p:nvPr/>
          </p:nvSpPr>
          <p:spPr>
            <a:xfrm>
              <a:off x="6625865" y="1454252"/>
              <a:ext cx="625492" cy="600164"/>
            </a:xfrm>
            <a:prstGeom prst="rect">
              <a:avLst/>
            </a:prstGeom>
            <a:noFill/>
          </p:spPr>
          <p:txBody>
            <a:bodyPr wrap="none" rtlCol="0">
              <a:spAutoFit/>
            </a:bodyPr>
            <a:lstStyle/>
            <a:p>
              <a:pPr marL="171450" indent="-171450" defTabSz="274320">
                <a:buFontTx/>
                <a:buChar char="-"/>
              </a:pPr>
              <a:r>
                <a:rPr lang="en-US" sz="1100" dirty="0"/>
                <a:t>Mail</a:t>
              </a:r>
            </a:p>
            <a:p>
              <a:pPr marL="171450" indent="-171450" defTabSz="274320">
                <a:buFontTx/>
                <a:buChar char="-"/>
              </a:pPr>
              <a:r>
                <a:rPr lang="en-US" sz="1100" dirty="0"/>
                <a:t>FTP</a:t>
              </a:r>
            </a:p>
            <a:p>
              <a:pPr defTabSz="274320"/>
              <a:endParaRPr lang="en-US" sz="1100" dirty="0"/>
            </a:p>
          </p:txBody>
        </p:sp>
      </p:grpSp>
      <p:cxnSp>
        <p:nvCxnSpPr>
          <p:cNvPr id="46" name="Straight Arrow Connector 45">
            <a:extLst>
              <a:ext uri="{FF2B5EF4-FFF2-40B4-BE49-F238E27FC236}">
                <a16:creationId xmlns:a16="http://schemas.microsoft.com/office/drawing/2014/main" id="{6C3E99B9-5CEA-9889-F930-F3F0AC32B2A3}"/>
              </a:ext>
            </a:extLst>
          </p:cNvPr>
          <p:cNvCxnSpPr>
            <a:cxnSpLocks/>
            <a:stCxn id="8" idx="2"/>
            <a:endCxn id="10" idx="0"/>
          </p:cNvCxnSpPr>
          <p:nvPr/>
        </p:nvCxnSpPr>
        <p:spPr>
          <a:xfrm>
            <a:off x="9206068" y="1503268"/>
            <a:ext cx="0" cy="284213"/>
          </a:xfrm>
          <a:prstGeom prst="straightConnector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9" name="Connector: Elbow 78">
            <a:extLst>
              <a:ext uri="{FF2B5EF4-FFF2-40B4-BE49-F238E27FC236}">
                <a16:creationId xmlns:a16="http://schemas.microsoft.com/office/drawing/2014/main" id="{E9BB6120-9D39-45D2-A694-76E72D9364F8}"/>
              </a:ext>
            </a:extLst>
          </p:cNvPr>
          <p:cNvCxnSpPr/>
          <p:nvPr/>
        </p:nvCxnSpPr>
        <p:spPr>
          <a:xfrm>
            <a:off x="802309" y="5134379"/>
            <a:ext cx="457200" cy="9569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Connector: Elbow 79">
            <a:extLst>
              <a:ext uri="{FF2B5EF4-FFF2-40B4-BE49-F238E27FC236}">
                <a16:creationId xmlns:a16="http://schemas.microsoft.com/office/drawing/2014/main" id="{48666B01-AC26-A7A0-B687-C8C024139C46}"/>
              </a:ext>
            </a:extLst>
          </p:cNvPr>
          <p:cNvCxnSpPr/>
          <p:nvPr/>
        </p:nvCxnSpPr>
        <p:spPr>
          <a:xfrm>
            <a:off x="802309" y="5388011"/>
            <a:ext cx="457200" cy="95693"/>
          </a:xfrm>
          <a:prstGeom prst="bentConnector3">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B5F8FC5A-E490-8274-64E8-3CA6B9F628CD}"/>
              </a:ext>
            </a:extLst>
          </p:cNvPr>
          <p:cNvSpPr txBox="1"/>
          <p:nvPr/>
        </p:nvSpPr>
        <p:spPr>
          <a:xfrm>
            <a:off x="1259509" y="5099267"/>
            <a:ext cx="899605" cy="246221"/>
          </a:xfrm>
          <a:prstGeom prst="rect">
            <a:avLst/>
          </a:prstGeom>
          <a:noFill/>
        </p:spPr>
        <p:txBody>
          <a:bodyPr wrap="none" rtlCol="0">
            <a:spAutoFit/>
          </a:bodyPr>
          <a:lstStyle/>
          <a:p>
            <a:pPr defTabSz="274320"/>
            <a:r>
              <a:rPr lang="en-US" sz="1000" dirty="0"/>
              <a:t>Dependency</a:t>
            </a:r>
          </a:p>
        </p:txBody>
      </p:sp>
      <p:sp>
        <p:nvSpPr>
          <p:cNvPr id="82" name="TextBox 81">
            <a:extLst>
              <a:ext uri="{FF2B5EF4-FFF2-40B4-BE49-F238E27FC236}">
                <a16:creationId xmlns:a16="http://schemas.microsoft.com/office/drawing/2014/main" id="{AF186F3F-4134-8F9B-FC08-273F4DC36B78}"/>
              </a:ext>
            </a:extLst>
          </p:cNvPr>
          <p:cNvSpPr txBox="1"/>
          <p:nvPr/>
        </p:nvSpPr>
        <p:spPr>
          <a:xfrm>
            <a:off x="1271597" y="5360593"/>
            <a:ext cx="1072730" cy="246221"/>
          </a:xfrm>
          <a:prstGeom prst="rect">
            <a:avLst/>
          </a:prstGeom>
          <a:noFill/>
        </p:spPr>
        <p:txBody>
          <a:bodyPr wrap="none" rtlCol="0">
            <a:spAutoFit/>
          </a:bodyPr>
          <a:lstStyle/>
          <a:p>
            <a:pPr defTabSz="274320"/>
            <a:r>
              <a:rPr lang="en-US" sz="1000" dirty="0"/>
              <a:t>Communication</a:t>
            </a:r>
          </a:p>
        </p:txBody>
      </p:sp>
      <p:grpSp>
        <p:nvGrpSpPr>
          <p:cNvPr id="88" name="Group 87">
            <a:extLst>
              <a:ext uri="{FF2B5EF4-FFF2-40B4-BE49-F238E27FC236}">
                <a16:creationId xmlns:a16="http://schemas.microsoft.com/office/drawing/2014/main" id="{D1062354-E090-8EFE-984A-063800FD89BE}"/>
              </a:ext>
            </a:extLst>
          </p:cNvPr>
          <p:cNvGrpSpPr/>
          <p:nvPr/>
        </p:nvGrpSpPr>
        <p:grpSpPr>
          <a:xfrm>
            <a:off x="3970597" y="2973359"/>
            <a:ext cx="1259890" cy="569334"/>
            <a:chOff x="2620772" y="2855931"/>
            <a:chExt cx="1408283" cy="754912"/>
          </a:xfrm>
        </p:grpSpPr>
        <p:sp>
          <p:nvSpPr>
            <p:cNvPr id="49" name="Rectangle: Rounded Corners 48">
              <a:extLst>
                <a:ext uri="{FF2B5EF4-FFF2-40B4-BE49-F238E27FC236}">
                  <a16:creationId xmlns:a16="http://schemas.microsoft.com/office/drawing/2014/main" id="{C792D685-6EC9-4B16-635A-5B0CFCBAEC50}"/>
                </a:ext>
              </a:extLst>
            </p:cNvPr>
            <p:cNvSpPr/>
            <p:nvPr/>
          </p:nvSpPr>
          <p:spPr>
            <a:xfrm>
              <a:off x="2620772" y="2855931"/>
              <a:ext cx="1408283" cy="754912"/>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2BBA55AB-F7C3-C260-B149-A637C2908FD2}"/>
                </a:ext>
              </a:extLst>
            </p:cNvPr>
            <p:cNvSpPr txBox="1"/>
            <p:nvPr/>
          </p:nvSpPr>
          <p:spPr>
            <a:xfrm>
              <a:off x="2959136" y="3048677"/>
              <a:ext cx="756938" cy="261610"/>
            </a:xfrm>
            <a:prstGeom prst="rect">
              <a:avLst/>
            </a:prstGeom>
            <a:noFill/>
          </p:spPr>
          <p:txBody>
            <a:bodyPr wrap="none" rtlCol="0">
              <a:spAutoFit/>
            </a:bodyPr>
            <a:lstStyle/>
            <a:p>
              <a:pPr algn="ctr" defTabSz="274320"/>
              <a:r>
                <a:rPr lang="en-US" sz="1100" dirty="0"/>
                <a:t>SLIMS-R</a:t>
              </a:r>
            </a:p>
          </p:txBody>
        </p:sp>
      </p:grpSp>
      <p:grpSp>
        <p:nvGrpSpPr>
          <p:cNvPr id="89" name="Group 88">
            <a:extLst>
              <a:ext uri="{FF2B5EF4-FFF2-40B4-BE49-F238E27FC236}">
                <a16:creationId xmlns:a16="http://schemas.microsoft.com/office/drawing/2014/main" id="{27BEDF91-42FD-F023-8721-0FB407E0BCFC}"/>
              </a:ext>
            </a:extLst>
          </p:cNvPr>
          <p:cNvGrpSpPr/>
          <p:nvPr/>
        </p:nvGrpSpPr>
        <p:grpSpPr>
          <a:xfrm>
            <a:off x="4268153" y="1782152"/>
            <a:ext cx="1338356" cy="476324"/>
            <a:chOff x="2168020" y="1497035"/>
            <a:chExt cx="1338356" cy="569333"/>
          </a:xfrm>
        </p:grpSpPr>
        <p:sp>
          <p:nvSpPr>
            <p:cNvPr id="58" name="Rectangle: Rounded Corners 57">
              <a:extLst>
                <a:ext uri="{FF2B5EF4-FFF2-40B4-BE49-F238E27FC236}">
                  <a16:creationId xmlns:a16="http://schemas.microsoft.com/office/drawing/2014/main" id="{1ADA090D-09EE-65B7-C4CF-2F1CFFDD4E80}"/>
                </a:ext>
              </a:extLst>
            </p:cNvPr>
            <p:cNvSpPr/>
            <p:nvPr/>
          </p:nvSpPr>
          <p:spPr>
            <a:xfrm>
              <a:off x="2187065" y="1497035"/>
              <a:ext cx="1319311" cy="569333"/>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7D3C140C-3FE1-946C-7DDD-EA4C9D91B5D0}"/>
                </a:ext>
              </a:extLst>
            </p:cNvPr>
            <p:cNvSpPr txBox="1"/>
            <p:nvPr/>
          </p:nvSpPr>
          <p:spPr>
            <a:xfrm>
              <a:off x="2418308" y="1541771"/>
              <a:ext cx="764953" cy="261610"/>
            </a:xfrm>
            <a:prstGeom prst="rect">
              <a:avLst/>
            </a:prstGeom>
            <a:noFill/>
          </p:spPr>
          <p:txBody>
            <a:bodyPr wrap="none" rtlCol="0">
              <a:spAutoFit/>
            </a:bodyPr>
            <a:lstStyle/>
            <a:p>
              <a:pPr algn="ctr" defTabSz="274320"/>
              <a:r>
                <a:rPr lang="en-US" sz="1100" dirty="0"/>
                <a:t>Bench UI</a:t>
              </a:r>
            </a:p>
          </p:txBody>
        </p:sp>
        <p:sp>
          <p:nvSpPr>
            <p:cNvPr id="62" name="TextBox 61">
              <a:extLst>
                <a:ext uri="{FF2B5EF4-FFF2-40B4-BE49-F238E27FC236}">
                  <a16:creationId xmlns:a16="http://schemas.microsoft.com/office/drawing/2014/main" id="{1A1AAB26-316E-A542-A2F1-FDAFBB221DF6}"/>
                </a:ext>
              </a:extLst>
            </p:cNvPr>
            <p:cNvSpPr txBox="1"/>
            <p:nvPr/>
          </p:nvSpPr>
          <p:spPr>
            <a:xfrm>
              <a:off x="2168020" y="1768986"/>
              <a:ext cx="1319311" cy="230832"/>
            </a:xfrm>
            <a:prstGeom prst="rect">
              <a:avLst/>
            </a:prstGeom>
            <a:noFill/>
          </p:spPr>
          <p:txBody>
            <a:bodyPr wrap="square">
              <a:spAutoFit/>
            </a:bodyPr>
            <a:lstStyle/>
            <a:p>
              <a:pPr algn="ctr" defTabSz="274320"/>
              <a:r>
                <a:rPr lang="en-US" sz="900" dirty="0"/>
                <a:t>Frontend</a:t>
              </a:r>
            </a:p>
          </p:txBody>
        </p:sp>
      </p:grpSp>
      <p:grpSp>
        <p:nvGrpSpPr>
          <p:cNvPr id="120" name="Group 119">
            <a:extLst>
              <a:ext uri="{FF2B5EF4-FFF2-40B4-BE49-F238E27FC236}">
                <a16:creationId xmlns:a16="http://schemas.microsoft.com/office/drawing/2014/main" id="{53E9D78C-C28E-3E2E-D9B4-1C55DCDA1B02}"/>
              </a:ext>
            </a:extLst>
          </p:cNvPr>
          <p:cNvGrpSpPr/>
          <p:nvPr/>
        </p:nvGrpSpPr>
        <p:grpSpPr>
          <a:xfrm>
            <a:off x="2239824" y="2994788"/>
            <a:ext cx="1505950" cy="569333"/>
            <a:chOff x="455627" y="4138685"/>
            <a:chExt cx="1701210" cy="569333"/>
          </a:xfrm>
        </p:grpSpPr>
        <p:sp>
          <p:nvSpPr>
            <p:cNvPr id="63" name="Rectangle: Rounded Corners 62">
              <a:extLst>
                <a:ext uri="{FF2B5EF4-FFF2-40B4-BE49-F238E27FC236}">
                  <a16:creationId xmlns:a16="http://schemas.microsoft.com/office/drawing/2014/main" id="{5FA64E2D-630C-4970-965B-E851626298CA}"/>
                </a:ext>
              </a:extLst>
            </p:cNvPr>
            <p:cNvSpPr/>
            <p:nvPr/>
          </p:nvSpPr>
          <p:spPr>
            <a:xfrm>
              <a:off x="455627" y="4138685"/>
              <a:ext cx="1701210" cy="569333"/>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9CE1EDB8-0E96-8295-761A-745B0521BAEC}"/>
                </a:ext>
              </a:extLst>
            </p:cNvPr>
            <p:cNvSpPr txBox="1"/>
            <p:nvPr/>
          </p:nvSpPr>
          <p:spPr>
            <a:xfrm>
              <a:off x="684727" y="4210194"/>
              <a:ext cx="1226618" cy="261610"/>
            </a:xfrm>
            <a:prstGeom prst="rect">
              <a:avLst/>
            </a:prstGeom>
            <a:noFill/>
          </p:spPr>
          <p:txBody>
            <a:bodyPr wrap="none" rtlCol="0">
              <a:spAutoFit/>
            </a:bodyPr>
            <a:lstStyle/>
            <a:p>
              <a:pPr algn="ctr" defTabSz="274320"/>
              <a:r>
                <a:rPr lang="en-US" sz="1100" dirty="0"/>
                <a:t>Requester portal</a:t>
              </a:r>
            </a:p>
          </p:txBody>
        </p:sp>
        <p:sp>
          <p:nvSpPr>
            <p:cNvPr id="68" name="TextBox 67">
              <a:extLst>
                <a:ext uri="{FF2B5EF4-FFF2-40B4-BE49-F238E27FC236}">
                  <a16:creationId xmlns:a16="http://schemas.microsoft.com/office/drawing/2014/main" id="{38535C99-EAA5-CC66-B814-B54C2AEB4BB0}"/>
                </a:ext>
              </a:extLst>
            </p:cNvPr>
            <p:cNvSpPr txBox="1"/>
            <p:nvPr/>
          </p:nvSpPr>
          <p:spPr>
            <a:xfrm>
              <a:off x="642266" y="4410636"/>
              <a:ext cx="1319311" cy="230832"/>
            </a:xfrm>
            <a:prstGeom prst="rect">
              <a:avLst/>
            </a:prstGeom>
            <a:noFill/>
          </p:spPr>
          <p:txBody>
            <a:bodyPr wrap="square">
              <a:spAutoFit/>
            </a:bodyPr>
            <a:lstStyle/>
            <a:p>
              <a:pPr algn="ctr" defTabSz="274320"/>
              <a:r>
                <a:rPr lang="en-US" sz="900" dirty="0"/>
                <a:t>Backend</a:t>
              </a:r>
            </a:p>
          </p:txBody>
        </p:sp>
      </p:grpSp>
      <p:grpSp>
        <p:nvGrpSpPr>
          <p:cNvPr id="90" name="Group 89">
            <a:extLst>
              <a:ext uri="{FF2B5EF4-FFF2-40B4-BE49-F238E27FC236}">
                <a16:creationId xmlns:a16="http://schemas.microsoft.com/office/drawing/2014/main" id="{7466F16F-07C8-2D59-D6C0-332CE7FD7195}"/>
              </a:ext>
            </a:extLst>
          </p:cNvPr>
          <p:cNvGrpSpPr/>
          <p:nvPr/>
        </p:nvGrpSpPr>
        <p:grpSpPr>
          <a:xfrm>
            <a:off x="2235043" y="1782152"/>
            <a:ext cx="1501001" cy="476324"/>
            <a:chOff x="602768" y="861492"/>
            <a:chExt cx="1701210" cy="569333"/>
          </a:xfrm>
        </p:grpSpPr>
        <p:sp>
          <p:nvSpPr>
            <p:cNvPr id="69" name="Rectangle: Rounded Corners 68">
              <a:extLst>
                <a:ext uri="{FF2B5EF4-FFF2-40B4-BE49-F238E27FC236}">
                  <a16:creationId xmlns:a16="http://schemas.microsoft.com/office/drawing/2014/main" id="{B38465E5-F710-2FE0-E177-82AFF394561A}"/>
                </a:ext>
              </a:extLst>
            </p:cNvPr>
            <p:cNvSpPr/>
            <p:nvPr/>
          </p:nvSpPr>
          <p:spPr>
            <a:xfrm>
              <a:off x="602768" y="861492"/>
              <a:ext cx="1701210" cy="569333"/>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91BE6E8F-9793-DB6C-E0E4-25430EBA993C}"/>
                </a:ext>
              </a:extLst>
            </p:cNvPr>
            <p:cNvSpPr txBox="1"/>
            <p:nvPr/>
          </p:nvSpPr>
          <p:spPr>
            <a:xfrm>
              <a:off x="840065" y="898205"/>
              <a:ext cx="1226618" cy="261610"/>
            </a:xfrm>
            <a:prstGeom prst="rect">
              <a:avLst/>
            </a:prstGeom>
            <a:noFill/>
          </p:spPr>
          <p:txBody>
            <a:bodyPr wrap="none" rtlCol="0">
              <a:spAutoFit/>
            </a:bodyPr>
            <a:lstStyle/>
            <a:p>
              <a:pPr algn="ctr" defTabSz="274320"/>
              <a:r>
                <a:rPr lang="en-US" sz="1100" dirty="0"/>
                <a:t>Requester portal</a:t>
              </a:r>
            </a:p>
          </p:txBody>
        </p:sp>
        <p:sp>
          <p:nvSpPr>
            <p:cNvPr id="73" name="TextBox 72">
              <a:extLst>
                <a:ext uri="{FF2B5EF4-FFF2-40B4-BE49-F238E27FC236}">
                  <a16:creationId xmlns:a16="http://schemas.microsoft.com/office/drawing/2014/main" id="{6D62B101-5178-EA55-B993-E9568129C35A}"/>
                </a:ext>
              </a:extLst>
            </p:cNvPr>
            <p:cNvSpPr txBox="1"/>
            <p:nvPr/>
          </p:nvSpPr>
          <p:spPr>
            <a:xfrm>
              <a:off x="789407" y="1133443"/>
              <a:ext cx="1319311" cy="230832"/>
            </a:xfrm>
            <a:prstGeom prst="rect">
              <a:avLst/>
            </a:prstGeom>
            <a:noFill/>
          </p:spPr>
          <p:txBody>
            <a:bodyPr wrap="square">
              <a:spAutoFit/>
            </a:bodyPr>
            <a:lstStyle/>
            <a:p>
              <a:pPr algn="ctr" defTabSz="274320"/>
              <a:r>
                <a:rPr lang="en-US" sz="900" dirty="0"/>
                <a:t>Frontend</a:t>
              </a:r>
            </a:p>
          </p:txBody>
        </p:sp>
      </p:grpSp>
      <p:cxnSp>
        <p:nvCxnSpPr>
          <p:cNvPr id="51" name="Straight Arrow Connector 50">
            <a:extLst>
              <a:ext uri="{FF2B5EF4-FFF2-40B4-BE49-F238E27FC236}">
                <a16:creationId xmlns:a16="http://schemas.microsoft.com/office/drawing/2014/main" id="{0B33442B-BFC5-B932-80E7-220EE85AD2E3}"/>
              </a:ext>
            </a:extLst>
          </p:cNvPr>
          <p:cNvCxnSpPr>
            <a:cxnSpLocks/>
            <a:stCxn id="2" idx="2"/>
            <a:endCxn id="12" idx="0"/>
          </p:cNvCxnSpPr>
          <p:nvPr/>
        </p:nvCxnSpPr>
        <p:spPr>
          <a:xfrm flipH="1">
            <a:off x="6474632" y="1444463"/>
            <a:ext cx="10632" cy="1353275"/>
          </a:xfrm>
          <a:prstGeom prst="straightConnector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17" name="Group 116">
            <a:extLst>
              <a:ext uri="{FF2B5EF4-FFF2-40B4-BE49-F238E27FC236}">
                <a16:creationId xmlns:a16="http://schemas.microsoft.com/office/drawing/2014/main" id="{8C980887-74C0-1CFB-8BB0-07E90574B4E1}"/>
              </a:ext>
            </a:extLst>
          </p:cNvPr>
          <p:cNvGrpSpPr/>
          <p:nvPr/>
        </p:nvGrpSpPr>
        <p:grpSpPr>
          <a:xfrm>
            <a:off x="5475175" y="554639"/>
            <a:ext cx="1860694" cy="3116005"/>
            <a:chOff x="4673726" y="584877"/>
            <a:chExt cx="1860694" cy="3116005"/>
          </a:xfrm>
        </p:grpSpPr>
        <p:sp>
          <p:nvSpPr>
            <p:cNvPr id="2" name="Rectangle: Rounded Corners 1">
              <a:extLst>
                <a:ext uri="{FF2B5EF4-FFF2-40B4-BE49-F238E27FC236}">
                  <a16:creationId xmlns:a16="http://schemas.microsoft.com/office/drawing/2014/main" id="{5DEF55E6-CD11-D3C4-FC37-1A40F345AE3A}"/>
                </a:ext>
              </a:extLst>
            </p:cNvPr>
            <p:cNvSpPr/>
            <p:nvPr/>
          </p:nvSpPr>
          <p:spPr>
            <a:xfrm>
              <a:off x="4833210" y="584877"/>
              <a:ext cx="1701210" cy="889824"/>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Rounded Corners 69">
              <a:extLst>
                <a:ext uri="{FF2B5EF4-FFF2-40B4-BE49-F238E27FC236}">
                  <a16:creationId xmlns:a16="http://schemas.microsoft.com/office/drawing/2014/main" id="{A02534CC-CBB8-0B4F-FC95-300CCB2C47DF}"/>
                </a:ext>
              </a:extLst>
            </p:cNvPr>
            <p:cNvSpPr/>
            <p:nvPr/>
          </p:nvSpPr>
          <p:spPr>
            <a:xfrm>
              <a:off x="4821752" y="1155043"/>
              <a:ext cx="1646604" cy="220405"/>
            </a:xfrm>
            <a:prstGeom prst="roundRect">
              <a:avLst>
                <a:gd name="adj" fmla="val 29740"/>
              </a:avLst>
            </a:prstGeom>
            <a:solidFill>
              <a:schemeClr val="bg1"/>
            </a:solid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sp>
          <p:nvSpPr>
            <p:cNvPr id="72" name="Rectangle: Rounded Corners 71">
              <a:extLst>
                <a:ext uri="{FF2B5EF4-FFF2-40B4-BE49-F238E27FC236}">
                  <a16:creationId xmlns:a16="http://schemas.microsoft.com/office/drawing/2014/main" id="{4F9E4C78-1081-D897-6087-DAEEE155934A}"/>
                </a:ext>
              </a:extLst>
            </p:cNvPr>
            <p:cNvSpPr/>
            <p:nvPr/>
          </p:nvSpPr>
          <p:spPr>
            <a:xfrm>
              <a:off x="4774995" y="1100833"/>
              <a:ext cx="1646604" cy="220405"/>
            </a:xfrm>
            <a:prstGeom prst="roundRect">
              <a:avLst>
                <a:gd name="adj" fmla="val 29740"/>
              </a:avLst>
            </a:prstGeom>
            <a:solidFill>
              <a:schemeClr val="bg1"/>
            </a:solid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endParaRPr>
            </a:p>
          </p:txBody>
        </p:sp>
        <p:sp>
          <p:nvSpPr>
            <p:cNvPr id="12" name="Rectangle: Rounded Corners 11">
              <a:extLst>
                <a:ext uri="{FF2B5EF4-FFF2-40B4-BE49-F238E27FC236}">
                  <a16:creationId xmlns:a16="http://schemas.microsoft.com/office/drawing/2014/main" id="{00A0A6A9-9B4D-C1A7-A4CC-B865C19C9814}"/>
                </a:ext>
              </a:extLst>
            </p:cNvPr>
            <p:cNvSpPr/>
            <p:nvPr/>
          </p:nvSpPr>
          <p:spPr>
            <a:xfrm>
              <a:off x="4833210" y="2827976"/>
              <a:ext cx="1679945" cy="872906"/>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52093F47-4C0F-BD74-CB73-B73FA6D5F611}"/>
                </a:ext>
              </a:extLst>
            </p:cNvPr>
            <p:cNvSpPr txBox="1"/>
            <p:nvPr/>
          </p:nvSpPr>
          <p:spPr>
            <a:xfrm>
              <a:off x="5125909" y="2891172"/>
              <a:ext cx="1061509" cy="261610"/>
            </a:xfrm>
            <a:prstGeom prst="rect">
              <a:avLst/>
            </a:prstGeom>
            <a:noFill/>
          </p:spPr>
          <p:txBody>
            <a:bodyPr wrap="none" rtlCol="0">
              <a:spAutoFit/>
            </a:bodyPr>
            <a:lstStyle/>
            <a:p>
              <a:pPr algn="ctr" defTabSz="274320"/>
              <a:r>
                <a:rPr lang="en-US" sz="1100" dirty="0"/>
                <a:t>SLIMS Server</a:t>
              </a:r>
            </a:p>
          </p:txBody>
        </p:sp>
        <p:sp>
          <p:nvSpPr>
            <p:cNvPr id="31" name="TextBox 30">
              <a:extLst>
                <a:ext uri="{FF2B5EF4-FFF2-40B4-BE49-F238E27FC236}">
                  <a16:creationId xmlns:a16="http://schemas.microsoft.com/office/drawing/2014/main" id="{85292A86-F500-4939-D965-4087679078EB}"/>
                </a:ext>
              </a:extLst>
            </p:cNvPr>
            <p:cNvSpPr txBox="1"/>
            <p:nvPr/>
          </p:nvSpPr>
          <p:spPr>
            <a:xfrm>
              <a:off x="5126016" y="713458"/>
              <a:ext cx="1115599" cy="261610"/>
            </a:xfrm>
            <a:prstGeom prst="rect">
              <a:avLst/>
            </a:prstGeom>
            <a:noFill/>
          </p:spPr>
          <p:txBody>
            <a:bodyPr wrap="square" rtlCol="0">
              <a:spAutoFit/>
            </a:bodyPr>
            <a:lstStyle/>
            <a:p>
              <a:pPr algn="ctr" defTabSz="274320"/>
              <a:r>
                <a:rPr lang="en-US" sz="1100" dirty="0"/>
                <a:t>SLIMS Client</a:t>
              </a:r>
            </a:p>
          </p:txBody>
        </p:sp>
        <p:sp>
          <p:nvSpPr>
            <p:cNvPr id="75" name="TextBox 74">
              <a:extLst>
                <a:ext uri="{FF2B5EF4-FFF2-40B4-BE49-F238E27FC236}">
                  <a16:creationId xmlns:a16="http://schemas.microsoft.com/office/drawing/2014/main" id="{6F5DB7B1-AA07-6081-D789-06C809CD7285}"/>
                </a:ext>
              </a:extLst>
            </p:cNvPr>
            <p:cNvSpPr txBox="1"/>
            <p:nvPr/>
          </p:nvSpPr>
          <p:spPr>
            <a:xfrm>
              <a:off x="4673726" y="1107226"/>
              <a:ext cx="1851712" cy="230832"/>
            </a:xfrm>
            <a:prstGeom prst="rect">
              <a:avLst/>
            </a:prstGeom>
            <a:noFill/>
            <a:ln>
              <a:noFill/>
            </a:ln>
          </p:spPr>
          <p:txBody>
            <a:bodyPr wrap="square" rtlCol="0">
              <a:spAutoFit/>
            </a:bodyPr>
            <a:lstStyle/>
            <a:p>
              <a:pPr algn="ctr" defTabSz="274320"/>
              <a:r>
                <a:rPr lang="en-US" sz="900" dirty="0"/>
                <a:t>SLIMS GUI Plugins (</a:t>
              </a:r>
              <a:r>
                <a:rPr lang="en-US" sz="900" dirty="0" err="1"/>
                <a:t>Vaadin</a:t>
              </a:r>
              <a:r>
                <a:rPr lang="en-US" sz="900" dirty="0"/>
                <a:t>)</a:t>
              </a:r>
            </a:p>
          </p:txBody>
        </p:sp>
        <p:grpSp>
          <p:nvGrpSpPr>
            <p:cNvPr id="78" name="Group 77">
              <a:extLst>
                <a:ext uri="{FF2B5EF4-FFF2-40B4-BE49-F238E27FC236}">
                  <a16:creationId xmlns:a16="http://schemas.microsoft.com/office/drawing/2014/main" id="{71588B48-3148-EB6C-923A-66BF06BE37E4}"/>
                </a:ext>
              </a:extLst>
            </p:cNvPr>
            <p:cNvGrpSpPr/>
            <p:nvPr/>
          </p:nvGrpSpPr>
          <p:grpSpPr>
            <a:xfrm>
              <a:off x="5096753" y="3151703"/>
              <a:ext cx="1075335" cy="400110"/>
              <a:chOff x="472047" y="2472784"/>
              <a:chExt cx="1075335" cy="400110"/>
            </a:xfrm>
          </p:grpSpPr>
          <p:sp>
            <p:nvSpPr>
              <p:cNvPr id="77" name="Rectangle: Rounded Corners 76">
                <a:extLst>
                  <a:ext uri="{FF2B5EF4-FFF2-40B4-BE49-F238E27FC236}">
                    <a16:creationId xmlns:a16="http://schemas.microsoft.com/office/drawing/2014/main" id="{3450511C-9F58-E621-992B-002A56246774}"/>
                  </a:ext>
                </a:extLst>
              </p:cNvPr>
              <p:cNvSpPr/>
              <p:nvPr/>
            </p:nvSpPr>
            <p:spPr>
              <a:xfrm>
                <a:off x="511015" y="2509638"/>
                <a:ext cx="1008610" cy="330772"/>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8A80F099-6AF5-E3D6-287D-08D60A7A86B7}"/>
                  </a:ext>
                </a:extLst>
              </p:cNvPr>
              <p:cNvSpPr txBox="1"/>
              <p:nvPr/>
            </p:nvSpPr>
            <p:spPr>
              <a:xfrm>
                <a:off x="472047" y="2472784"/>
                <a:ext cx="1075335" cy="400110"/>
              </a:xfrm>
              <a:prstGeom prst="rect">
                <a:avLst/>
              </a:prstGeom>
              <a:noFill/>
            </p:spPr>
            <p:txBody>
              <a:bodyPr wrap="square" rtlCol="0">
                <a:spAutoFit/>
              </a:bodyPr>
              <a:lstStyle/>
              <a:p>
                <a:pPr algn="ctr" defTabSz="274320"/>
                <a:r>
                  <a:rPr lang="en-US" sz="1050" dirty="0"/>
                  <a:t>SLIMS Rest</a:t>
                </a:r>
              </a:p>
              <a:p>
                <a:pPr algn="ctr" defTabSz="274320"/>
                <a:r>
                  <a:rPr lang="en-US" sz="900" dirty="0"/>
                  <a:t>(Rest-API)</a:t>
                </a:r>
              </a:p>
            </p:txBody>
          </p:sp>
        </p:grpSp>
      </p:grpSp>
      <p:cxnSp>
        <p:nvCxnSpPr>
          <p:cNvPr id="50" name="Straight Arrow Connector 49">
            <a:extLst>
              <a:ext uri="{FF2B5EF4-FFF2-40B4-BE49-F238E27FC236}">
                <a16:creationId xmlns:a16="http://schemas.microsoft.com/office/drawing/2014/main" id="{ED4CB77E-69CD-A0B1-55CC-04064A782957}"/>
              </a:ext>
            </a:extLst>
          </p:cNvPr>
          <p:cNvCxnSpPr>
            <a:cxnSpLocks/>
            <a:stCxn id="7" idx="2"/>
            <a:endCxn id="74" idx="3"/>
          </p:cNvCxnSpPr>
          <p:nvPr/>
        </p:nvCxnSpPr>
        <p:spPr>
          <a:xfrm flipH="1">
            <a:off x="6973537" y="2258476"/>
            <a:ext cx="353350" cy="1063044"/>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ED93DAEF-77FB-6DC1-A4B7-512931259764}"/>
              </a:ext>
            </a:extLst>
          </p:cNvPr>
          <p:cNvCxnSpPr>
            <a:cxnSpLocks/>
            <a:stCxn id="58" idx="2"/>
            <a:endCxn id="74" idx="1"/>
          </p:cNvCxnSpPr>
          <p:nvPr/>
        </p:nvCxnSpPr>
        <p:spPr>
          <a:xfrm>
            <a:off x="4946854" y="2258476"/>
            <a:ext cx="951348" cy="1063044"/>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21" name="Connector: Elbow 109">
            <a:extLst>
              <a:ext uri="{FF2B5EF4-FFF2-40B4-BE49-F238E27FC236}">
                <a16:creationId xmlns:a16="http://schemas.microsoft.com/office/drawing/2014/main" id="{44B41AFF-84C7-FC3A-DFE3-0BAA429CEDC5}"/>
              </a:ext>
            </a:extLst>
          </p:cNvPr>
          <p:cNvCxnSpPr>
            <a:cxnSpLocks/>
            <a:stCxn id="69" idx="2"/>
            <a:endCxn id="63" idx="0"/>
          </p:cNvCxnSpPr>
          <p:nvPr/>
        </p:nvCxnSpPr>
        <p:spPr>
          <a:xfrm>
            <a:off x="2985544" y="2258476"/>
            <a:ext cx="7255" cy="736312"/>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1E837A98-E80C-8351-4C88-130C02E8B328}"/>
              </a:ext>
            </a:extLst>
          </p:cNvPr>
          <p:cNvCxnSpPr>
            <a:cxnSpLocks/>
            <a:stCxn id="49" idx="2"/>
          </p:cNvCxnSpPr>
          <p:nvPr/>
        </p:nvCxnSpPr>
        <p:spPr>
          <a:xfrm>
            <a:off x="4600542" y="3542693"/>
            <a:ext cx="0" cy="556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13F8B8A3-82C8-FE6A-1FA5-458F9EA6BBF2}"/>
              </a:ext>
            </a:extLst>
          </p:cNvPr>
          <p:cNvCxnSpPr>
            <a:cxnSpLocks/>
          </p:cNvCxnSpPr>
          <p:nvPr/>
        </p:nvCxnSpPr>
        <p:spPr>
          <a:xfrm>
            <a:off x="6474632" y="3678264"/>
            <a:ext cx="0" cy="4212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36B9996E-496E-5573-2EAF-F0C4A302A21F}"/>
              </a:ext>
            </a:extLst>
          </p:cNvPr>
          <p:cNvSpPr/>
          <p:nvPr/>
        </p:nvSpPr>
        <p:spPr>
          <a:xfrm>
            <a:off x="8361896" y="1782152"/>
            <a:ext cx="1701210" cy="476324"/>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8E806AC-CEB2-0684-4841-D4099247EA04}"/>
              </a:ext>
            </a:extLst>
          </p:cNvPr>
          <p:cNvSpPr txBox="1"/>
          <p:nvPr/>
        </p:nvSpPr>
        <p:spPr>
          <a:xfrm>
            <a:off x="8446886" y="1787481"/>
            <a:ext cx="1518364" cy="415498"/>
          </a:xfrm>
          <a:prstGeom prst="rect">
            <a:avLst/>
          </a:prstGeom>
          <a:noFill/>
        </p:spPr>
        <p:txBody>
          <a:bodyPr wrap="none" rtlCol="0">
            <a:spAutoFit/>
          </a:bodyPr>
          <a:lstStyle/>
          <a:p>
            <a:pPr algn="ctr" defTabSz="274320"/>
            <a:r>
              <a:rPr lang="en-US" sz="1100" dirty="0"/>
              <a:t>SLIMS Remote</a:t>
            </a:r>
          </a:p>
          <a:p>
            <a:pPr algn="ctr" defTabSz="274320"/>
            <a:r>
              <a:rPr lang="en-US" sz="1000" dirty="0"/>
              <a:t>(for cloud deployments)</a:t>
            </a:r>
          </a:p>
        </p:txBody>
      </p:sp>
      <p:cxnSp>
        <p:nvCxnSpPr>
          <p:cNvPr id="11" name="Straight Arrow Connector 10">
            <a:extLst>
              <a:ext uri="{FF2B5EF4-FFF2-40B4-BE49-F238E27FC236}">
                <a16:creationId xmlns:a16="http://schemas.microsoft.com/office/drawing/2014/main" id="{351ABC7B-AADC-FC6D-C126-23E3553DFC8C}"/>
              </a:ext>
            </a:extLst>
          </p:cNvPr>
          <p:cNvCxnSpPr>
            <a:cxnSpLocks/>
            <a:stCxn id="4" idx="2"/>
            <a:endCxn id="74" idx="3"/>
          </p:cNvCxnSpPr>
          <p:nvPr/>
        </p:nvCxnSpPr>
        <p:spPr>
          <a:xfrm flipH="1">
            <a:off x="6973537" y="2258476"/>
            <a:ext cx="2238964" cy="1063044"/>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577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C61ADA17-B8B9-426E-A5CD-778E9CFDB263}"/>
              </a:ext>
            </a:extLst>
          </p:cNvPr>
          <p:cNvSpPr>
            <a:spLocks noGrp="1"/>
          </p:cNvSpPr>
          <p:nvPr>
            <p:ph type="ftr" sz="quarter" idx="11"/>
          </p:nvPr>
        </p:nvSpPr>
        <p:spPr/>
        <p:txBody>
          <a:bodyPr/>
          <a:lstStyle/>
          <a:p>
            <a:r>
              <a:rPr lang="en-US"/>
              <a:t>SLIMS Java API Training          R4526A-CU660         For Research Use Only. Not for use in diagnostic procedures.</a:t>
            </a:r>
          </a:p>
        </p:txBody>
      </p:sp>
      <p:sp>
        <p:nvSpPr>
          <p:cNvPr id="6" name="Slide Number Placeholder 5"/>
          <p:cNvSpPr>
            <a:spLocks noGrp="1"/>
          </p:cNvSpPr>
          <p:nvPr>
            <p:ph type="sldNum" sz="quarter" idx="12"/>
          </p:nvPr>
        </p:nvSpPr>
        <p:spPr/>
        <p:txBody>
          <a:bodyPr/>
          <a:lstStyle/>
          <a:p>
            <a:fld id="{CBD803B2-A378-42BD-B5EC-F7748F169FE0}" type="slidenum">
              <a:rPr lang="en-US" smtClean="0"/>
              <a:pPr/>
              <a:t>5</a:t>
            </a:fld>
            <a:endParaRPr lang="en-US"/>
          </a:p>
        </p:txBody>
      </p:sp>
      <p:sp>
        <p:nvSpPr>
          <p:cNvPr id="2" name="Title 1"/>
          <p:cNvSpPr>
            <a:spLocks noGrp="1"/>
          </p:cNvSpPr>
          <p:nvPr>
            <p:ph type="title"/>
          </p:nvPr>
        </p:nvSpPr>
        <p:spPr/>
        <p:txBody>
          <a:bodyPr/>
          <a:lstStyle/>
          <a:p>
            <a:r>
              <a:rPr lang="en-US" dirty="0"/>
              <a:t>SLIMS Rest API</a:t>
            </a:r>
          </a:p>
        </p:txBody>
      </p:sp>
      <p:sp>
        <p:nvSpPr>
          <p:cNvPr id="3" name="Content Placeholder 2"/>
          <p:cNvSpPr>
            <a:spLocks noGrp="1"/>
          </p:cNvSpPr>
          <p:nvPr>
            <p:ph sz="half" idx="1"/>
          </p:nvPr>
        </p:nvSpPr>
        <p:spPr/>
        <p:txBody>
          <a:bodyPr>
            <a:normAutofit fontScale="92500"/>
          </a:bodyPr>
          <a:lstStyle/>
          <a:p>
            <a:r>
              <a:rPr lang="en-US" sz="1900" dirty="0">
                <a:sym typeface="Open Sans"/>
              </a:rPr>
              <a:t>Address: </a:t>
            </a:r>
            <a:r>
              <a:rPr lang="en-US" sz="1900" dirty="0">
                <a:sym typeface="Open Sans"/>
                <a:hlinkClick r:id="rId3"/>
              </a:rPr>
              <a:t>https://cglu-test.fra.slims.agilent.com/slims/slimsrest/v1/swagger-ui/index.html</a:t>
            </a:r>
            <a:r>
              <a:rPr lang="en-US" sz="1900" dirty="0">
                <a:sym typeface="Open Sans"/>
              </a:rPr>
              <a:t> </a:t>
            </a:r>
          </a:p>
          <a:p>
            <a:r>
              <a:rPr lang="en-US" sz="1900" dirty="0">
                <a:sym typeface="Open Sans"/>
              </a:rPr>
              <a:t>Connect to REST API using same credentials as for SLIMS.</a:t>
            </a:r>
          </a:p>
          <a:p>
            <a:pPr marL="342900" lvl="0" indent="-342900">
              <a:buFont typeface="Arial" panose="020B0604020202020204" pitchFamily="34" charset="0"/>
              <a:buChar char="•"/>
            </a:pPr>
            <a:r>
              <a:rPr lang="en-US" sz="1900" dirty="0">
                <a:sym typeface="Open Sans"/>
              </a:rPr>
              <a:t>Simple calls: Create, Read, Update, Delete (CRUD)</a:t>
            </a:r>
          </a:p>
          <a:p>
            <a:pPr marL="342900" lvl="0" indent="-342900">
              <a:buFont typeface="Arial" panose="020B0604020202020204" pitchFamily="34" charset="0"/>
              <a:buChar char="•"/>
            </a:pPr>
            <a:r>
              <a:rPr lang="en-US" sz="1900" dirty="0">
                <a:sym typeface="Open Sans"/>
              </a:rPr>
              <a:t>Extended calls: Mix contents, Upload attachments</a:t>
            </a:r>
          </a:p>
          <a:p>
            <a:r>
              <a:rPr lang="en-US" sz="1900" dirty="0">
                <a:sym typeface="Open Sans"/>
              </a:rPr>
              <a:t>Documentation &amp; Try it out feature available at: </a:t>
            </a:r>
            <a:r>
              <a:rPr lang="en-US" sz="1900" dirty="0">
                <a:sym typeface="Open Sans"/>
                <a:hlinkClick r:id="rId3"/>
              </a:rPr>
              <a:t>https://cglu-test.fra.slims.agilent.com/slims/slimsrest/v1/swagger-ui/index.html</a:t>
            </a:r>
            <a:r>
              <a:rPr lang="en-US" sz="1900" dirty="0">
                <a:sym typeface="Open Sans"/>
              </a:rPr>
              <a:t> </a:t>
            </a:r>
          </a:p>
          <a:p>
            <a:endParaRPr lang="en-US" sz="1900" dirty="0">
              <a:sym typeface="Open Sans"/>
            </a:endParaRPr>
          </a:p>
        </p:txBody>
      </p:sp>
      <p:grpSp>
        <p:nvGrpSpPr>
          <p:cNvPr id="330" name="Group 329">
            <a:extLst>
              <a:ext uri="{FF2B5EF4-FFF2-40B4-BE49-F238E27FC236}">
                <a16:creationId xmlns:a16="http://schemas.microsoft.com/office/drawing/2014/main" id="{532E8E9B-4C7C-4A51-F6E5-9330EF89687B}"/>
              </a:ext>
            </a:extLst>
          </p:cNvPr>
          <p:cNvGrpSpPr/>
          <p:nvPr/>
        </p:nvGrpSpPr>
        <p:grpSpPr>
          <a:xfrm>
            <a:off x="4197916" y="949013"/>
            <a:ext cx="7387798" cy="4887307"/>
            <a:chOff x="4197916" y="949013"/>
            <a:chExt cx="7387798" cy="4887307"/>
          </a:xfrm>
        </p:grpSpPr>
        <p:sp>
          <p:nvSpPr>
            <p:cNvPr id="248" name="Rectangle: Rounded Corners 247">
              <a:extLst>
                <a:ext uri="{FF2B5EF4-FFF2-40B4-BE49-F238E27FC236}">
                  <a16:creationId xmlns:a16="http://schemas.microsoft.com/office/drawing/2014/main" id="{0EF838FB-FFFA-0676-D4A8-DB63589143B8}"/>
                </a:ext>
              </a:extLst>
            </p:cNvPr>
            <p:cNvSpPr/>
            <p:nvPr/>
          </p:nvSpPr>
          <p:spPr>
            <a:xfrm>
              <a:off x="6760055" y="4142755"/>
              <a:ext cx="2203129" cy="526300"/>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9" name="Graphic 248" descr="Folder outline">
              <a:extLst>
                <a:ext uri="{FF2B5EF4-FFF2-40B4-BE49-F238E27FC236}">
                  <a16:creationId xmlns:a16="http://schemas.microsoft.com/office/drawing/2014/main" id="{BBD9AD70-4D8C-580B-2D6B-9095DCE93B0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32757" y="5011824"/>
              <a:ext cx="786180" cy="824089"/>
            </a:xfrm>
            <a:prstGeom prst="rect">
              <a:avLst/>
            </a:prstGeom>
          </p:spPr>
        </p:pic>
        <p:pic>
          <p:nvPicPr>
            <p:cNvPr id="250" name="Graphic 249" descr="Database outline">
              <a:extLst>
                <a:ext uri="{FF2B5EF4-FFF2-40B4-BE49-F238E27FC236}">
                  <a16:creationId xmlns:a16="http://schemas.microsoft.com/office/drawing/2014/main" id="{42DFCFFB-4F6C-964B-7B5C-44E12BBA762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67372" y="5069170"/>
              <a:ext cx="786180" cy="767150"/>
            </a:xfrm>
            <a:prstGeom prst="rect">
              <a:avLst/>
            </a:prstGeom>
          </p:spPr>
        </p:pic>
        <p:sp>
          <p:nvSpPr>
            <p:cNvPr id="251" name="Rectangle: Rounded Corners 250">
              <a:extLst>
                <a:ext uri="{FF2B5EF4-FFF2-40B4-BE49-F238E27FC236}">
                  <a16:creationId xmlns:a16="http://schemas.microsoft.com/office/drawing/2014/main" id="{486C083E-3F23-4FF3-7B45-FB4B2F928C3F}"/>
                </a:ext>
              </a:extLst>
            </p:cNvPr>
            <p:cNvSpPr/>
            <p:nvPr/>
          </p:nvSpPr>
          <p:spPr>
            <a:xfrm>
              <a:off x="4197916" y="2651894"/>
              <a:ext cx="7342643" cy="1196488"/>
            </a:xfrm>
            <a:prstGeom prst="roundRect">
              <a:avLst>
                <a:gd name="adj" fmla="val 29740"/>
              </a:avLst>
            </a:prstGeom>
            <a:noFill/>
            <a:ln w="19050">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pic>
          <p:nvPicPr>
            <p:cNvPr id="252" name="Graphic 251" descr="Gears outline">
              <a:extLst>
                <a:ext uri="{FF2B5EF4-FFF2-40B4-BE49-F238E27FC236}">
                  <a16:creationId xmlns:a16="http://schemas.microsoft.com/office/drawing/2014/main" id="{FF5E0C8A-86C1-77E3-7CA4-E377A406596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443967">
              <a:off x="8971080" y="4159580"/>
              <a:ext cx="487911" cy="476101"/>
            </a:xfrm>
            <a:prstGeom prst="rect">
              <a:avLst/>
            </a:prstGeom>
          </p:spPr>
        </p:pic>
        <p:pic>
          <p:nvPicPr>
            <p:cNvPr id="253" name="Graphic 252" descr="Gears outline">
              <a:extLst>
                <a:ext uri="{FF2B5EF4-FFF2-40B4-BE49-F238E27FC236}">
                  <a16:creationId xmlns:a16="http://schemas.microsoft.com/office/drawing/2014/main" id="{B24784B2-00CC-2F74-45CD-BCCEA332DCF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7144992">
              <a:off x="6278774" y="4109240"/>
              <a:ext cx="476101" cy="487911"/>
            </a:xfrm>
            <a:prstGeom prst="rect">
              <a:avLst/>
            </a:prstGeom>
          </p:spPr>
        </p:pic>
        <p:sp>
          <p:nvSpPr>
            <p:cNvPr id="254" name="TextBox 253">
              <a:extLst>
                <a:ext uri="{FF2B5EF4-FFF2-40B4-BE49-F238E27FC236}">
                  <a16:creationId xmlns:a16="http://schemas.microsoft.com/office/drawing/2014/main" id="{AC346646-CFBB-3405-6778-F62726BEE12D}"/>
                </a:ext>
              </a:extLst>
            </p:cNvPr>
            <p:cNvSpPr txBox="1"/>
            <p:nvPr/>
          </p:nvSpPr>
          <p:spPr>
            <a:xfrm>
              <a:off x="5550805" y="5216001"/>
              <a:ext cx="678363" cy="361499"/>
            </a:xfrm>
            <a:prstGeom prst="rect">
              <a:avLst/>
            </a:prstGeom>
            <a:noFill/>
          </p:spPr>
          <p:txBody>
            <a:bodyPr wrap="none" rtlCol="0">
              <a:spAutoFit/>
            </a:bodyPr>
            <a:lstStyle/>
            <a:p>
              <a:pPr defTabSz="274320"/>
              <a:endParaRPr lang="en-US" sz="1100" dirty="0"/>
            </a:p>
            <a:p>
              <a:pPr defTabSz="274320"/>
              <a:r>
                <a:rPr lang="en-US" sz="1100" dirty="0"/>
                <a:t>Database</a:t>
              </a:r>
            </a:p>
          </p:txBody>
        </p:sp>
        <p:sp>
          <p:nvSpPr>
            <p:cNvPr id="255" name="TextBox 254">
              <a:extLst>
                <a:ext uri="{FF2B5EF4-FFF2-40B4-BE49-F238E27FC236}">
                  <a16:creationId xmlns:a16="http://schemas.microsoft.com/office/drawing/2014/main" id="{DF3B0210-2D26-BEBE-8729-F20A154B36CE}"/>
                </a:ext>
              </a:extLst>
            </p:cNvPr>
            <p:cNvSpPr txBox="1"/>
            <p:nvPr/>
          </p:nvSpPr>
          <p:spPr>
            <a:xfrm>
              <a:off x="8787715" y="2620900"/>
              <a:ext cx="1290738" cy="261610"/>
            </a:xfrm>
            <a:prstGeom prst="rect">
              <a:avLst/>
            </a:prstGeom>
            <a:noFill/>
            <a:ln>
              <a:noFill/>
            </a:ln>
          </p:spPr>
          <p:txBody>
            <a:bodyPr wrap="none" rtlCol="0">
              <a:spAutoFit/>
            </a:bodyPr>
            <a:lstStyle/>
            <a:p>
              <a:pPr defTabSz="274320"/>
              <a:r>
                <a:rPr lang="en-US" sz="1100" dirty="0" err="1">
                  <a:solidFill>
                    <a:schemeClr val="accent4"/>
                  </a:solidFill>
                </a:rPr>
                <a:t>Hazelcast</a:t>
              </a:r>
              <a:r>
                <a:rPr lang="en-US" sz="1100" dirty="0">
                  <a:solidFill>
                    <a:schemeClr val="accent4"/>
                  </a:solidFill>
                </a:rPr>
                <a:t> Cluster</a:t>
              </a:r>
            </a:p>
          </p:txBody>
        </p:sp>
        <p:sp>
          <p:nvSpPr>
            <p:cNvPr id="256" name="TextBox 255">
              <a:extLst>
                <a:ext uri="{FF2B5EF4-FFF2-40B4-BE49-F238E27FC236}">
                  <a16:creationId xmlns:a16="http://schemas.microsoft.com/office/drawing/2014/main" id="{AF4FF540-2ADE-E0CB-D66D-2639A5682FC1}"/>
                </a:ext>
              </a:extLst>
            </p:cNvPr>
            <p:cNvSpPr txBox="1"/>
            <p:nvPr/>
          </p:nvSpPr>
          <p:spPr>
            <a:xfrm>
              <a:off x="10772285" y="5314128"/>
              <a:ext cx="813429" cy="219482"/>
            </a:xfrm>
            <a:prstGeom prst="rect">
              <a:avLst/>
            </a:prstGeom>
            <a:noFill/>
          </p:spPr>
          <p:txBody>
            <a:bodyPr wrap="none" rtlCol="0">
              <a:spAutoFit/>
            </a:bodyPr>
            <a:lstStyle/>
            <a:p>
              <a:pPr defTabSz="274320"/>
              <a:r>
                <a:rPr lang="en-US" sz="1100" dirty="0"/>
                <a:t>File Storage</a:t>
              </a:r>
            </a:p>
          </p:txBody>
        </p:sp>
        <p:sp>
          <p:nvSpPr>
            <p:cNvPr id="257" name="TextBox 256">
              <a:extLst>
                <a:ext uri="{FF2B5EF4-FFF2-40B4-BE49-F238E27FC236}">
                  <a16:creationId xmlns:a16="http://schemas.microsoft.com/office/drawing/2014/main" id="{9A736F65-C6E9-FD01-89FD-477AF526146C}"/>
                </a:ext>
              </a:extLst>
            </p:cNvPr>
            <p:cNvSpPr txBox="1"/>
            <p:nvPr/>
          </p:nvSpPr>
          <p:spPr>
            <a:xfrm>
              <a:off x="7432757" y="4287890"/>
              <a:ext cx="845127" cy="219482"/>
            </a:xfrm>
            <a:prstGeom prst="rect">
              <a:avLst/>
            </a:prstGeom>
            <a:noFill/>
          </p:spPr>
          <p:txBody>
            <a:bodyPr wrap="none" rtlCol="0">
              <a:spAutoFit/>
            </a:bodyPr>
            <a:lstStyle/>
            <a:p>
              <a:pPr algn="ctr" defTabSz="274320"/>
              <a:r>
                <a:rPr lang="en-US" sz="1100" dirty="0"/>
                <a:t>Platform-API</a:t>
              </a:r>
            </a:p>
          </p:txBody>
        </p:sp>
        <p:cxnSp>
          <p:nvCxnSpPr>
            <p:cNvPr id="258" name="Connector: Elbow 257">
              <a:extLst>
                <a:ext uri="{FF2B5EF4-FFF2-40B4-BE49-F238E27FC236}">
                  <a16:creationId xmlns:a16="http://schemas.microsoft.com/office/drawing/2014/main" id="{CC3FDFC5-E21C-1147-1FEE-15F7AE37B22D}"/>
                </a:ext>
              </a:extLst>
            </p:cNvPr>
            <p:cNvCxnSpPr>
              <a:stCxn id="250" idx="0"/>
              <a:endCxn id="249" idx="0"/>
            </p:cNvCxnSpPr>
            <p:nvPr/>
          </p:nvCxnSpPr>
          <p:spPr>
            <a:xfrm rot="5400000" flipH="1" flipV="1">
              <a:off x="7814481" y="2457805"/>
              <a:ext cx="57346" cy="5165386"/>
            </a:xfrm>
            <a:prstGeom prst="bentConnector3">
              <a:avLst>
                <a:gd name="adj1" fmla="val 37222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6901B89-3FA0-6749-A190-71AC5D00CF33}"/>
                </a:ext>
              </a:extLst>
            </p:cNvPr>
            <p:cNvCxnSpPr>
              <a:cxnSpLocks/>
              <a:stCxn id="248" idx="2"/>
            </p:cNvCxnSpPr>
            <p:nvPr/>
          </p:nvCxnSpPr>
          <p:spPr>
            <a:xfrm>
              <a:off x="7861620" y="4669055"/>
              <a:ext cx="0" cy="187328"/>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260" name="Rectangle: Rounded Corners 259">
              <a:extLst>
                <a:ext uri="{FF2B5EF4-FFF2-40B4-BE49-F238E27FC236}">
                  <a16:creationId xmlns:a16="http://schemas.microsoft.com/office/drawing/2014/main" id="{6A9195DC-2CED-7330-D4BC-1FAA86993F4D}"/>
                </a:ext>
              </a:extLst>
            </p:cNvPr>
            <p:cNvSpPr/>
            <p:nvPr/>
          </p:nvSpPr>
          <p:spPr>
            <a:xfrm>
              <a:off x="8417493" y="2003838"/>
              <a:ext cx="1091382" cy="399619"/>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61" name="TextBox 260">
              <a:extLst>
                <a:ext uri="{FF2B5EF4-FFF2-40B4-BE49-F238E27FC236}">
                  <a16:creationId xmlns:a16="http://schemas.microsoft.com/office/drawing/2014/main" id="{598D03CC-E31A-4E46-E427-F933D6570476}"/>
                </a:ext>
              </a:extLst>
            </p:cNvPr>
            <p:cNvSpPr txBox="1"/>
            <p:nvPr/>
          </p:nvSpPr>
          <p:spPr>
            <a:xfrm>
              <a:off x="8426633" y="2087021"/>
              <a:ext cx="1082241" cy="261610"/>
            </a:xfrm>
            <a:prstGeom prst="rect">
              <a:avLst/>
            </a:prstGeom>
            <a:noFill/>
          </p:spPr>
          <p:txBody>
            <a:bodyPr wrap="square" rtlCol="0">
              <a:spAutoFit/>
            </a:bodyPr>
            <a:lstStyle/>
            <a:p>
              <a:pPr algn="ctr" defTabSz="274320"/>
              <a:r>
                <a:rPr lang="en-US" sz="1100" dirty="0">
                  <a:solidFill>
                    <a:schemeClr val="tx1">
                      <a:lumMod val="20000"/>
                      <a:lumOff val="80000"/>
                    </a:schemeClr>
                  </a:solidFill>
                </a:rPr>
                <a:t>Python-API</a:t>
              </a:r>
            </a:p>
          </p:txBody>
        </p:sp>
        <p:cxnSp>
          <p:nvCxnSpPr>
            <p:cNvPr id="262" name="Connector: Elbow 261">
              <a:extLst>
                <a:ext uri="{FF2B5EF4-FFF2-40B4-BE49-F238E27FC236}">
                  <a16:creationId xmlns:a16="http://schemas.microsoft.com/office/drawing/2014/main" id="{E3881F9C-30D7-0020-8B72-F1808D2A6C3E}"/>
                </a:ext>
              </a:extLst>
            </p:cNvPr>
            <p:cNvCxnSpPr>
              <a:cxnSpLocks/>
              <a:stCxn id="282" idx="2"/>
              <a:endCxn id="266" idx="2"/>
            </p:cNvCxnSpPr>
            <p:nvPr/>
          </p:nvCxnSpPr>
          <p:spPr>
            <a:xfrm rot="16200000" flipH="1">
              <a:off x="7721795" y="896342"/>
              <a:ext cx="137716" cy="5342728"/>
            </a:xfrm>
            <a:prstGeom prst="bentConnector3">
              <a:avLst>
                <a:gd name="adj1" fmla="val 325917"/>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3" name="Straight Arrow Connector 262">
              <a:extLst>
                <a:ext uri="{FF2B5EF4-FFF2-40B4-BE49-F238E27FC236}">
                  <a16:creationId xmlns:a16="http://schemas.microsoft.com/office/drawing/2014/main" id="{9A01A271-2B11-AE16-6DB8-3E811D83AF61}"/>
                </a:ext>
              </a:extLst>
            </p:cNvPr>
            <p:cNvCxnSpPr>
              <a:cxnSpLocks/>
              <a:endCxn id="248" idx="0"/>
            </p:cNvCxnSpPr>
            <p:nvPr/>
          </p:nvCxnSpPr>
          <p:spPr>
            <a:xfrm>
              <a:off x="7861620" y="3948063"/>
              <a:ext cx="0" cy="194692"/>
            </a:xfrm>
            <a:prstGeom prst="straightConnector1">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64" name="Rectangle: Rounded Corners 263">
              <a:extLst>
                <a:ext uri="{FF2B5EF4-FFF2-40B4-BE49-F238E27FC236}">
                  <a16:creationId xmlns:a16="http://schemas.microsoft.com/office/drawing/2014/main" id="{0095900C-B95E-AF93-A641-5174DED4A599}"/>
                </a:ext>
              </a:extLst>
            </p:cNvPr>
            <p:cNvSpPr/>
            <p:nvPr/>
          </p:nvSpPr>
          <p:spPr>
            <a:xfrm>
              <a:off x="9832895" y="2860491"/>
              <a:ext cx="1490086" cy="633345"/>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65" name="Rectangle: Rounded Corners 264">
              <a:extLst>
                <a:ext uri="{FF2B5EF4-FFF2-40B4-BE49-F238E27FC236}">
                  <a16:creationId xmlns:a16="http://schemas.microsoft.com/office/drawing/2014/main" id="{6606F8F1-B641-3920-CD11-8BFB87E931BE}"/>
                </a:ext>
              </a:extLst>
            </p:cNvPr>
            <p:cNvSpPr/>
            <p:nvPr/>
          </p:nvSpPr>
          <p:spPr>
            <a:xfrm>
              <a:off x="9774935" y="2931855"/>
              <a:ext cx="1490086" cy="633345"/>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66" name="Rectangle: Rounded Corners 265">
              <a:extLst>
                <a:ext uri="{FF2B5EF4-FFF2-40B4-BE49-F238E27FC236}">
                  <a16:creationId xmlns:a16="http://schemas.microsoft.com/office/drawing/2014/main" id="{549CE598-1338-7A2A-B735-0CFA0F24C9A7}"/>
                </a:ext>
              </a:extLst>
            </p:cNvPr>
            <p:cNvSpPr/>
            <p:nvPr/>
          </p:nvSpPr>
          <p:spPr>
            <a:xfrm>
              <a:off x="9716975" y="3003219"/>
              <a:ext cx="1490086" cy="633345"/>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67" name="TextBox 266">
              <a:extLst>
                <a:ext uri="{FF2B5EF4-FFF2-40B4-BE49-F238E27FC236}">
                  <a16:creationId xmlns:a16="http://schemas.microsoft.com/office/drawing/2014/main" id="{B2E1B446-0203-95F6-87CF-D61F57D0CB1A}"/>
                </a:ext>
              </a:extLst>
            </p:cNvPr>
            <p:cNvSpPr txBox="1"/>
            <p:nvPr/>
          </p:nvSpPr>
          <p:spPr>
            <a:xfrm>
              <a:off x="9658235" y="3114516"/>
              <a:ext cx="1576072" cy="400110"/>
            </a:xfrm>
            <a:prstGeom prst="rect">
              <a:avLst/>
            </a:prstGeom>
            <a:noFill/>
          </p:spPr>
          <p:txBody>
            <a:bodyPr wrap="none" rtlCol="0">
              <a:spAutoFit/>
            </a:bodyPr>
            <a:lstStyle/>
            <a:p>
              <a:pPr algn="ctr" defTabSz="274320"/>
              <a:r>
                <a:rPr lang="en-US" sz="1100" dirty="0">
                  <a:solidFill>
                    <a:schemeClr val="tx1">
                      <a:lumMod val="20000"/>
                      <a:lumOff val="80000"/>
                    </a:schemeClr>
                  </a:solidFill>
                </a:rPr>
                <a:t>SLIMS GATE Plugins</a:t>
              </a:r>
            </a:p>
            <a:p>
              <a:pPr algn="ctr" defTabSz="274320"/>
              <a:r>
                <a:rPr lang="en-US" sz="900" dirty="0">
                  <a:solidFill>
                    <a:schemeClr val="tx1">
                      <a:lumMod val="20000"/>
                      <a:lumOff val="80000"/>
                    </a:schemeClr>
                  </a:solidFill>
                </a:rPr>
                <a:t>(Apache, Camel, Java API)</a:t>
              </a:r>
            </a:p>
          </p:txBody>
        </p:sp>
        <p:sp>
          <p:nvSpPr>
            <p:cNvPr id="269" name="Rectangle: Rounded Corners 268">
              <a:extLst>
                <a:ext uri="{FF2B5EF4-FFF2-40B4-BE49-F238E27FC236}">
                  <a16:creationId xmlns:a16="http://schemas.microsoft.com/office/drawing/2014/main" id="{4E9743E8-A232-67F9-24B1-9155AB818AF1}"/>
                </a:ext>
              </a:extLst>
            </p:cNvPr>
            <p:cNvSpPr/>
            <p:nvPr/>
          </p:nvSpPr>
          <p:spPr>
            <a:xfrm>
              <a:off x="9359748" y="949013"/>
              <a:ext cx="2203129" cy="820010"/>
            </a:xfrm>
            <a:prstGeom prst="roundRect">
              <a:avLst>
                <a:gd name="adj" fmla="val 18236"/>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70" name="TextBox 269">
              <a:extLst>
                <a:ext uri="{FF2B5EF4-FFF2-40B4-BE49-F238E27FC236}">
                  <a16:creationId xmlns:a16="http://schemas.microsoft.com/office/drawing/2014/main" id="{C2928285-A0D4-3451-7BD3-D9C95237AF80}"/>
                </a:ext>
              </a:extLst>
            </p:cNvPr>
            <p:cNvSpPr txBox="1"/>
            <p:nvPr/>
          </p:nvSpPr>
          <p:spPr>
            <a:xfrm>
              <a:off x="9805964" y="1017622"/>
              <a:ext cx="1189749" cy="307777"/>
            </a:xfrm>
            <a:prstGeom prst="rect">
              <a:avLst/>
            </a:prstGeom>
            <a:noFill/>
          </p:spPr>
          <p:txBody>
            <a:bodyPr wrap="none" rtlCol="0">
              <a:spAutoFit/>
            </a:bodyPr>
            <a:lstStyle/>
            <a:p>
              <a:pPr algn="ctr" defTabSz="274320"/>
              <a:r>
                <a:rPr lang="en-US" sz="1400" dirty="0">
                  <a:solidFill>
                    <a:schemeClr val="tx1">
                      <a:lumMod val="20000"/>
                      <a:lumOff val="80000"/>
                    </a:schemeClr>
                  </a:solidFill>
                </a:rPr>
                <a:t>Lab Network</a:t>
              </a:r>
            </a:p>
          </p:txBody>
        </p:sp>
        <p:sp>
          <p:nvSpPr>
            <p:cNvPr id="271" name="TextBox 270">
              <a:extLst>
                <a:ext uri="{FF2B5EF4-FFF2-40B4-BE49-F238E27FC236}">
                  <a16:creationId xmlns:a16="http://schemas.microsoft.com/office/drawing/2014/main" id="{F9496E2B-B8DE-9D9B-87EE-F841C9A6DCDA}"/>
                </a:ext>
              </a:extLst>
            </p:cNvPr>
            <p:cNvSpPr txBox="1"/>
            <p:nvPr/>
          </p:nvSpPr>
          <p:spPr>
            <a:xfrm>
              <a:off x="9728526" y="1197683"/>
              <a:ext cx="1040670" cy="592470"/>
            </a:xfrm>
            <a:prstGeom prst="rect">
              <a:avLst/>
            </a:prstGeom>
            <a:noFill/>
          </p:spPr>
          <p:txBody>
            <a:bodyPr wrap="none" rtlCol="0">
              <a:spAutoFit/>
            </a:bodyPr>
            <a:lstStyle/>
            <a:p>
              <a:pPr marL="171450" indent="-171450" defTabSz="274320">
                <a:buFontTx/>
                <a:buChar char="-"/>
              </a:pPr>
              <a:r>
                <a:rPr lang="en-US" sz="1100" dirty="0">
                  <a:solidFill>
                    <a:schemeClr val="tx1">
                      <a:lumMod val="20000"/>
                      <a:lumOff val="80000"/>
                    </a:schemeClr>
                  </a:solidFill>
                </a:rPr>
                <a:t>Printers</a:t>
              </a:r>
            </a:p>
            <a:p>
              <a:pPr marL="171450" indent="-171450" defTabSz="274320">
                <a:buFontTx/>
                <a:buChar char="-"/>
              </a:pPr>
              <a:r>
                <a:rPr lang="en-US" sz="1000" dirty="0">
                  <a:solidFill>
                    <a:schemeClr val="tx1">
                      <a:lumMod val="20000"/>
                      <a:lumOff val="80000"/>
                    </a:schemeClr>
                  </a:solidFill>
                </a:rPr>
                <a:t>HL7</a:t>
              </a:r>
              <a:endParaRPr lang="en-US" sz="1100" dirty="0">
                <a:solidFill>
                  <a:schemeClr val="tx1">
                    <a:lumMod val="20000"/>
                    <a:lumOff val="80000"/>
                  </a:schemeClr>
                </a:solidFill>
              </a:endParaRPr>
            </a:p>
            <a:p>
              <a:pPr marL="171450" indent="-171450" defTabSz="274320">
                <a:buFontTx/>
                <a:buChar char="-"/>
              </a:pPr>
              <a:r>
                <a:rPr lang="en-US" sz="1100" dirty="0">
                  <a:solidFill>
                    <a:schemeClr val="tx1">
                      <a:lumMod val="20000"/>
                      <a:lumOff val="80000"/>
                    </a:schemeClr>
                  </a:solidFill>
                </a:rPr>
                <a:t>Sequencer</a:t>
              </a:r>
            </a:p>
          </p:txBody>
        </p:sp>
        <p:sp>
          <p:nvSpPr>
            <p:cNvPr id="272" name="TextBox 271">
              <a:extLst>
                <a:ext uri="{FF2B5EF4-FFF2-40B4-BE49-F238E27FC236}">
                  <a16:creationId xmlns:a16="http://schemas.microsoft.com/office/drawing/2014/main" id="{32B62C4A-AFE8-DFB5-F74E-B05FC7D55121}"/>
                </a:ext>
              </a:extLst>
            </p:cNvPr>
            <p:cNvSpPr txBox="1"/>
            <p:nvPr/>
          </p:nvSpPr>
          <p:spPr>
            <a:xfrm>
              <a:off x="10549771" y="1197683"/>
              <a:ext cx="599844" cy="569387"/>
            </a:xfrm>
            <a:prstGeom prst="rect">
              <a:avLst/>
            </a:prstGeom>
            <a:noFill/>
          </p:spPr>
          <p:txBody>
            <a:bodyPr wrap="none" rtlCol="0">
              <a:spAutoFit/>
            </a:bodyPr>
            <a:lstStyle/>
            <a:p>
              <a:pPr marL="171450" indent="-171450" defTabSz="274320">
                <a:buFontTx/>
                <a:buChar char="-"/>
              </a:pPr>
              <a:r>
                <a:rPr lang="en-US" sz="1000" dirty="0">
                  <a:solidFill>
                    <a:schemeClr val="tx1">
                      <a:lumMod val="20000"/>
                      <a:lumOff val="80000"/>
                    </a:schemeClr>
                  </a:solidFill>
                </a:rPr>
                <a:t>Mail</a:t>
              </a:r>
            </a:p>
            <a:p>
              <a:pPr marL="171450" indent="-171450" defTabSz="274320">
                <a:buFontTx/>
                <a:buChar char="-"/>
              </a:pPr>
              <a:r>
                <a:rPr lang="en-US" sz="1000" dirty="0">
                  <a:solidFill>
                    <a:schemeClr val="tx1">
                      <a:lumMod val="20000"/>
                      <a:lumOff val="80000"/>
                    </a:schemeClr>
                  </a:solidFill>
                </a:rPr>
                <a:t>FTP</a:t>
              </a:r>
            </a:p>
            <a:p>
              <a:pPr defTabSz="274320"/>
              <a:endParaRPr lang="en-US" sz="1100" dirty="0">
                <a:solidFill>
                  <a:schemeClr val="tx1">
                    <a:lumMod val="20000"/>
                    <a:lumOff val="80000"/>
                  </a:schemeClr>
                </a:solidFill>
              </a:endParaRPr>
            </a:p>
          </p:txBody>
        </p:sp>
        <p:cxnSp>
          <p:nvCxnSpPr>
            <p:cNvPr id="273" name="Straight Arrow Connector 272">
              <a:extLst>
                <a:ext uri="{FF2B5EF4-FFF2-40B4-BE49-F238E27FC236}">
                  <a16:creationId xmlns:a16="http://schemas.microsoft.com/office/drawing/2014/main" id="{D2C2A3CC-57F7-98E4-25B8-0CD55AA4253F}"/>
                </a:ext>
              </a:extLst>
            </p:cNvPr>
            <p:cNvCxnSpPr>
              <a:cxnSpLocks/>
              <a:stCxn id="269" idx="2"/>
            </p:cNvCxnSpPr>
            <p:nvPr/>
          </p:nvCxnSpPr>
          <p:spPr>
            <a:xfrm>
              <a:off x="10461313" y="1769023"/>
              <a:ext cx="15290" cy="1204113"/>
            </a:xfrm>
            <a:prstGeom prst="straightConnector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75" name="Rectangle: Rounded Corners 274">
              <a:extLst>
                <a:ext uri="{FF2B5EF4-FFF2-40B4-BE49-F238E27FC236}">
                  <a16:creationId xmlns:a16="http://schemas.microsoft.com/office/drawing/2014/main" id="{861E9213-486D-AC30-C136-237D63A7197A}"/>
                </a:ext>
              </a:extLst>
            </p:cNvPr>
            <p:cNvSpPr/>
            <p:nvPr/>
          </p:nvSpPr>
          <p:spPr>
            <a:xfrm>
              <a:off x="5959977" y="3003219"/>
              <a:ext cx="1083224" cy="477652"/>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76" name="TextBox 275">
              <a:extLst>
                <a:ext uri="{FF2B5EF4-FFF2-40B4-BE49-F238E27FC236}">
                  <a16:creationId xmlns:a16="http://schemas.microsoft.com/office/drawing/2014/main" id="{A94B4F25-DAB6-88D6-C9B1-39D13AC85E3D}"/>
                </a:ext>
              </a:extLst>
            </p:cNvPr>
            <p:cNvSpPr txBox="1"/>
            <p:nvPr/>
          </p:nvSpPr>
          <p:spPr>
            <a:xfrm>
              <a:off x="6132882" y="3125174"/>
              <a:ext cx="756938" cy="261610"/>
            </a:xfrm>
            <a:prstGeom prst="rect">
              <a:avLst/>
            </a:prstGeom>
            <a:noFill/>
          </p:spPr>
          <p:txBody>
            <a:bodyPr wrap="none" rtlCol="0">
              <a:spAutoFit/>
            </a:bodyPr>
            <a:lstStyle/>
            <a:p>
              <a:pPr algn="ctr" defTabSz="274320"/>
              <a:r>
                <a:rPr lang="en-US" sz="1100" dirty="0">
                  <a:solidFill>
                    <a:schemeClr val="tx1">
                      <a:lumMod val="20000"/>
                      <a:lumOff val="80000"/>
                    </a:schemeClr>
                  </a:solidFill>
                </a:rPr>
                <a:t>SLIMS-R</a:t>
              </a:r>
            </a:p>
          </p:txBody>
        </p:sp>
        <p:sp>
          <p:nvSpPr>
            <p:cNvPr id="278" name="Rectangle: Rounded Corners 277">
              <a:extLst>
                <a:ext uri="{FF2B5EF4-FFF2-40B4-BE49-F238E27FC236}">
                  <a16:creationId xmlns:a16="http://schemas.microsoft.com/office/drawing/2014/main" id="{DE3D1428-6667-A9E8-C295-0E3FDD237AF4}"/>
                </a:ext>
              </a:extLst>
            </p:cNvPr>
            <p:cNvSpPr/>
            <p:nvPr/>
          </p:nvSpPr>
          <p:spPr>
            <a:xfrm>
              <a:off x="6232184" y="2003839"/>
              <a:ext cx="1134313" cy="399619"/>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79" name="TextBox 278">
              <a:extLst>
                <a:ext uri="{FF2B5EF4-FFF2-40B4-BE49-F238E27FC236}">
                  <a16:creationId xmlns:a16="http://schemas.microsoft.com/office/drawing/2014/main" id="{4DE35928-5D41-1D0B-920A-AC7B1D0E6B0C}"/>
                </a:ext>
              </a:extLst>
            </p:cNvPr>
            <p:cNvSpPr txBox="1"/>
            <p:nvPr/>
          </p:nvSpPr>
          <p:spPr>
            <a:xfrm>
              <a:off x="6232183" y="2035240"/>
              <a:ext cx="1127079" cy="261610"/>
            </a:xfrm>
            <a:prstGeom prst="rect">
              <a:avLst/>
            </a:prstGeom>
            <a:noFill/>
          </p:spPr>
          <p:txBody>
            <a:bodyPr wrap="square" rtlCol="0">
              <a:spAutoFit/>
            </a:bodyPr>
            <a:lstStyle/>
            <a:p>
              <a:pPr algn="ctr" defTabSz="274320"/>
              <a:r>
                <a:rPr lang="en-US" sz="1100" dirty="0">
                  <a:solidFill>
                    <a:schemeClr val="tx1">
                      <a:lumMod val="20000"/>
                      <a:lumOff val="80000"/>
                    </a:schemeClr>
                  </a:solidFill>
                </a:rPr>
                <a:t>Bench UI</a:t>
              </a:r>
            </a:p>
          </p:txBody>
        </p:sp>
        <p:sp>
          <p:nvSpPr>
            <p:cNvPr id="280" name="TextBox 279">
              <a:extLst>
                <a:ext uri="{FF2B5EF4-FFF2-40B4-BE49-F238E27FC236}">
                  <a16:creationId xmlns:a16="http://schemas.microsoft.com/office/drawing/2014/main" id="{DB9E4EAE-A5A3-0E48-0BD3-80105095F98E}"/>
                </a:ext>
              </a:extLst>
            </p:cNvPr>
            <p:cNvSpPr txBox="1"/>
            <p:nvPr/>
          </p:nvSpPr>
          <p:spPr>
            <a:xfrm>
              <a:off x="6229169" y="2194723"/>
              <a:ext cx="1137328" cy="230832"/>
            </a:xfrm>
            <a:prstGeom prst="rect">
              <a:avLst/>
            </a:prstGeom>
            <a:noFill/>
          </p:spPr>
          <p:txBody>
            <a:bodyPr wrap="square">
              <a:spAutoFit/>
            </a:bodyPr>
            <a:lstStyle/>
            <a:p>
              <a:pPr algn="ctr" defTabSz="274320"/>
              <a:r>
                <a:rPr lang="en-US" sz="900" dirty="0">
                  <a:solidFill>
                    <a:schemeClr val="tx1">
                      <a:lumMod val="20000"/>
                      <a:lumOff val="80000"/>
                    </a:schemeClr>
                  </a:solidFill>
                </a:rPr>
                <a:t>Frontend</a:t>
              </a:r>
            </a:p>
          </p:txBody>
        </p:sp>
        <p:sp>
          <p:nvSpPr>
            <p:cNvPr id="282" name="Rectangle: Rounded Corners 281">
              <a:extLst>
                <a:ext uri="{FF2B5EF4-FFF2-40B4-BE49-F238E27FC236}">
                  <a16:creationId xmlns:a16="http://schemas.microsoft.com/office/drawing/2014/main" id="{331C3797-4231-7207-336E-142AE1782EF6}"/>
                </a:ext>
              </a:extLst>
            </p:cNvPr>
            <p:cNvSpPr/>
            <p:nvPr/>
          </p:nvSpPr>
          <p:spPr>
            <a:xfrm>
              <a:off x="4471899" y="3021198"/>
              <a:ext cx="1294781" cy="477651"/>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83" name="TextBox 282">
              <a:extLst>
                <a:ext uri="{FF2B5EF4-FFF2-40B4-BE49-F238E27FC236}">
                  <a16:creationId xmlns:a16="http://schemas.microsoft.com/office/drawing/2014/main" id="{8A284A4B-CD0B-5034-AC37-E7DB29F7F8C3}"/>
                </a:ext>
              </a:extLst>
            </p:cNvPr>
            <p:cNvSpPr txBox="1"/>
            <p:nvPr/>
          </p:nvSpPr>
          <p:spPr>
            <a:xfrm>
              <a:off x="4499743" y="3081192"/>
              <a:ext cx="1226619" cy="261610"/>
            </a:xfrm>
            <a:prstGeom prst="rect">
              <a:avLst/>
            </a:prstGeom>
            <a:noFill/>
          </p:spPr>
          <p:txBody>
            <a:bodyPr wrap="none" rtlCol="0">
              <a:spAutoFit/>
            </a:bodyPr>
            <a:lstStyle/>
            <a:p>
              <a:pPr algn="ctr" defTabSz="274320"/>
              <a:r>
                <a:rPr lang="en-US" sz="1100" dirty="0">
                  <a:solidFill>
                    <a:schemeClr val="tx1">
                      <a:lumMod val="20000"/>
                      <a:lumOff val="80000"/>
                    </a:schemeClr>
                  </a:solidFill>
                </a:rPr>
                <a:t>Requester portal</a:t>
              </a:r>
            </a:p>
          </p:txBody>
        </p:sp>
        <p:sp>
          <p:nvSpPr>
            <p:cNvPr id="284" name="TextBox 283">
              <a:extLst>
                <a:ext uri="{FF2B5EF4-FFF2-40B4-BE49-F238E27FC236}">
                  <a16:creationId xmlns:a16="http://schemas.microsoft.com/office/drawing/2014/main" id="{D623729F-2524-C86A-B581-6CAF46D659A8}"/>
                </a:ext>
              </a:extLst>
            </p:cNvPr>
            <p:cNvSpPr txBox="1"/>
            <p:nvPr/>
          </p:nvSpPr>
          <p:spPr>
            <a:xfrm>
              <a:off x="4613949" y="3249356"/>
              <a:ext cx="1004120" cy="230832"/>
            </a:xfrm>
            <a:prstGeom prst="rect">
              <a:avLst/>
            </a:prstGeom>
            <a:noFill/>
          </p:spPr>
          <p:txBody>
            <a:bodyPr wrap="square">
              <a:spAutoFit/>
            </a:bodyPr>
            <a:lstStyle/>
            <a:p>
              <a:pPr algn="ctr" defTabSz="274320"/>
              <a:r>
                <a:rPr lang="en-US" sz="900" dirty="0">
                  <a:solidFill>
                    <a:schemeClr val="tx1">
                      <a:lumMod val="20000"/>
                      <a:lumOff val="80000"/>
                    </a:schemeClr>
                  </a:solidFill>
                </a:rPr>
                <a:t>Backend</a:t>
              </a:r>
            </a:p>
          </p:txBody>
        </p:sp>
        <p:sp>
          <p:nvSpPr>
            <p:cNvPr id="286" name="Rectangle: Rounded Corners 285">
              <a:extLst>
                <a:ext uri="{FF2B5EF4-FFF2-40B4-BE49-F238E27FC236}">
                  <a16:creationId xmlns:a16="http://schemas.microsoft.com/office/drawing/2014/main" id="{A244F6DE-3684-CABC-5C7F-D74CE36DA48E}"/>
                </a:ext>
              </a:extLst>
            </p:cNvPr>
            <p:cNvSpPr/>
            <p:nvPr/>
          </p:nvSpPr>
          <p:spPr>
            <a:xfrm>
              <a:off x="4467789" y="2003838"/>
              <a:ext cx="1290526" cy="399619"/>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87" name="TextBox 286">
              <a:extLst>
                <a:ext uri="{FF2B5EF4-FFF2-40B4-BE49-F238E27FC236}">
                  <a16:creationId xmlns:a16="http://schemas.microsoft.com/office/drawing/2014/main" id="{08421857-4CF1-24EB-2072-35DBD2F70798}"/>
                </a:ext>
              </a:extLst>
            </p:cNvPr>
            <p:cNvSpPr txBox="1"/>
            <p:nvPr/>
          </p:nvSpPr>
          <p:spPr>
            <a:xfrm>
              <a:off x="4499744" y="2029607"/>
              <a:ext cx="1226618" cy="261610"/>
            </a:xfrm>
            <a:prstGeom prst="rect">
              <a:avLst/>
            </a:prstGeom>
            <a:noFill/>
          </p:spPr>
          <p:txBody>
            <a:bodyPr wrap="none" rtlCol="0">
              <a:spAutoFit/>
            </a:bodyPr>
            <a:lstStyle/>
            <a:p>
              <a:pPr algn="ctr" defTabSz="274320"/>
              <a:r>
                <a:rPr lang="en-US" sz="1100" dirty="0">
                  <a:solidFill>
                    <a:schemeClr val="tx1">
                      <a:lumMod val="20000"/>
                      <a:lumOff val="80000"/>
                    </a:schemeClr>
                  </a:solidFill>
                </a:rPr>
                <a:t>Requester portal</a:t>
              </a:r>
            </a:p>
          </p:txBody>
        </p:sp>
        <p:sp>
          <p:nvSpPr>
            <p:cNvPr id="288" name="TextBox 287">
              <a:extLst>
                <a:ext uri="{FF2B5EF4-FFF2-40B4-BE49-F238E27FC236}">
                  <a16:creationId xmlns:a16="http://schemas.microsoft.com/office/drawing/2014/main" id="{5B19D966-F5D0-4CD9-5B27-74A0035343BB}"/>
                </a:ext>
              </a:extLst>
            </p:cNvPr>
            <p:cNvSpPr txBox="1"/>
            <p:nvPr/>
          </p:nvSpPr>
          <p:spPr>
            <a:xfrm>
              <a:off x="4609372" y="2194722"/>
              <a:ext cx="1000820" cy="230832"/>
            </a:xfrm>
            <a:prstGeom prst="rect">
              <a:avLst/>
            </a:prstGeom>
            <a:noFill/>
          </p:spPr>
          <p:txBody>
            <a:bodyPr wrap="square">
              <a:spAutoFit/>
            </a:bodyPr>
            <a:lstStyle/>
            <a:p>
              <a:pPr algn="ctr" defTabSz="274320"/>
              <a:r>
                <a:rPr lang="en-US" sz="900" dirty="0">
                  <a:solidFill>
                    <a:schemeClr val="tx1">
                      <a:lumMod val="20000"/>
                      <a:lumOff val="80000"/>
                    </a:schemeClr>
                  </a:solidFill>
                </a:rPr>
                <a:t>Frontend</a:t>
              </a:r>
            </a:p>
          </p:txBody>
        </p:sp>
        <p:cxnSp>
          <p:nvCxnSpPr>
            <p:cNvPr id="289" name="Straight Arrow Connector 288">
              <a:extLst>
                <a:ext uri="{FF2B5EF4-FFF2-40B4-BE49-F238E27FC236}">
                  <a16:creationId xmlns:a16="http://schemas.microsoft.com/office/drawing/2014/main" id="{2D8423D3-99A9-4BE8-16B4-E255AC6F21AE}"/>
                </a:ext>
              </a:extLst>
            </p:cNvPr>
            <p:cNvCxnSpPr>
              <a:cxnSpLocks/>
              <a:stCxn id="291" idx="2"/>
              <a:endCxn id="294" idx="0"/>
            </p:cNvCxnSpPr>
            <p:nvPr/>
          </p:nvCxnSpPr>
          <p:spPr>
            <a:xfrm flipH="1">
              <a:off x="8112888" y="1720528"/>
              <a:ext cx="9141" cy="1135351"/>
            </a:xfrm>
            <a:prstGeom prst="straightConnector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91" name="Rectangle: Rounded Corners 290">
              <a:extLst>
                <a:ext uri="{FF2B5EF4-FFF2-40B4-BE49-F238E27FC236}">
                  <a16:creationId xmlns:a16="http://schemas.microsoft.com/office/drawing/2014/main" id="{F84B8A8A-D947-14C6-7366-D62C4FD92025}"/>
                </a:ext>
              </a:extLst>
            </p:cNvPr>
            <p:cNvSpPr/>
            <p:nvPr/>
          </p:nvSpPr>
          <p:spPr>
            <a:xfrm>
              <a:off x="7390699" y="973997"/>
              <a:ext cx="1462660" cy="746532"/>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92" name="Rectangle: Rounded Corners 291">
              <a:extLst>
                <a:ext uri="{FF2B5EF4-FFF2-40B4-BE49-F238E27FC236}">
                  <a16:creationId xmlns:a16="http://schemas.microsoft.com/office/drawing/2014/main" id="{D41AFCEC-9AC1-1771-5226-5B51ED483B52}"/>
                </a:ext>
              </a:extLst>
            </p:cNvPr>
            <p:cNvSpPr/>
            <p:nvPr/>
          </p:nvSpPr>
          <p:spPr>
            <a:xfrm>
              <a:off x="7380847" y="1452347"/>
              <a:ext cx="1415711" cy="184912"/>
            </a:xfrm>
            <a:prstGeom prst="roundRect">
              <a:avLst>
                <a:gd name="adj" fmla="val 29740"/>
              </a:avLst>
            </a:prstGeom>
            <a:solidFill>
              <a:schemeClr val="bg1"/>
            </a:solidFill>
            <a:ln w="1270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lumMod val="20000"/>
                    <a:lumOff val="80000"/>
                  </a:schemeClr>
                </a:solidFill>
              </a:endParaRPr>
            </a:p>
          </p:txBody>
        </p:sp>
        <p:sp>
          <p:nvSpPr>
            <p:cNvPr id="293" name="Rectangle: Rounded Corners 292">
              <a:extLst>
                <a:ext uri="{FF2B5EF4-FFF2-40B4-BE49-F238E27FC236}">
                  <a16:creationId xmlns:a16="http://schemas.microsoft.com/office/drawing/2014/main" id="{969ABFE5-A099-1045-554D-1767FF1D6C33}"/>
                </a:ext>
              </a:extLst>
            </p:cNvPr>
            <p:cNvSpPr/>
            <p:nvPr/>
          </p:nvSpPr>
          <p:spPr>
            <a:xfrm>
              <a:off x="7340647" y="1406866"/>
              <a:ext cx="1415711" cy="184912"/>
            </a:xfrm>
            <a:prstGeom prst="roundRect">
              <a:avLst>
                <a:gd name="adj" fmla="val 29740"/>
              </a:avLst>
            </a:prstGeom>
            <a:solidFill>
              <a:schemeClr val="bg1"/>
            </a:solidFill>
            <a:ln w="1270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lumMod val="20000"/>
                    <a:lumOff val="80000"/>
                  </a:schemeClr>
                </a:solidFill>
              </a:endParaRPr>
            </a:p>
          </p:txBody>
        </p:sp>
        <p:sp>
          <p:nvSpPr>
            <p:cNvPr id="294" name="Rectangle: Rounded Corners 293">
              <a:extLst>
                <a:ext uri="{FF2B5EF4-FFF2-40B4-BE49-F238E27FC236}">
                  <a16:creationId xmlns:a16="http://schemas.microsoft.com/office/drawing/2014/main" id="{C9682E27-B4E3-CADF-C7DF-7F72EFE39FF4}"/>
                </a:ext>
              </a:extLst>
            </p:cNvPr>
            <p:cNvSpPr/>
            <p:nvPr/>
          </p:nvSpPr>
          <p:spPr>
            <a:xfrm>
              <a:off x="7390699" y="2855880"/>
              <a:ext cx="1444377" cy="732338"/>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95" name="TextBox 294">
              <a:extLst>
                <a:ext uri="{FF2B5EF4-FFF2-40B4-BE49-F238E27FC236}">
                  <a16:creationId xmlns:a16="http://schemas.microsoft.com/office/drawing/2014/main" id="{B1E5C1A7-4C44-5D4F-B3C1-D047A10905D3}"/>
                </a:ext>
              </a:extLst>
            </p:cNvPr>
            <p:cNvSpPr txBox="1"/>
            <p:nvPr/>
          </p:nvSpPr>
          <p:spPr>
            <a:xfrm>
              <a:off x="7567930" y="2908899"/>
              <a:ext cx="1061509" cy="261610"/>
            </a:xfrm>
            <a:prstGeom prst="rect">
              <a:avLst/>
            </a:prstGeom>
            <a:noFill/>
          </p:spPr>
          <p:txBody>
            <a:bodyPr wrap="none" rtlCol="0">
              <a:spAutoFit/>
            </a:bodyPr>
            <a:lstStyle/>
            <a:p>
              <a:pPr algn="ctr" defTabSz="274320"/>
              <a:r>
                <a:rPr lang="en-US" sz="1100" dirty="0">
                  <a:solidFill>
                    <a:schemeClr val="tx1">
                      <a:lumMod val="20000"/>
                      <a:lumOff val="80000"/>
                    </a:schemeClr>
                  </a:solidFill>
                </a:rPr>
                <a:t>SLIMS Server</a:t>
              </a:r>
            </a:p>
          </p:txBody>
        </p:sp>
        <p:sp>
          <p:nvSpPr>
            <p:cNvPr id="296" name="TextBox 295">
              <a:extLst>
                <a:ext uri="{FF2B5EF4-FFF2-40B4-BE49-F238E27FC236}">
                  <a16:creationId xmlns:a16="http://schemas.microsoft.com/office/drawing/2014/main" id="{6885672C-EEAB-B01A-F57F-76D7666EB6C4}"/>
                </a:ext>
              </a:extLst>
            </p:cNvPr>
            <p:cNvSpPr txBox="1"/>
            <p:nvPr/>
          </p:nvSpPr>
          <p:spPr>
            <a:xfrm>
              <a:off x="7515225" y="1081872"/>
              <a:ext cx="1086387" cy="261610"/>
            </a:xfrm>
            <a:prstGeom prst="rect">
              <a:avLst/>
            </a:prstGeom>
            <a:noFill/>
          </p:spPr>
          <p:txBody>
            <a:bodyPr wrap="square" rtlCol="0">
              <a:spAutoFit/>
            </a:bodyPr>
            <a:lstStyle/>
            <a:p>
              <a:pPr algn="ctr" defTabSz="274320"/>
              <a:r>
                <a:rPr lang="en-US" sz="1100" dirty="0">
                  <a:solidFill>
                    <a:schemeClr val="tx1">
                      <a:lumMod val="20000"/>
                      <a:lumOff val="80000"/>
                    </a:schemeClr>
                  </a:solidFill>
                </a:rPr>
                <a:t>SLIMS Client</a:t>
              </a:r>
            </a:p>
          </p:txBody>
        </p:sp>
        <p:sp>
          <p:nvSpPr>
            <p:cNvPr id="297" name="TextBox 296">
              <a:extLst>
                <a:ext uri="{FF2B5EF4-FFF2-40B4-BE49-F238E27FC236}">
                  <a16:creationId xmlns:a16="http://schemas.microsoft.com/office/drawing/2014/main" id="{8C01AFB5-8356-1017-F07F-7320D2818FEA}"/>
                </a:ext>
              </a:extLst>
            </p:cNvPr>
            <p:cNvSpPr txBox="1"/>
            <p:nvPr/>
          </p:nvSpPr>
          <p:spPr>
            <a:xfrm>
              <a:off x="7255226" y="1387574"/>
              <a:ext cx="1586551" cy="215444"/>
            </a:xfrm>
            <a:prstGeom prst="rect">
              <a:avLst/>
            </a:prstGeom>
            <a:noFill/>
            <a:ln>
              <a:noFill/>
            </a:ln>
          </p:spPr>
          <p:txBody>
            <a:bodyPr wrap="square" rtlCol="0">
              <a:spAutoFit/>
            </a:bodyPr>
            <a:lstStyle/>
            <a:p>
              <a:pPr algn="ctr" defTabSz="274320"/>
              <a:r>
                <a:rPr lang="en-US" sz="800" dirty="0">
                  <a:solidFill>
                    <a:schemeClr val="tx1">
                      <a:lumMod val="20000"/>
                      <a:lumOff val="80000"/>
                    </a:schemeClr>
                  </a:solidFill>
                </a:rPr>
                <a:t>SLIMS GUI Plugins (</a:t>
              </a:r>
              <a:r>
                <a:rPr lang="en-US" sz="800" dirty="0" err="1">
                  <a:solidFill>
                    <a:schemeClr val="tx1">
                      <a:lumMod val="20000"/>
                      <a:lumOff val="80000"/>
                    </a:schemeClr>
                  </a:solidFill>
                </a:rPr>
                <a:t>Vaadin</a:t>
              </a:r>
              <a:r>
                <a:rPr lang="en-US" sz="800" dirty="0">
                  <a:solidFill>
                    <a:schemeClr val="tx1">
                      <a:lumMod val="20000"/>
                      <a:lumOff val="80000"/>
                    </a:schemeClr>
                  </a:solidFill>
                </a:rPr>
                <a:t>)</a:t>
              </a:r>
            </a:p>
          </p:txBody>
        </p:sp>
        <p:sp>
          <p:nvSpPr>
            <p:cNvPr id="299" name="Rectangle: Rounded Corners 298">
              <a:extLst>
                <a:ext uri="{FF2B5EF4-FFF2-40B4-BE49-F238E27FC236}">
                  <a16:creationId xmlns:a16="http://schemas.microsoft.com/office/drawing/2014/main" id="{F45CA921-5956-35BE-CAA6-FF6CFD3484E9}"/>
                </a:ext>
              </a:extLst>
            </p:cNvPr>
            <p:cNvSpPr/>
            <p:nvPr/>
          </p:nvSpPr>
          <p:spPr>
            <a:xfrm>
              <a:off x="7650791" y="3169916"/>
              <a:ext cx="867179" cy="373846"/>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300" name="TextBox 299">
              <a:extLst>
                <a:ext uri="{FF2B5EF4-FFF2-40B4-BE49-F238E27FC236}">
                  <a16:creationId xmlns:a16="http://schemas.microsoft.com/office/drawing/2014/main" id="{B1D9E039-74DB-2E5B-8E01-78FA405F8FFA}"/>
                </a:ext>
              </a:extLst>
            </p:cNvPr>
            <p:cNvSpPr txBox="1"/>
            <p:nvPr/>
          </p:nvSpPr>
          <p:spPr>
            <a:xfrm>
              <a:off x="7617287" y="3168794"/>
              <a:ext cx="924548" cy="392415"/>
            </a:xfrm>
            <a:prstGeom prst="rect">
              <a:avLst/>
            </a:prstGeom>
            <a:noFill/>
          </p:spPr>
          <p:txBody>
            <a:bodyPr wrap="square" rtlCol="0">
              <a:spAutoFit/>
            </a:bodyPr>
            <a:lstStyle/>
            <a:p>
              <a:pPr algn="ctr" defTabSz="274320"/>
              <a:r>
                <a:rPr lang="en-US" sz="1050" dirty="0"/>
                <a:t>SLIMS Rest</a:t>
              </a:r>
            </a:p>
            <a:p>
              <a:pPr algn="ctr" defTabSz="274320"/>
              <a:r>
                <a:rPr lang="en-US" sz="900" dirty="0"/>
                <a:t>(Rest-API)</a:t>
              </a:r>
            </a:p>
          </p:txBody>
        </p:sp>
        <p:cxnSp>
          <p:nvCxnSpPr>
            <p:cNvPr id="301" name="Straight Arrow Connector 300">
              <a:extLst>
                <a:ext uri="{FF2B5EF4-FFF2-40B4-BE49-F238E27FC236}">
                  <a16:creationId xmlns:a16="http://schemas.microsoft.com/office/drawing/2014/main" id="{22BFE610-6D58-A19A-1A87-69706B8FD5CB}"/>
                </a:ext>
              </a:extLst>
            </p:cNvPr>
            <p:cNvCxnSpPr>
              <a:cxnSpLocks/>
              <a:stCxn id="260" idx="2"/>
              <a:endCxn id="300" idx="3"/>
            </p:cNvCxnSpPr>
            <p:nvPr/>
          </p:nvCxnSpPr>
          <p:spPr>
            <a:xfrm flipH="1">
              <a:off x="8541835" y="2403457"/>
              <a:ext cx="421349" cy="961545"/>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02" name="Connector: Elbow 109">
              <a:extLst>
                <a:ext uri="{FF2B5EF4-FFF2-40B4-BE49-F238E27FC236}">
                  <a16:creationId xmlns:a16="http://schemas.microsoft.com/office/drawing/2014/main" id="{EF991F1C-1D87-1997-78E3-0ABD60C567A2}"/>
                </a:ext>
              </a:extLst>
            </p:cNvPr>
            <p:cNvCxnSpPr>
              <a:cxnSpLocks/>
              <a:stCxn id="278" idx="2"/>
              <a:endCxn id="300" idx="1"/>
            </p:cNvCxnSpPr>
            <p:nvPr/>
          </p:nvCxnSpPr>
          <p:spPr>
            <a:xfrm>
              <a:off x="6799341" y="2403458"/>
              <a:ext cx="817946" cy="961544"/>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03" name="Connector: Elbow 109">
              <a:extLst>
                <a:ext uri="{FF2B5EF4-FFF2-40B4-BE49-F238E27FC236}">
                  <a16:creationId xmlns:a16="http://schemas.microsoft.com/office/drawing/2014/main" id="{B38B1B17-8F60-749B-B877-651AE28DD3A6}"/>
                </a:ext>
              </a:extLst>
            </p:cNvPr>
            <p:cNvCxnSpPr>
              <a:cxnSpLocks/>
              <a:stCxn id="286" idx="2"/>
              <a:endCxn id="282" idx="0"/>
            </p:cNvCxnSpPr>
            <p:nvPr/>
          </p:nvCxnSpPr>
          <p:spPr>
            <a:xfrm>
              <a:off x="5113052" y="2403457"/>
              <a:ext cx="6238" cy="617740"/>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5A16A621-FB1B-0554-C424-6459CD2EA92F}"/>
                </a:ext>
              </a:extLst>
            </p:cNvPr>
            <p:cNvCxnSpPr>
              <a:cxnSpLocks/>
              <a:stCxn id="275" idx="2"/>
            </p:cNvCxnSpPr>
            <p:nvPr/>
          </p:nvCxnSpPr>
          <p:spPr>
            <a:xfrm>
              <a:off x="6501589" y="3480871"/>
              <a:ext cx="0" cy="4671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CF0B74C8-D530-64A4-F8F7-7730BEDD0B96}"/>
                </a:ext>
              </a:extLst>
            </p:cNvPr>
            <p:cNvCxnSpPr>
              <a:cxnSpLocks/>
            </p:cNvCxnSpPr>
            <p:nvPr/>
          </p:nvCxnSpPr>
          <p:spPr>
            <a:xfrm>
              <a:off x="8112888" y="3594611"/>
              <a:ext cx="0" cy="3534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07385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C61ADA17-B8B9-426E-A5CD-778E9CFDB263}"/>
              </a:ext>
            </a:extLst>
          </p:cNvPr>
          <p:cNvSpPr>
            <a:spLocks noGrp="1"/>
          </p:cNvSpPr>
          <p:nvPr>
            <p:ph type="ftr" sz="quarter" idx="11"/>
          </p:nvPr>
        </p:nvSpPr>
        <p:spPr/>
        <p:txBody>
          <a:bodyPr/>
          <a:lstStyle/>
          <a:p>
            <a:r>
              <a:rPr lang="en-US"/>
              <a:t>SLIMS Java API Training          R4526A-CU660         For Research Use Only. Not for use in diagnostic procedures.</a:t>
            </a:r>
          </a:p>
        </p:txBody>
      </p:sp>
      <p:sp>
        <p:nvSpPr>
          <p:cNvPr id="6" name="Slide Number Placeholder 5"/>
          <p:cNvSpPr>
            <a:spLocks noGrp="1"/>
          </p:cNvSpPr>
          <p:nvPr>
            <p:ph type="sldNum" sz="quarter" idx="12"/>
          </p:nvPr>
        </p:nvSpPr>
        <p:spPr/>
        <p:txBody>
          <a:bodyPr/>
          <a:lstStyle/>
          <a:p>
            <a:fld id="{CBD803B2-A378-42BD-B5EC-F7748F169FE0}" type="slidenum">
              <a:rPr lang="en-US" smtClean="0"/>
              <a:pPr/>
              <a:t>6</a:t>
            </a:fld>
            <a:endParaRPr lang="en-US"/>
          </a:p>
        </p:txBody>
      </p:sp>
      <p:sp>
        <p:nvSpPr>
          <p:cNvPr id="2" name="Title 1"/>
          <p:cNvSpPr>
            <a:spLocks noGrp="1"/>
          </p:cNvSpPr>
          <p:nvPr>
            <p:ph type="title"/>
          </p:nvPr>
        </p:nvSpPr>
        <p:spPr/>
        <p:txBody>
          <a:bodyPr/>
          <a:lstStyle/>
          <a:p>
            <a:r>
              <a:rPr lang="en-US" dirty="0"/>
              <a:t>SLIMS Python API</a:t>
            </a:r>
          </a:p>
        </p:txBody>
      </p:sp>
      <p:sp>
        <p:nvSpPr>
          <p:cNvPr id="3" name="Content Placeholder 2"/>
          <p:cNvSpPr>
            <a:spLocks noGrp="1"/>
          </p:cNvSpPr>
          <p:nvPr>
            <p:ph sz="half" idx="1"/>
          </p:nvPr>
        </p:nvSpPr>
        <p:spPr/>
        <p:txBody>
          <a:bodyPr>
            <a:normAutofit lnSpcReduction="10000"/>
          </a:bodyPr>
          <a:lstStyle/>
          <a:p>
            <a:r>
              <a:rPr lang="en-US" dirty="0">
                <a:sym typeface="Open Sans"/>
              </a:rPr>
              <a:t>Python connects through SLIMS Rest API. </a:t>
            </a:r>
          </a:p>
          <a:p>
            <a:pPr lvl="0"/>
            <a:r>
              <a:rPr lang="en-US" dirty="0">
                <a:sym typeface="Open Sans"/>
              </a:rPr>
              <a:t>Facilitates existing SLIMS Rest API calls.</a:t>
            </a:r>
          </a:p>
          <a:p>
            <a:pPr marL="342900" lvl="0" indent="-342900">
              <a:buFont typeface="Arial" panose="020B0604020202020204" pitchFamily="34" charset="0"/>
              <a:buChar char="•"/>
            </a:pPr>
            <a:r>
              <a:rPr lang="en-US" dirty="0">
                <a:sym typeface="Open Sans"/>
              </a:rPr>
              <a:t>Simple installation with SLIMS-Python package: </a:t>
            </a:r>
          </a:p>
          <a:p>
            <a:pPr marL="0" lvl="1" indent="0">
              <a:buNone/>
            </a:pPr>
            <a:r>
              <a:rPr lang="en-US" dirty="0">
                <a:latin typeface="Courier New" panose="02070309020205020404" pitchFamily="49" charset="0"/>
                <a:cs typeface="Courier New" panose="02070309020205020404" pitchFamily="49" charset="0"/>
                <a:sym typeface="Open Sans"/>
              </a:rPr>
              <a:t>pip install slims-python-</a:t>
            </a:r>
            <a:r>
              <a:rPr lang="en-US" dirty="0" err="1">
                <a:latin typeface="Courier New" panose="02070309020205020404" pitchFamily="49" charset="0"/>
                <a:cs typeface="Courier New" panose="02070309020205020404" pitchFamily="49" charset="0"/>
                <a:sym typeface="Open Sans"/>
              </a:rPr>
              <a:t>api</a:t>
            </a:r>
            <a:endParaRPr lang="en-US" dirty="0">
              <a:latin typeface="Courier New" panose="02070309020205020404" pitchFamily="49" charset="0"/>
              <a:cs typeface="Courier New" panose="02070309020205020404" pitchFamily="49" charset="0"/>
              <a:sym typeface="Open Sans"/>
            </a:endParaRPr>
          </a:p>
          <a:p>
            <a:pPr marL="342900" indent="-342900">
              <a:buFont typeface="Arial" panose="020B0604020202020204" pitchFamily="34" charset="0"/>
              <a:buChar char="•"/>
            </a:pPr>
            <a:r>
              <a:rPr lang="en-US" dirty="0"/>
              <a:t>Source code and cookbook examples:</a:t>
            </a:r>
          </a:p>
          <a:p>
            <a:r>
              <a:rPr lang="en-US" dirty="0">
                <a:hlinkClick r:id="rId3"/>
              </a:rPr>
              <a:t>https://github.com/genohm/slims-python-api</a:t>
            </a:r>
            <a:endParaRPr lang="en-US" dirty="0"/>
          </a:p>
          <a:p>
            <a:pPr marL="342900" indent="-342900">
              <a:buFont typeface="Arial" panose="020B0604020202020204" pitchFamily="34" charset="0"/>
              <a:buChar char="•"/>
            </a:pPr>
            <a:r>
              <a:rPr lang="en-US" dirty="0"/>
              <a:t>Documentation:</a:t>
            </a:r>
          </a:p>
          <a:p>
            <a:r>
              <a:rPr lang="en-US" dirty="0">
                <a:hlinkClick r:id="rId4"/>
              </a:rPr>
              <a:t>https://readthedocs.org/projects/slims-python-api</a:t>
            </a:r>
            <a:endParaRPr lang="en-US" dirty="0">
              <a:sym typeface="Open Sans"/>
            </a:endParaRPr>
          </a:p>
        </p:txBody>
      </p:sp>
      <p:grpSp>
        <p:nvGrpSpPr>
          <p:cNvPr id="60" name="Group 59">
            <a:extLst>
              <a:ext uri="{FF2B5EF4-FFF2-40B4-BE49-F238E27FC236}">
                <a16:creationId xmlns:a16="http://schemas.microsoft.com/office/drawing/2014/main" id="{2436231C-8877-D07A-3201-DF5B185A35B0}"/>
              </a:ext>
            </a:extLst>
          </p:cNvPr>
          <p:cNvGrpSpPr/>
          <p:nvPr/>
        </p:nvGrpSpPr>
        <p:grpSpPr>
          <a:xfrm>
            <a:off x="4197916" y="949013"/>
            <a:ext cx="7387798" cy="4887307"/>
            <a:chOff x="4197916" y="949013"/>
            <a:chExt cx="7387798" cy="4887307"/>
          </a:xfrm>
        </p:grpSpPr>
        <p:sp>
          <p:nvSpPr>
            <p:cNvPr id="4" name="Rectangle: Rounded Corners 3">
              <a:extLst>
                <a:ext uri="{FF2B5EF4-FFF2-40B4-BE49-F238E27FC236}">
                  <a16:creationId xmlns:a16="http://schemas.microsoft.com/office/drawing/2014/main" id="{A28457E3-86C9-3059-B3AD-93B334759017}"/>
                </a:ext>
              </a:extLst>
            </p:cNvPr>
            <p:cNvSpPr/>
            <p:nvPr/>
          </p:nvSpPr>
          <p:spPr>
            <a:xfrm>
              <a:off x="6760055" y="4142755"/>
              <a:ext cx="2203129" cy="526300"/>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Folder outline">
              <a:extLst>
                <a:ext uri="{FF2B5EF4-FFF2-40B4-BE49-F238E27FC236}">
                  <a16:creationId xmlns:a16="http://schemas.microsoft.com/office/drawing/2014/main" id="{DF87BDC1-5041-B2D0-7639-1477A4F3B1B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32757" y="5011824"/>
              <a:ext cx="786180" cy="824089"/>
            </a:xfrm>
            <a:prstGeom prst="rect">
              <a:avLst/>
            </a:prstGeom>
          </p:spPr>
        </p:pic>
        <p:pic>
          <p:nvPicPr>
            <p:cNvPr id="7" name="Graphic 6" descr="Database outline">
              <a:extLst>
                <a:ext uri="{FF2B5EF4-FFF2-40B4-BE49-F238E27FC236}">
                  <a16:creationId xmlns:a16="http://schemas.microsoft.com/office/drawing/2014/main" id="{49C47708-23C5-A326-383D-56D14F9B031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67372" y="5069170"/>
              <a:ext cx="786180" cy="767150"/>
            </a:xfrm>
            <a:prstGeom prst="rect">
              <a:avLst/>
            </a:prstGeom>
          </p:spPr>
        </p:pic>
        <p:sp>
          <p:nvSpPr>
            <p:cNvPr id="8" name="Rectangle: Rounded Corners 7">
              <a:extLst>
                <a:ext uri="{FF2B5EF4-FFF2-40B4-BE49-F238E27FC236}">
                  <a16:creationId xmlns:a16="http://schemas.microsoft.com/office/drawing/2014/main" id="{C185E3AC-3EBD-BBA9-C7DA-8A257A452C4E}"/>
                </a:ext>
              </a:extLst>
            </p:cNvPr>
            <p:cNvSpPr/>
            <p:nvPr/>
          </p:nvSpPr>
          <p:spPr>
            <a:xfrm>
              <a:off x="4197916" y="2651894"/>
              <a:ext cx="7342643" cy="1196488"/>
            </a:xfrm>
            <a:prstGeom prst="roundRect">
              <a:avLst>
                <a:gd name="adj" fmla="val 29740"/>
              </a:avLst>
            </a:prstGeom>
            <a:noFill/>
            <a:ln w="19050">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pic>
          <p:nvPicPr>
            <p:cNvPr id="10" name="Graphic 9" descr="Gears outline">
              <a:extLst>
                <a:ext uri="{FF2B5EF4-FFF2-40B4-BE49-F238E27FC236}">
                  <a16:creationId xmlns:a16="http://schemas.microsoft.com/office/drawing/2014/main" id="{0E813685-2C6A-531C-EDAC-5082C69ACB8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443967">
              <a:off x="8971080" y="4159580"/>
              <a:ext cx="487911" cy="476101"/>
            </a:xfrm>
            <a:prstGeom prst="rect">
              <a:avLst/>
            </a:prstGeom>
          </p:spPr>
        </p:pic>
        <p:pic>
          <p:nvPicPr>
            <p:cNvPr id="11" name="Graphic 10" descr="Gears outline">
              <a:extLst>
                <a:ext uri="{FF2B5EF4-FFF2-40B4-BE49-F238E27FC236}">
                  <a16:creationId xmlns:a16="http://schemas.microsoft.com/office/drawing/2014/main" id="{DF90E18C-8389-8DFC-279C-DD362F708E6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7144992">
              <a:off x="6278774" y="4109240"/>
              <a:ext cx="476101" cy="487911"/>
            </a:xfrm>
            <a:prstGeom prst="rect">
              <a:avLst/>
            </a:prstGeom>
          </p:spPr>
        </p:pic>
        <p:sp>
          <p:nvSpPr>
            <p:cNvPr id="12" name="TextBox 11">
              <a:extLst>
                <a:ext uri="{FF2B5EF4-FFF2-40B4-BE49-F238E27FC236}">
                  <a16:creationId xmlns:a16="http://schemas.microsoft.com/office/drawing/2014/main" id="{3C5CBE9D-7BDD-E656-6ABE-6285E346C18F}"/>
                </a:ext>
              </a:extLst>
            </p:cNvPr>
            <p:cNvSpPr txBox="1"/>
            <p:nvPr/>
          </p:nvSpPr>
          <p:spPr>
            <a:xfrm>
              <a:off x="5550805" y="5216001"/>
              <a:ext cx="678363" cy="361499"/>
            </a:xfrm>
            <a:prstGeom prst="rect">
              <a:avLst/>
            </a:prstGeom>
            <a:noFill/>
          </p:spPr>
          <p:txBody>
            <a:bodyPr wrap="none" rtlCol="0">
              <a:spAutoFit/>
            </a:bodyPr>
            <a:lstStyle/>
            <a:p>
              <a:pPr defTabSz="274320"/>
              <a:endParaRPr lang="en-US" sz="1100" dirty="0"/>
            </a:p>
            <a:p>
              <a:pPr defTabSz="274320"/>
              <a:r>
                <a:rPr lang="en-US" sz="1100" dirty="0"/>
                <a:t>Database</a:t>
              </a:r>
            </a:p>
          </p:txBody>
        </p:sp>
        <p:sp>
          <p:nvSpPr>
            <p:cNvPr id="13" name="TextBox 12">
              <a:extLst>
                <a:ext uri="{FF2B5EF4-FFF2-40B4-BE49-F238E27FC236}">
                  <a16:creationId xmlns:a16="http://schemas.microsoft.com/office/drawing/2014/main" id="{FC821766-6F85-DF67-F8B4-28B607272CCE}"/>
                </a:ext>
              </a:extLst>
            </p:cNvPr>
            <p:cNvSpPr txBox="1"/>
            <p:nvPr/>
          </p:nvSpPr>
          <p:spPr>
            <a:xfrm>
              <a:off x="8787715" y="2620900"/>
              <a:ext cx="1290738" cy="261610"/>
            </a:xfrm>
            <a:prstGeom prst="rect">
              <a:avLst/>
            </a:prstGeom>
            <a:noFill/>
            <a:ln>
              <a:noFill/>
            </a:ln>
          </p:spPr>
          <p:txBody>
            <a:bodyPr wrap="none" rtlCol="0">
              <a:spAutoFit/>
            </a:bodyPr>
            <a:lstStyle/>
            <a:p>
              <a:pPr defTabSz="274320"/>
              <a:r>
                <a:rPr lang="en-US" sz="1100" dirty="0" err="1">
                  <a:solidFill>
                    <a:schemeClr val="accent4"/>
                  </a:solidFill>
                </a:rPr>
                <a:t>Hazelcast</a:t>
              </a:r>
              <a:r>
                <a:rPr lang="en-US" sz="1100" dirty="0">
                  <a:solidFill>
                    <a:schemeClr val="accent4"/>
                  </a:solidFill>
                </a:rPr>
                <a:t> Cluster</a:t>
              </a:r>
            </a:p>
          </p:txBody>
        </p:sp>
        <p:sp>
          <p:nvSpPr>
            <p:cNvPr id="14" name="TextBox 13">
              <a:extLst>
                <a:ext uri="{FF2B5EF4-FFF2-40B4-BE49-F238E27FC236}">
                  <a16:creationId xmlns:a16="http://schemas.microsoft.com/office/drawing/2014/main" id="{7CC880B6-56B8-AD54-93F4-8107E7546D1E}"/>
                </a:ext>
              </a:extLst>
            </p:cNvPr>
            <p:cNvSpPr txBox="1"/>
            <p:nvPr/>
          </p:nvSpPr>
          <p:spPr>
            <a:xfrm>
              <a:off x="10772285" y="5314128"/>
              <a:ext cx="813429" cy="219482"/>
            </a:xfrm>
            <a:prstGeom prst="rect">
              <a:avLst/>
            </a:prstGeom>
            <a:noFill/>
          </p:spPr>
          <p:txBody>
            <a:bodyPr wrap="none" rtlCol="0">
              <a:spAutoFit/>
            </a:bodyPr>
            <a:lstStyle/>
            <a:p>
              <a:pPr defTabSz="274320"/>
              <a:r>
                <a:rPr lang="en-US" sz="1100" dirty="0"/>
                <a:t>File Storage</a:t>
              </a:r>
            </a:p>
          </p:txBody>
        </p:sp>
        <p:sp>
          <p:nvSpPr>
            <p:cNvPr id="15" name="TextBox 14">
              <a:extLst>
                <a:ext uri="{FF2B5EF4-FFF2-40B4-BE49-F238E27FC236}">
                  <a16:creationId xmlns:a16="http://schemas.microsoft.com/office/drawing/2014/main" id="{F27935DA-1FAB-7918-5793-9A56BE914882}"/>
                </a:ext>
              </a:extLst>
            </p:cNvPr>
            <p:cNvSpPr txBox="1"/>
            <p:nvPr/>
          </p:nvSpPr>
          <p:spPr>
            <a:xfrm>
              <a:off x="7432757" y="4287890"/>
              <a:ext cx="845127" cy="219482"/>
            </a:xfrm>
            <a:prstGeom prst="rect">
              <a:avLst/>
            </a:prstGeom>
            <a:noFill/>
          </p:spPr>
          <p:txBody>
            <a:bodyPr wrap="none" rtlCol="0">
              <a:spAutoFit/>
            </a:bodyPr>
            <a:lstStyle/>
            <a:p>
              <a:pPr algn="ctr" defTabSz="274320"/>
              <a:r>
                <a:rPr lang="en-US" sz="1100" dirty="0"/>
                <a:t>Platform-API</a:t>
              </a:r>
            </a:p>
          </p:txBody>
        </p:sp>
        <p:cxnSp>
          <p:nvCxnSpPr>
            <p:cNvPr id="16" name="Connector: Elbow 15">
              <a:extLst>
                <a:ext uri="{FF2B5EF4-FFF2-40B4-BE49-F238E27FC236}">
                  <a16:creationId xmlns:a16="http://schemas.microsoft.com/office/drawing/2014/main" id="{FB230F5C-4966-16A7-A3B2-9362A64AD120}"/>
                </a:ext>
              </a:extLst>
            </p:cNvPr>
            <p:cNvCxnSpPr>
              <a:stCxn id="7" idx="0"/>
              <a:endCxn id="5" idx="0"/>
            </p:cNvCxnSpPr>
            <p:nvPr/>
          </p:nvCxnSpPr>
          <p:spPr>
            <a:xfrm rot="5400000" flipH="1" flipV="1">
              <a:off x="7814481" y="2457805"/>
              <a:ext cx="57346" cy="5165386"/>
            </a:xfrm>
            <a:prstGeom prst="bentConnector3">
              <a:avLst>
                <a:gd name="adj1" fmla="val 37222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9B84681-C23A-76C1-0C06-BCA39A2CF198}"/>
                </a:ext>
              </a:extLst>
            </p:cNvPr>
            <p:cNvCxnSpPr>
              <a:cxnSpLocks/>
              <a:stCxn id="4" idx="2"/>
            </p:cNvCxnSpPr>
            <p:nvPr/>
          </p:nvCxnSpPr>
          <p:spPr>
            <a:xfrm>
              <a:off x="7861620" y="4669055"/>
              <a:ext cx="0" cy="187328"/>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9FA34BEC-7B52-7320-74C4-A0085CFC38B3}"/>
                </a:ext>
              </a:extLst>
            </p:cNvPr>
            <p:cNvSpPr/>
            <p:nvPr/>
          </p:nvSpPr>
          <p:spPr>
            <a:xfrm>
              <a:off x="8417493" y="2003838"/>
              <a:ext cx="1091382" cy="399619"/>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F09820BA-7AD2-8090-DC56-157379F376C4}"/>
                </a:ext>
              </a:extLst>
            </p:cNvPr>
            <p:cNvSpPr txBox="1"/>
            <p:nvPr/>
          </p:nvSpPr>
          <p:spPr>
            <a:xfrm>
              <a:off x="8426633" y="2087021"/>
              <a:ext cx="1082241" cy="261610"/>
            </a:xfrm>
            <a:prstGeom prst="rect">
              <a:avLst/>
            </a:prstGeom>
            <a:noFill/>
          </p:spPr>
          <p:txBody>
            <a:bodyPr wrap="square" rtlCol="0">
              <a:spAutoFit/>
            </a:bodyPr>
            <a:lstStyle/>
            <a:p>
              <a:pPr algn="ctr" defTabSz="274320"/>
              <a:r>
                <a:rPr lang="en-US" sz="1100" dirty="0"/>
                <a:t>Python-API</a:t>
              </a:r>
            </a:p>
          </p:txBody>
        </p:sp>
        <p:cxnSp>
          <p:nvCxnSpPr>
            <p:cNvPr id="20" name="Connector: Elbow 19">
              <a:extLst>
                <a:ext uri="{FF2B5EF4-FFF2-40B4-BE49-F238E27FC236}">
                  <a16:creationId xmlns:a16="http://schemas.microsoft.com/office/drawing/2014/main" id="{6D95AC65-7210-72A9-D62F-8666192DC29A}"/>
                </a:ext>
              </a:extLst>
            </p:cNvPr>
            <p:cNvCxnSpPr>
              <a:cxnSpLocks/>
              <a:stCxn id="37" idx="2"/>
              <a:endCxn id="24" idx="2"/>
            </p:cNvCxnSpPr>
            <p:nvPr/>
          </p:nvCxnSpPr>
          <p:spPr>
            <a:xfrm rot="16200000" flipH="1">
              <a:off x="7721795" y="896342"/>
              <a:ext cx="137716" cy="5342728"/>
            </a:xfrm>
            <a:prstGeom prst="bentConnector3">
              <a:avLst>
                <a:gd name="adj1" fmla="val 325917"/>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0D7AE59-EDF2-BC21-B68E-DAFC5BD7AFC7}"/>
                </a:ext>
              </a:extLst>
            </p:cNvPr>
            <p:cNvCxnSpPr>
              <a:cxnSpLocks/>
              <a:endCxn id="4" idx="0"/>
            </p:cNvCxnSpPr>
            <p:nvPr/>
          </p:nvCxnSpPr>
          <p:spPr>
            <a:xfrm>
              <a:off x="7861620" y="3948063"/>
              <a:ext cx="0" cy="194692"/>
            </a:xfrm>
            <a:prstGeom prst="straightConnector1">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D6383C32-07F7-870D-9ED2-D426F837B246}"/>
                </a:ext>
              </a:extLst>
            </p:cNvPr>
            <p:cNvSpPr/>
            <p:nvPr/>
          </p:nvSpPr>
          <p:spPr>
            <a:xfrm>
              <a:off x="9832895" y="2860491"/>
              <a:ext cx="1490086" cy="633345"/>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3" name="Rectangle: Rounded Corners 22">
              <a:extLst>
                <a:ext uri="{FF2B5EF4-FFF2-40B4-BE49-F238E27FC236}">
                  <a16:creationId xmlns:a16="http://schemas.microsoft.com/office/drawing/2014/main" id="{90A0439D-0797-8B3E-A768-BECA05E303F8}"/>
                </a:ext>
              </a:extLst>
            </p:cNvPr>
            <p:cNvSpPr/>
            <p:nvPr/>
          </p:nvSpPr>
          <p:spPr>
            <a:xfrm>
              <a:off x="9774935" y="2931855"/>
              <a:ext cx="1490086" cy="633345"/>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4" name="Rectangle: Rounded Corners 23">
              <a:extLst>
                <a:ext uri="{FF2B5EF4-FFF2-40B4-BE49-F238E27FC236}">
                  <a16:creationId xmlns:a16="http://schemas.microsoft.com/office/drawing/2014/main" id="{40652E5B-B38A-6B38-CC92-D85503058D76}"/>
                </a:ext>
              </a:extLst>
            </p:cNvPr>
            <p:cNvSpPr/>
            <p:nvPr/>
          </p:nvSpPr>
          <p:spPr>
            <a:xfrm>
              <a:off x="9716975" y="3003219"/>
              <a:ext cx="1490086" cy="633345"/>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5" name="TextBox 24">
              <a:extLst>
                <a:ext uri="{FF2B5EF4-FFF2-40B4-BE49-F238E27FC236}">
                  <a16:creationId xmlns:a16="http://schemas.microsoft.com/office/drawing/2014/main" id="{32E5B781-268A-80FF-3C37-843DCCE39A62}"/>
                </a:ext>
              </a:extLst>
            </p:cNvPr>
            <p:cNvSpPr txBox="1"/>
            <p:nvPr/>
          </p:nvSpPr>
          <p:spPr>
            <a:xfrm>
              <a:off x="9658235" y="3114516"/>
              <a:ext cx="1576072" cy="400110"/>
            </a:xfrm>
            <a:prstGeom prst="rect">
              <a:avLst/>
            </a:prstGeom>
            <a:noFill/>
          </p:spPr>
          <p:txBody>
            <a:bodyPr wrap="none" rtlCol="0">
              <a:spAutoFit/>
            </a:bodyPr>
            <a:lstStyle/>
            <a:p>
              <a:pPr algn="ctr" defTabSz="274320"/>
              <a:r>
                <a:rPr lang="en-US" sz="1100" dirty="0">
                  <a:solidFill>
                    <a:schemeClr val="tx1">
                      <a:lumMod val="20000"/>
                      <a:lumOff val="80000"/>
                    </a:schemeClr>
                  </a:solidFill>
                </a:rPr>
                <a:t>SLIMS GATE Plugins</a:t>
              </a:r>
            </a:p>
            <a:p>
              <a:pPr algn="ctr" defTabSz="274320"/>
              <a:r>
                <a:rPr lang="en-US" sz="900" dirty="0">
                  <a:solidFill>
                    <a:schemeClr val="tx1">
                      <a:lumMod val="20000"/>
                      <a:lumOff val="80000"/>
                    </a:schemeClr>
                  </a:solidFill>
                </a:rPr>
                <a:t>(Apache, Camel, Java API)</a:t>
              </a:r>
            </a:p>
          </p:txBody>
        </p:sp>
        <p:sp>
          <p:nvSpPr>
            <p:cNvPr id="26" name="Rectangle: Rounded Corners 25">
              <a:extLst>
                <a:ext uri="{FF2B5EF4-FFF2-40B4-BE49-F238E27FC236}">
                  <a16:creationId xmlns:a16="http://schemas.microsoft.com/office/drawing/2014/main" id="{CCC20F18-D89A-5EC4-DFDC-F6D747DC7D20}"/>
                </a:ext>
              </a:extLst>
            </p:cNvPr>
            <p:cNvSpPr/>
            <p:nvPr/>
          </p:nvSpPr>
          <p:spPr>
            <a:xfrm>
              <a:off x="9359748" y="949013"/>
              <a:ext cx="2203129" cy="820010"/>
            </a:xfrm>
            <a:prstGeom prst="roundRect">
              <a:avLst>
                <a:gd name="adj" fmla="val 18236"/>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7" name="TextBox 26">
              <a:extLst>
                <a:ext uri="{FF2B5EF4-FFF2-40B4-BE49-F238E27FC236}">
                  <a16:creationId xmlns:a16="http://schemas.microsoft.com/office/drawing/2014/main" id="{BB3BC025-AD65-8106-ADBB-2DAE2F835710}"/>
                </a:ext>
              </a:extLst>
            </p:cNvPr>
            <p:cNvSpPr txBox="1"/>
            <p:nvPr/>
          </p:nvSpPr>
          <p:spPr>
            <a:xfrm>
              <a:off x="9805964" y="1017622"/>
              <a:ext cx="1189749" cy="307777"/>
            </a:xfrm>
            <a:prstGeom prst="rect">
              <a:avLst/>
            </a:prstGeom>
            <a:noFill/>
          </p:spPr>
          <p:txBody>
            <a:bodyPr wrap="none" rtlCol="0">
              <a:spAutoFit/>
            </a:bodyPr>
            <a:lstStyle/>
            <a:p>
              <a:pPr algn="ctr" defTabSz="274320"/>
              <a:r>
                <a:rPr lang="en-US" sz="1400" dirty="0">
                  <a:solidFill>
                    <a:schemeClr val="tx1">
                      <a:lumMod val="20000"/>
                      <a:lumOff val="80000"/>
                    </a:schemeClr>
                  </a:solidFill>
                </a:rPr>
                <a:t>Lab Network</a:t>
              </a:r>
            </a:p>
          </p:txBody>
        </p:sp>
        <p:sp>
          <p:nvSpPr>
            <p:cNvPr id="28" name="TextBox 27">
              <a:extLst>
                <a:ext uri="{FF2B5EF4-FFF2-40B4-BE49-F238E27FC236}">
                  <a16:creationId xmlns:a16="http://schemas.microsoft.com/office/drawing/2014/main" id="{4C0D02CF-EF83-165B-2BB7-F976D3D18BD2}"/>
                </a:ext>
              </a:extLst>
            </p:cNvPr>
            <p:cNvSpPr txBox="1"/>
            <p:nvPr/>
          </p:nvSpPr>
          <p:spPr>
            <a:xfrm>
              <a:off x="9728526" y="1197683"/>
              <a:ext cx="1040670" cy="592470"/>
            </a:xfrm>
            <a:prstGeom prst="rect">
              <a:avLst/>
            </a:prstGeom>
            <a:noFill/>
          </p:spPr>
          <p:txBody>
            <a:bodyPr wrap="none" rtlCol="0">
              <a:spAutoFit/>
            </a:bodyPr>
            <a:lstStyle/>
            <a:p>
              <a:pPr marL="171450" indent="-171450" defTabSz="274320">
                <a:buFontTx/>
                <a:buChar char="-"/>
              </a:pPr>
              <a:r>
                <a:rPr lang="en-US" sz="1100" dirty="0">
                  <a:solidFill>
                    <a:schemeClr val="tx1">
                      <a:lumMod val="20000"/>
                      <a:lumOff val="80000"/>
                    </a:schemeClr>
                  </a:solidFill>
                </a:rPr>
                <a:t>Printers</a:t>
              </a:r>
            </a:p>
            <a:p>
              <a:pPr marL="171450" indent="-171450" defTabSz="274320">
                <a:buFontTx/>
                <a:buChar char="-"/>
              </a:pPr>
              <a:r>
                <a:rPr lang="en-US" sz="1000" dirty="0">
                  <a:solidFill>
                    <a:schemeClr val="tx1">
                      <a:lumMod val="20000"/>
                      <a:lumOff val="80000"/>
                    </a:schemeClr>
                  </a:solidFill>
                </a:rPr>
                <a:t>HL7</a:t>
              </a:r>
              <a:endParaRPr lang="en-US" sz="1100" dirty="0">
                <a:solidFill>
                  <a:schemeClr val="tx1">
                    <a:lumMod val="20000"/>
                    <a:lumOff val="80000"/>
                  </a:schemeClr>
                </a:solidFill>
              </a:endParaRPr>
            </a:p>
            <a:p>
              <a:pPr marL="171450" indent="-171450" defTabSz="274320">
                <a:buFontTx/>
                <a:buChar char="-"/>
              </a:pPr>
              <a:r>
                <a:rPr lang="en-US" sz="1100" dirty="0">
                  <a:solidFill>
                    <a:schemeClr val="tx1">
                      <a:lumMod val="20000"/>
                      <a:lumOff val="80000"/>
                    </a:schemeClr>
                  </a:solidFill>
                </a:rPr>
                <a:t>Sequencer</a:t>
              </a:r>
            </a:p>
          </p:txBody>
        </p:sp>
        <p:sp>
          <p:nvSpPr>
            <p:cNvPr id="29" name="TextBox 28">
              <a:extLst>
                <a:ext uri="{FF2B5EF4-FFF2-40B4-BE49-F238E27FC236}">
                  <a16:creationId xmlns:a16="http://schemas.microsoft.com/office/drawing/2014/main" id="{D89D3FC3-0D34-A9DA-F979-05B41B0DEED1}"/>
                </a:ext>
              </a:extLst>
            </p:cNvPr>
            <p:cNvSpPr txBox="1"/>
            <p:nvPr/>
          </p:nvSpPr>
          <p:spPr>
            <a:xfrm>
              <a:off x="10549771" y="1197683"/>
              <a:ext cx="599844" cy="569387"/>
            </a:xfrm>
            <a:prstGeom prst="rect">
              <a:avLst/>
            </a:prstGeom>
            <a:noFill/>
          </p:spPr>
          <p:txBody>
            <a:bodyPr wrap="none" rtlCol="0">
              <a:spAutoFit/>
            </a:bodyPr>
            <a:lstStyle/>
            <a:p>
              <a:pPr marL="171450" indent="-171450" defTabSz="274320">
                <a:buFontTx/>
                <a:buChar char="-"/>
              </a:pPr>
              <a:r>
                <a:rPr lang="en-US" sz="1000" dirty="0">
                  <a:solidFill>
                    <a:schemeClr val="tx1">
                      <a:lumMod val="20000"/>
                      <a:lumOff val="80000"/>
                    </a:schemeClr>
                  </a:solidFill>
                </a:rPr>
                <a:t>Mail</a:t>
              </a:r>
            </a:p>
            <a:p>
              <a:pPr marL="171450" indent="-171450" defTabSz="274320">
                <a:buFontTx/>
                <a:buChar char="-"/>
              </a:pPr>
              <a:r>
                <a:rPr lang="en-US" sz="1000" dirty="0">
                  <a:solidFill>
                    <a:schemeClr val="tx1">
                      <a:lumMod val="20000"/>
                      <a:lumOff val="80000"/>
                    </a:schemeClr>
                  </a:solidFill>
                </a:rPr>
                <a:t>FTP</a:t>
              </a:r>
            </a:p>
            <a:p>
              <a:pPr defTabSz="274320"/>
              <a:endParaRPr lang="en-US" sz="1100" dirty="0">
                <a:solidFill>
                  <a:schemeClr val="tx1">
                    <a:lumMod val="20000"/>
                    <a:lumOff val="80000"/>
                  </a:schemeClr>
                </a:solidFill>
              </a:endParaRPr>
            </a:p>
          </p:txBody>
        </p:sp>
        <p:cxnSp>
          <p:nvCxnSpPr>
            <p:cNvPr id="30" name="Straight Arrow Connector 29">
              <a:extLst>
                <a:ext uri="{FF2B5EF4-FFF2-40B4-BE49-F238E27FC236}">
                  <a16:creationId xmlns:a16="http://schemas.microsoft.com/office/drawing/2014/main" id="{103EA3D8-3269-6AD5-8EA6-CC915774ACAE}"/>
                </a:ext>
              </a:extLst>
            </p:cNvPr>
            <p:cNvCxnSpPr>
              <a:cxnSpLocks/>
              <a:stCxn id="26" idx="2"/>
            </p:cNvCxnSpPr>
            <p:nvPr/>
          </p:nvCxnSpPr>
          <p:spPr>
            <a:xfrm>
              <a:off x="10461313" y="1769023"/>
              <a:ext cx="15290" cy="1204113"/>
            </a:xfrm>
            <a:prstGeom prst="straightConnector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496136C9-8F5A-8060-0537-949A861EF80A}"/>
                </a:ext>
              </a:extLst>
            </p:cNvPr>
            <p:cNvSpPr/>
            <p:nvPr/>
          </p:nvSpPr>
          <p:spPr>
            <a:xfrm>
              <a:off x="5959977" y="3003219"/>
              <a:ext cx="1083224" cy="477652"/>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33" name="TextBox 32">
              <a:extLst>
                <a:ext uri="{FF2B5EF4-FFF2-40B4-BE49-F238E27FC236}">
                  <a16:creationId xmlns:a16="http://schemas.microsoft.com/office/drawing/2014/main" id="{3F90AD5C-A5F9-B4AE-9F72-2B7447C08C80}"/>
                </a:ext>
              </a:extLst>
            </p:cNvPr>
            <p:cNvSpPr txBox="1"/>
            <p:nvPr/>
          </p:nvSpPr>
          <p:spPr>
            <a:xfrm>
              <a:off x="6132882" y="3125174"/>
              <a:ext cx="756938" cy="261610"/>
            </a:xfrm>
            <a:prstGeom prst="rect">
              <a:avLst/>
            </a:prstGeom>
            <a:noFill/>
          </p:spPr>
          <p:txBody>
            <a:bodyPr wrap="none" rtlCol="0">
              <a:spAutoFit/>
            </a:bodyPr>
            <a:lstStyle/>
            <a:p>
              <a:pPr algn="ctr" defTabSz="274320"/>
              <a:r>
                <a:rPr lang="en-US" sz="1100" dirty="0">
                  <a:solidFill>
                    <a:schemeClr val="tx1">
                      <a:lumMod val="20000"/>
                      <a:lumOff val="80000"/>
                    </a:schemeClr>
                  </a:solidFill>
                </a:rPr>
                <a:t>SLIMS-R</a:t>
              </a:r>
            </a:p>
          </p:txBody>
        </p:sp>
        <p:sp>
          <p:nvSpPr>
            <p:cNvPr id="34" name="Rectangle: Rounded Corners 33">
              <a:extLst>
                <a:ext uri="{FF2B5EF4-FFF2-40B4-BE49-F238E27FC236}">
                  <a16:creationId xmlns:a16="http://schemas.microsoft.com/office/drawing/2014/main" id="{51B7E2E9-E842-5C58-CBA4-90C05D237C45}"/>
                </a:ext>
              </a:extLst>
            </p:cNvPr>
            <p:cNvSpPr/>
            <p:nvPr/>
          </p:nvSpPr>
          <p:spPr>
            <a:xfrm>
              <a:off x="6232184" y="2003839"/>
              <a:ext cx="1134313" cy="399619"/>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35" name="TextBox 34">
              <a:extLst>
                <a:ext uri="{FF2B5EF4-FFF2-40B4-BE49-F238E27FC236}">
                  <a16:creationId xmlns:a16="http://schemas.microsoft.com/office/drawing/2014/main" id="{6678E4A0-1F09-4673-71A0-B40DC68B9D9A}"/>
                </a:ext>
              </a:extLst>
            </p:cNvPr>
            <p:cNvSpPr txBox="1"/>
            <p:nvPr/>
          </p:nvSpPr>
          <p:spPr>
            <a:xfrm>
              <a:off x="6232183" y="2035240"/>
              <a:ext cx="1127079" cy="261610"/>
            </a:xfrm>
            <a:prstGeom prst="rect">
              <a:avLst/>
            </a:prstGeom>
            <a:noFill/>
          </p:spPr>
          <p:txBody>
            <a:bodyPr wrap="square" rtlCol="0">
              <a:spAutoFit/>
            </a:bodyPr>
            <a:lstStyle/>
            <a:p>
              <a:pPr algn="ctr" defTabSz="274320"/>
              <a:r>
                <a:rPr lang="en-US" sz="1100" dirty="0">
                  <a:solidFill>
                    <a:schemeClr val="tx1">
                      <a:lumMod val="20000"/>
                      <a:lumOff val="80000"/>
                    </a:schemeClr>
                  </a:solidFill>
                </a:rPr>
                <a:t>Bench UI</a:t>
              </a:r>
            </a:p>
          </p:txBody>
        </p:sp>
        <p:sp>
          <p:nvSpPr>
            <p:cNvPr id="36" name="TextBox 35">
              <a:extLst>
                <a:ext uri="{FF2B5EF4-FFF2-40B4-BE49-F238E27FC236}">
                  <a16:creationId xmlns:a16="http://schemas.microsoft.com/office/drawing/2014/main" id="{B95EA319-91FA-6E67-227F-032E30BB3542}"/>
                </a:ext>
              </a:extLst>
            </p:cNvPr>
            <p:cNvSpPr txBox="1"/>
            <p:nvPr/>
          </p:nvSpPr>
          <p:spPr>
            <a:xfrm>
              <a:off x="6229169" y="2194723"/>
              <a:ext cx="1137328" cy="230832"/>
            </a:xfrm>
            <a:prstGeom prst="rect">
              <a:avLst/>
            </a:prstGeom>
            <a:noFill/>
          </p:spPr>
          <p:txBody>
            <a:bodyPr wrap="square">
              <a:spAutoFit/>
            </a:bodyPr>
            <a:lstStyle/>
            <a:p>
              <a:pPr algn="ctr" defTabSz="274320"/>
              <a:r>
                <a:rPr lang="en-US" sz="900" dirty="0">
                  <a:solidFill>
                    <a:schemeClr val="tx1">
                      <a:lumMod val="20000"/>
                      <a:lumOff val="80000"/>
                    </a:schemeClr>
                  </a:solidFill>
                </a:rPr>
                <a:t>Frontend</a:t>
              </a:r>
            </a:p>
          </p:txBody>
        </p:sp>
        <p:sp>
          <p:nvSpPr>
            <p:cNvPr id="37" name="Rectangle: Rounded Corners 36">
              <a:extLst>
                <a:ext uri="{FF2B5EF4-FFF2-40B4-BE49-F238E27FC236}">
                  <a16:creationId xmlns:a16="http://schemas.microsoft.com/office/drawing/2014/main" id="{BF4EA9A2-46B3-27CA-FBCF-EFFB71B13B74}"/>
                </a:ext>
              </a:extLst>
            </p:cNvPr>
            <p:cNvSpPr/>
            <p:nvPr/>
          </p:nvSpPr>
          <p:spPr>
            <a:xfrm>
              <a:off x="4471899" y="3021198"/>
              <a:ext cx="1294781" cy="477651"/>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38" name="TextBox 37">
              <a:extLst>
                <a:ext uri="{FF2B5EF4-FFF2-40B4-BE49-F238E27FC236}">
                  <a16:creationId xmlns:a16="http://schemas.microsoft.com/office/drawing/2014/main" id="{F1C667BD-76B3-838C-F8C1-2D8D72143FD9}"/>
                </a:ext>
              </a:extLst>
            </p:cNvPr>
            <p:cNvSpPr txBox="1"/>
            <p:nvPr/>
          </p:nvSpPr>
          <p:spPr>
            <a:xfrm>
              <a:off x="4499743" y="3081192"/>
              <a:ext cx="1226619" cy="261610"/>
            </a:xfrm>
            <a:prstGeom prst="rect">
              <a:avLst/>
            </a:prstGeom>
            <a:noFill/>
          </p:spPr>
          <p:txBody>
            <a:bodyPr wrap="none" rtlCol="0">
              <a:spAutoFit/>
            </a:bodyPr>
            <a:lstStyle/>
            <a:p>
              <a:pPr algn="ctr" defTabSz="274320"/>
              <a:r>
                <a:rPr lang="en-US" sz="1100" dirty="0">
                  <a:solidFill>
                    <a:schemeClr val="tx1">
                      <a:lumMod val="20000"/>
                      <a:lumOff val="80000"/>
                    </a:schemeClr>
                  </a:solidFill>
                </a:rPr>
                <a:t>Requester portal</a:t>
              </a:r>
            </a:p>
          </p:txBody>
        </p:sp>
        <p:sp>
          <p:nvSpPr>
            <p:cNvPr id="39" name="TextBox 38">
              <a:extLst>
                <a:ext uri="{FF2B5EF4-FFF2-40B4-BE49-F238E27FC236}">
                  <a16:creationId xmlns:a16="http://schemas.microsoft.com/office/drawing/2014/main" id="{29881811-B134-64EA-5BB4-71D16F37B5B8}"/>
                </a:ext>
              </a:extLst>
            </p:cNvPr>
            <p:cNvSpPr txBox="1"/>
            <p:nvPr/>
          </p:nvSpPr>
          <p:spPr>
            <a:xfrm>
              <a:off x="4613949" y="3249356"/>
              <a:ext cx="1004120" cy="230832"/>
            </a:xfrm>
            <a:prstGeom prst="rect">
              <a:avLst/>
            </a:prstGeom>
            <a:noFill/>
          </p:spPr>
          <p:txBody>
            <a:bodyPr wrap="square">
              <a:spAutoFit/>
            </a:bodyPr>
            <a:lstStyle/>
            <a:p>
              <a:pPr algn="ctr" defTabSz="274320"/>
              <a:r>
                <a:rPr lang="en-US" sz="900" dirty="0">
                  <a:solidFill>
                    <a:schemeClr val="tx1">
                      <a:lumMod val="20000"/>
                      <a:lumOff val="80000"/>
                    </a:schemeClr>
                  </a:solidFill>
                </a:rPr>
                <a:t>Backend</a:t>
              </a:r>
            </a:p>
          </p:txBody>
        </p:sp>
        <p:sp>
          <p:nvSpPr>
            <p:cNvPr id="40" name="Rectangle: Rounded Corners 39">
              <a:extLst>
                <a:ext uri="{FF2B5EF4-FFF2-40B4-BE49-F238E27FC236}">
                  <a16:creationId xmlns:a16="http://schemas.microsoft.com/office/drawing/2014/main" id="{759F7C14-B3C4-BD11-C6C2-AA0786072E10}"/>
                </a:ext>
              </a:extLst>
            </p:cNvPr>
            <p:cNvSpPr/>
            <p:nvPr/>
          </p:nvSpPr>
          <p:spPr>
            <a:xfrm>
              <a:off x="4467789" y="2003838"/>
              <a:ext cx="1290526" cy="399619"/>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41" name="TextBox 40">
              <a:extLst>
                <a:ext uri="{FF2B5EF4-FFF2-40B4-BE49-F238E27FC236}">
                  <a16:creationId xmlns:a16="http://schemas.microsoft.com/office/drawing/2014/main" id="{01DB819B-AAD2-9FB8-2AA5-99235DD18C86}"/>
                </a:ext>
              </a:extLst>
            </p:cNvPr>
            <p:cNvSpPr txBox="1"/>
            <p:nvPr/>
          </p:nvSpPr>
          <p:spPr>
            <a:xfrm>
              <a:off x="4499744" y="2029607"/>
              <a:ext cx="1226618" cy="261610"/>
            </a:xfrm>
            <a:prstGeom prst="rect">
              <a:avLst/>
            </a:prstGeom>
            <a:noFill/>
          </p:spPr>
          <p:txBody>
            <a:bodyPr wrap="none" rtlCol="0">
              <a:spAutoFit/>
            </a:bodyPr>
            <a:lstStyle/>
            <a:p>
              <a:pPr algn="ctr" defTabSz="274320"/>
              <a:r>
                <a:rPr lang="en-US" sz="1100" dirty="0">
                  <a:solidFill>
                    <a:schemeClr val="tx1">
                      <a:lumMod val="20000"/>
                      <a:lumOff val="80000"/>
                    </a:schemeClr>
                  </a:solidFill>
                </a:rPr>
                <a:t>Requester portal</a:t>
              </a:r>
            </a:p>
          </p:txBody>
        </p:sp>
        <p:sp>
          <p:nvSpPr>
            <p:cNvPr id="42" name="TextBox 41">
              <a:extLst>
                <a:ext uri="{FF2B5EF4-FFF2-40B4-BE49-F238E27FC236}">
                  <a16:creationId xmlns:a16="http://schemas.microsoft.com/office/drawing/2014/main" id="{5A60FBA9-567A-241B-72CE-74E9093F7B08}"/>
                </a:ext>
              </a:extLst>
            </p:cNvPr>
            <p:cNvSpPr txBox="1"/>
            <p:nvPr/>
          </p:nvSpPr>
          <p:spPr>
            <a:xfrm>
              <a:off x="4609372" y="2194722"/>
              <a:ext cx="1000820" cy="230832"/>
            </a:xfrm>
            <a:prstGeom prst="rect">
              <a:avLst/>
            </a:prstGeom>
            <a:noFill/>
          </p:spPr>
          <p:txBody>
            <a:bodyPr wrap="square">
              <a:spAutoFit/>
            </a:bodyPr>
            <a:lstStyle/>
            <a:p>
              <a:pPr algn="ctr" defTabSz="274320"/>
              <a:r>
                <a:rPr lang="en-US" sz="900" dirty="0">
                  <a:solidFill>
                    <a:schemeClr val="tx1">
                      <a:lumMod val="20000"/>
                      <a:lumOff val="80000"/>
                    </a:schemeClr>
                  </a:solidFill>
                </a:rPr>
                <a:t>Frontend</a:t>
              </a:r>
            </a:p>
          </p:txBody>
        </p:sp>
        <p:cxnSp>
          <p:nvCxnSpPr>
            <p:cNvPr id="43" name="Straight Arrow Connector 42">
              <a:extLst>
                <a:ext uri="{FF2B5EF4-FFF2-40B4-BE49-F238E27FC236}">
                  <a16:creationId xmlns:a16="http://schemas.microsoft.com/office/drawing/2014/main" id="{90AEC680-2BDE-D127-0096-6D2EE532C17C}"/>
                </a:ext>
              </a:extLst>
            </p:cNvPr>
            <p:cNvCxnSpPr>
              <a:cxnSpLocks/>
              <a:stCxn id="44" idx="2"/>
              <a:endCxn id="47" idx="0"/>
            </p:cNvCxnSpPr>
            <p:nvPr/>
          </p:nvCxnSpPr>
          <p:spPr>
            <a:xfrm flipH="1">
              <a:off x="8112888" y="1720528"/>
              <a:ext cx="9141" cy="1135351"/>
            </a:xfrm>
            <a:prstGeom prst="straightConnector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28627844-432C-A088-7E55-F4C6C3200DFD}"/>
                </a:ext>
              </a:extLst>
            </p:cNvPr>
            <p:cNvSpPr/>
            <p:nvPr/>
          </p:nvSpPr>
          <p:spPr>
            <a:xfrm>
              <a:off x="7390699" y="973997"/>
              <a:ext cx="1462660" cy="746532"/>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45" name="Rectangle: Rounded Corners 44">
              <a:extLst>
                <a:ext uri="{FF2B5EF4-FFF2-40B4-BE49-F238E27FC236}">
                  <a16:creationId xmlns:a16="http://schemas.microsoft.com/office/drawing/2014/main" id="{480CFDF1-67E5-BFF4-0D42-BD0AF9674DEA}"/>
                </a:ext>
              </a:extLst>
            </p:cNvPr>
            <p:cNvSpPr/>
            <p:nvPr/>
          </p:nvSpPr>
          <p:spPr>
            <a:xfrm>
              <a:off x="7380847" y="1452347"/>
              <a:ext cx="1415711" cy="184912"/>
            </a:xfrm>
            <a:prstGeom prst="roundRect">
              <a:avLst>
                <a:gd name="adj" fmla="val 29740"/>
              </a:avLst>
            </a:prstGeom>
            <a:solidFill>
              <a:schemeClr val="bg1"/>
            </a:solidFill>
            <a:ln w="1270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lumMod val="20000"/>
                    <a:lumOff val="80000"/>
                  </a:schemeClr>
                </a:solidFill>
              </a:endParaRPr>
            </a:p>
          </p:txBody>
        </p:sp>
        <p:sp>
          <p:nvSpPr>
            <p:cNvPr id="46" name="Rectangle: Rounded Corners 45">
              <a:extLst>
                <a:ext uri="{FF2B5EF4-FFF2-40B4-BE49-F238E27FC236}">
                  <a16:creationId xmlns:a16="http://schemas.microsoft.com/office/drawing/2014/main" id="{C006062D-6A0E-A4BB-DE80-80A0310AB9CE}"/>
                </a:ext>
              </a:extLst>
            </p:cNvPr>
            <p:cNvSpPr/>
            <p:nvPr/>
          </p:nvSpPr>
          <p:spPr>
            <a:xfrm>
              <a:off x="7340647" y="1406866"/>
              <a:ext cx="1415711" cy="184912"/>
            </a:xfrm>
            <a:prstGeom prst="roundRect">
              <a:avLst>
                <a:gd name="adj" fmla="val 29740"/>
              </a:avLst>
            </a:prstGeom>
            <a:solidFill>
              <a:schemeClr val="bg1"/>
            </a:solidFill>
            <a:ln w="1270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lumMod val="20000"/>
                    <a:lumOff val="80000"/>
                  </a:schemeClr>
                </a:solidFill>
              </a:endParaRPr>
            </a:p>
          </p:txBody>
        </p:sp>
        <p:sp>
          <p:nvSpPr>
            <p:cNvPr id="47" name="Rectangle: Rounded Corners 46">
              <a:extLst>
                <a:ext uri="{FF2B5EF4-FFF2-40B4-BE49-F238E27FC236}">
                  <a16:creationId xmlns:a16="http://schemas.microsoft.com/office/drawing/2014/main" id="{DBA47D5A-6944-DCCF-BAB6-501665032685}"/>
                </a:ext>
              </a:extLst>
            </p:cNvPr>
            <p:cNvSpPr/>
            <p:nvPr/>
          </p:nvSpPr>
          <p:spPr>
            <a:xfrm>
              <a:off x="7390699" y="2855880"/>
              <a:ext cx="1444377" cy="732338"/>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48" name="TextBox 47">
              <a:extLst>
                <a:ext uri="{FF2B5EF4-FFF2-40B4-BE49-F238E27FC236}">
                  <a16:creationId xmlns:a16="http://schemas.microsoft.com/office/drawing/2014/main" id="{CFF7828F-E54E-7198-0934-251886618C1A}"/>
                </a:ext>
              </a:extLst>
            </p:cNvPr>
            <p:cNvSpPr txBox="1"/>
            <p:nvPr/>
          </p:nvSpPr>
          <p:spPr>
            <a:xfrm>
              <a:off x="7567930" y="2908899"/>
              <a:ext cx="1061509" cy="261610"/>
            </a:xfrm>
            <a:prstGeom prst="rect">
              <a:avLst/>
            </a:prstGeom>
            <a:noFill/>
          </p:spPr>
          <p:txBody>
            <a:bodyPr wrap="none" rtlCol="0">
              <a:spAutoFit/>
            </a:bodyPr>
            <a:lstStyle/>
            <a:p>
              <a:pPr algn="ctr" defTabSz="274320"/>
              <a:r>
                <a:rPr lang="en-US" sz="1100" dirty="0">
                  <a:solidFill>
                    <a:schemeClr val="tx1">
                      <a:lumMod val="20000"/>
                      <a:lumOff val="80000"/>
                    </a:schemeClr>
                  </a:solidFill>
                </a:rPr>
                <a:t>SLIMS Server</a:t>
              </a:r>
            </a:p>
          </p:txBody>
        </p:sp>
        <p:sp>
          <p:nvSpPr>
            <p:cNvPr id="49" name="TextBox 48">
              <a:extLst>
                <a:ext uri="{FF2B5EF4-FFF2-40B4-BE49-F238E27FC236}">
                  <a16:creationId xmlns:a16="http://schemas.microsoft.com/office/drawing/2014/main" id="{864A3DD8-0524-A361-2F60-63FE0449AEC8}"/>
                </a:ext>
              </a:extLst>
            </p:cNvPr>
            <p:cNvSpPr txBox="1"/>
            <p:nvPr/>
          </p:nvSpPr>
          <p:spPr>
            <a:xfrm>
              <a:off x="7515225" y="1081872"/>
              <a:ext cx="1086387" cy="261610"/>
            </a:xfrm>
            <a:prstGeom prst="rect">
              <a:avLst/>
            </a:prstGeom>
            <a:noFill/>
          </p:spPr>
          <p:txBody>
            <a:bodyPr wrap="square" rtlCol="0">
              <a:spAutoFit/>
            </a:bodyPr>
            <a:lstStyle/>
            <a:p>
              <a:pPr algn="ctr" defTabSz="274320"/>
              <a:r>
                <a:rPr lang="en-US" sz="1100" dirty="0">
                  <a:solidFill>
                    <a:schemeClr val="tx1">
                      <a:lumMod val="20000"/>
                      <a:lumOff val="80000"/>
                    </a:schemeClr>
                  </a:solidFill>
                </a:rPr>
                <a:t>SLIMS Client</a:t>
              </a:r>
            </a:p>
          </p:txBody>
        </p:sp>
        <p:sp>
          <p:nvSpPr>
            <p:cNvPr id="50" name="TextBox 49">
              <a:extLst>
                <a:ext uri="{FF2B5EF4-FFF2-40B4-BE49-F238E27FC236}">
                  <a16:creationId xmlns:a16="http://schemas.microsoft.com/office/drawing/2014/main" id="{2DE2C095-887B-B2AA-3D4D-78707E0D42B3}"/>
                </a:ext>
              </a:extLst>
            </p:cNvPr>
            <p:cNvSpPr txBox="1"/>
            <p:nvPr/>
          </p:nvSpPr>
          <p:spPr>
            <a:xfrm>
              <a:off x="7255226" y="1387574"/>
              <a:ext cx="1586551" cy="215444"/>
            </a:xfrm>
            <a:prstGeom prst="rect">
              <a:avLst/>
            </a:prstGeom>
            <a:noFill/>
            <a:ln>
              <a:noFill/>
            </a:ln>
          </p:spPr>
          <p:txBody>
            <a:bodyPr wrap="square" rtlCol="0">
              <a:spAutoFit/>
            </a:bodyPr>
            <a:lstStyle/>
            <a:p>
              <a:pPr algn="ctr" defTabSz="274320"/>
              <a:r>
                <a:rPr lang="en-US" sz="800" dirty="0">
                  <a:solidFill>
                    <a:schemeClr val="tx1">
                      <a:lumMod val="20000"/>
                      <a:lumOff val="80000"/>
                    </a:schemeClr>
                  </a:solidFill>
                </a:rPr>
                <a:t>SLIMS GUI Plugins (</a:t>
              </a:r>
              <a:r>
                <a:rPr lang="en-US" sz="800" dirty="0" err="1">
                  <a:solidFill>
                    <a:schemeClr val="tx1">
                      <a:lumMod val="20000"/>
                      <a:lumOff val="80000"/>
                    </a:schemeClr>
                  </a:solidFill>
                </a:rPr>
                <a:t>Vaadin</a:t>
              </a:r>
              <a:r>
                <a:rPr lang="en-US" sz="800" dirty="0">
                  <a:solidFill>
                    <a:schemeClr val="tx1">
                      <a:lumMod val="20000"/>
                      <a:lumOff val="80000"/>
                    </a:schemeClr>
                  </a:solidFill>
                </a:rPr>
                <a:t>)</a:t>
              </a:r>
            </a:p>
          </p:txBody>
        </p:sp>
        <p:sp>
          <p:nvSpPr>
            <p:cNvPr id="51" name="Rectangle: Rounded Corners 50">
              <a:extLst>
                <a:ext uri="{FF2B5EF4-FFF2-40B4-BE49-F238E27FC236}">
                  <a16:creationId xmlns:a16="http://schemas.microsoft.com/office/drawing/2014/main" id="{58EC275B-2BDD-96BC-04A4-D2E9F7D3A502}"/>
                </a:ext>
              </a:extLst>
            </p:cNvPr>
            <p:cNvSpPr/>
            <p:nvPr/>
          </p:nvSpPr>
          <p:spPr>
            <a:xfrm>
              <a:off x="7650791" y="3169916"/>
              <a:ext cx="867179" cy="373846"/>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52" name="TextBox 51">
              <a:extLst>
                <a:ext uri="{FF2B5EF4-FFF2-40B4-BE49-F238E27FC236}">
                  <a16:creationId xmlns:a16="http://schemas.microsoft.com/office/drawing/2014/main" id="{7CF4003B-3E1B-3D57-019C-D2F00ACCC464}"/>
                </a:ext>
              </a:extLst>
            </p:cNvPr>
            <p:cNvSpPr txBox="1"/>
            <p:nvPr/>
          </p:nvSpPr>
          <p:spPr>
            <a:xfrm>
              <a:off x="7617287" y="3168794"/>
              <a:ext cx="924548" cy="392415"/>
            </a:xfrm>
            <a:prstGeom prst="rect">
              <a:avLst/>
            </a:prstGeom>
            <a:noFill/>
          </p:spPr>
          <p:txBody>
            <a:bodyPr wrap="square" rtlCol="0">
              <a:spAutoFit/>
            </a:bodyPr>
            <a:lstStyle/>
            <a:p>
              <a:pPr algn="ctr" defTabSz="274320"/>
              <a:r>
                <a:rPr lang="en-US" sz="1050" dirty="0"/>
                <a:t>SLIMS Rest</a:t>
              </a:r>
            </a:p>
            <a:p>
              <a:pPr algn="ctr" defTabSz="274320"/>
              <a:r>
                <a:rPr lang="en-US" sz="900" dirty="0"/>
                <a:t>(Rest-API)</a:t>
              </a:r>
            </a:p>
          </p:txBody>
        </p:sp>
        <p:cxnSp>
          <p:nvCxnSpPr>
            <p:cNvPr id="53" name="Straight Arrow Connector 52">
              <a:extLst>
                <a:ext uri="{FF2B5EF4-FFF2-40B4-BE49-F238E27FC236}">
                  <a16:creationId xmlns:a16="http://schemas.microsoft.com/office/drawing/2014/main" id="{BD1B4AFF-7BE5-BCF0-B3BE-D30A3DCB9A4F}"/>
                </a:ext>
              </a:extLst>
            </p:cNvPr>
            <p:cNvCxnSpPr>
              <a:cxnSpLocks/>
              <a:stCxn id="18" idx="2"/>
              <a:endCxn id="52" idx="3"/>
            </p:cNvCxnSpPr>
            <p:nvPr/>
          </p:nvCxnSpPr>
          <p:spPr>
            <a:xfrm flipH="1">
              <a:off x="8541835" y="2403457"/>
              <a:ext cx="421349" cy="961545"/>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109">
              <a:extLst>
                <a:ext uri="{FF2B5EF4-FFF2-40B4-BE49-F238E27FC236}">
                  <a16:creationId xmlns:a16="http://schemas.microsoft.com/office/drawing/2014/main" id="{E925915F-A43C-7967-D592-E0E26DC4D8D8}"/>
                </a:ext>
              </a:extLst>
            </p:cNvPr>
            <p:cNvCxnSpPr>
              <a:cxnSpLocks/>
              <a:stCxn id="34" idx="2"/>
              <a:endCxn id="52" idx="1"/>
            </p:cNvCxnSpPr>
            <p:nvPr/>
          </p:nvCxnSpPr>
          <p:spPr>
            <a:xfrm>
              <a:off x="6799341" y="2403458"/>
              <a:ext cx="817946" cy="961544"/>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5" name="Connector: Elbow 109">
              <a:extLst>
                <a:ext uri="{FF2B5EF4-FFF2-40B4-BE49-F238E27FC236}">
                  <a16:creationId xmlns:a16="http://schemas.microsoft.com/office/drawing/2014/main" id="{58061CA6-0661-324C-6C3B-0EC94F1B03F6}"/>
                </a:ext>
              </a:extLst>
            </p:cNvPr>
            <p:cNvCxnSpPr>
              <a:cxnSpLocks/>
              <a:stCxn id="40" idx="2"/>
              <a:endCxn id="37" idx="0"/>
            </p:cNvCxnSpPr>
            <p:nvPr/>
          </p:nvCxnSpPr>
          <p:spPr>
            <a:xfrm>
              <a:off x="5113052" y="2403457"/>
              <a:ext cx="6238" cy="617740"/>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C1CE7F1-8952-24A5-0704-B500285E549B}"/>
                </a:ext>
              </a:extLst>
            </p:cNvPr>
            <p:cNvCxnSpPr>
              <a:cxnSpLocks/>
              <a:stCxn id="32" idx="2"/>
            </p:cNvCxnSpPr>
            <p:nvPr/>
          </p:nvCxnSpPr>
          <p:spPr>
            <a:xfrm>
              <a:off x="6501589" y="3480871"/>
              <a:ext cx="0" cy="4671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AE36AA3-8939-E825-94D7-13ED39595FDF}"/>
                </a:ext>
              </a:extLst>
            </p:cNvPr>
            <p:cNvCxnSpPr>
              <a:cxnSpLocks/>
            </p:cNvCxnSpPr>
            <p:nvPr/>
          </p:nvCxnSpPr>
          <p:spPr>
            <a:xfrm>
              <a:off x="8112888" y="3594611"/>
              <a:ext cx="0" cy="3534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43940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7" name="Text Placeholder 16">
            <a:extLst>
              <a:ext uri="{FF2B5EF4-FFF2-40B4-BE49-F238E27FC236}">
                <a16:creationId xmlns:a16="http://schemas.microsoft.com/office/drawing/2014/main" id="{81BB94AD-AF42-42A2-9CB2-BAB76AF3D71D}"/>
              </a:ext>
            </a:extLst>
          </p:cNvPr>
          <p:cNvSpPr>
            <a:spLocks noGrp="1"/>
          </p:cNvSpPr>
          <p:nvPr>
            <p:ph type="body" sz="quarter" idx="13"/>
          </p:nvPr>
        </p:nvSpPr>
        <p:spPr/>
        <p:txBody>
          <a:bodyPr>
            <a:normAutofit lnSpcReduction="10000"/>
          </a:bodyPr>
          <a:lstStyle/>
          <a:p>
            <a:r>
              <a:rPr lang="en-US" dirty="0"/>
              <a:t>Enterprise Integration Patterns</a:t>
            </a:r>
          </a:p>
        </p:txBody>
      </p:sp>
      <p:sp>
        <p:nvSpPr>
          <p:cNvPr id="8" name="Title 7">
            <a:extLst>
              <a:ext uri="{FF2B5EF4-FFF2-40B4-BE49-F238E27FC236}">
                <a16:creationId xmlns:a16="http://schemas.microsoft.com/office/drawing/2014/main" id="{3D9B8800-6C31-439B-89D1-D8EF5F047EAA}"/>
              </a:ext>
            </a:extLst>
          </p:cNvPr>
          <p:cNvSpPr>
            <a:spLocks noGrp="1"/>
          </p:cNvSpPr>
          <p:nvPr>
            <p:ph type="title"/>
          </p:nvPr>
        </p:nvSpPr>
        <p:spPr/>
        <p:txBody>
          <a:bodyPr/>
          <a:lstStyle/>
          <a:p>
            <a:r>
              <a:rPr lang="en-US" dirty="0"/>
              <a:t>SLIMS GATE – Java API</a:t>
            </a:r>
          </a:p>
        </p:txBody>
      </p:sp>
      <p:sp>
        <p:nvSpPr>
          <p:cNvPr id="16" name="Content Placeholder 15">
            <a:extLst>
              <a:ext uri="{FF2B5EF4-FFF2-40B4-BE49-F238E27FC236}">
                <a16:creationId xmlns:a16="http://schemas.microsoft.com/office/drawing/2014/main" id="{281C8747-2A9E-4213-8FB1-CFD829FD2A65}"/>
              </a:ext>
            </a:extLst>
          </p:cNvPr>
          <p:cNvSpPr>
            <a:spLocks noGrp="1"/>
          </p:cNvSpPr>
          <p:nvPr>
            <p:ph sz="half" idx="1"/>
          </p:nvPr>
        </p:nvSpPr>
        <p:spPr/>
        <p:txBody>
          <a:bodyPr>
            <a:normAutofit lnSpcReduction="10000"/>
          </a:bodyPr>
          <a:lstStyle/>
          <a:p>
            <a:pPr lvl="0"/>
            <a:r>
              <a:rPr lang="en-US" dirty="0">
                <a:sym typeface="Open Sans"/>
              </a:rPr>
              <a:t>Relies heavily on Apache Camel.</a:t>
            </a:r>
            <a:endParaRPr lang="en-CH" dirty="0">
              <a:sym typeface="Open Sans"/>
            </a:endParaRPr>
          </a:p>
          <a:p>
            <a:pPr lvl="0"/>
            <a:r>
              <a:rPr lang="en-US" dirty="0">
                <a:sym typeface="Open Sans"/>
              </a:rPr>
              <a:t>Supports a great variety of transports and APIs:</a:t>
            </a:r>
          </a:p>
          <a:p>
            <a:pPr marL="342900" lvl="0" indent="-342900">
              <a:buFont typeface="Arial" panose="020B0604020202020204" pitchFamily="34" charset="0"/>
              <a:buChar char="•"/>
            </a:pPr>
            <a:r>
              <a:rPr lang="en-US" sz="2100" dirty="0">
                <a:sym typeface="Open Sans"/>
              </a:rPr>
              <a:t>Files</a:t>
            </a:r>
            <a:endParaRPr lang="en-CH" sz="2100" dirty="0">
              <a:sym typeface="Open Sans"/>
            </a:endParaRPr>
          </a:p>
          <a:p>
            <a:pPr marL="342900" lvl="0" indent="-342900">
              <a:buFont typeface="Arial" panose="020B0604020202020204" pitchFamily="34" charset="0"/>
              <a:buChar char="•"/>
            </a:pPr>
            <a:r>
              <a:rPr lang="en-US" dirty="0">
                <a:sym typeface="Open Sans"/>
              </a:rPr>
              <a:t>FTP </a:t>
            </a:r>
            <a:endParaRPr lang="en-CH" dirty="0">
              <a:sym typeface="Open Sans"/>
            </a:endParaRPr>
          </a:p>
          <a:p>
            <a:pPr marL="342900" lvl="0" indent="-342900">
              <a:buFont typeface="Arial" panose="020B0604020202020204" pitchFamily="34" charset="0"/>
              <a:buChar char="•"/>
            </a:pPr>
            <a:r>
              <a:rPr lang="en-US" dirty="0">
                <a:sym typeface="Open Sans"/>
              </a:rPr>
              <a:t>E-mail …</a:t>
            </a:r>
            <a:endParaRPr lang="en-CH" dirty="0">
              <a:sym typeface="Open Sans"/>
            </a:endParaRPr>
          </a:p>
          <a:p>
            <a:pPr marL="342900" indent="-342900">
              <a:buFont typeface="Arial" panose="020B0604020202020204" pitchFamily="34" charset="0"/>
              <a:buChar char="•"/>
            </a:pPr>
            <a:r>
              <a:rPr lang="en-US" dirty="0">
                <a:sym typeface="Open Sans"/>
              </a:rPr>
              <a:t>Easy to use Domain Specific Language</a:t>
            </a:r>
            <a:endParaRPr lang="en-CH" dirty="0">
              <a:sym typeface="Open Sans"/>
            </a:endParaRPr>
          </a:p>
          <a:p>
            <a:pPr lvl="0"/>
            <a:r>
              <a:rPr lang="en-US" dirty="0">
                <a:sym typeface="Open Sans"/>
                <a:hlinkClick r:id="rId3"/>
              </a:rPr>
              <a:t>https://camel.apache.org/components/4.x/index.html</a:t>
            </a:r>
            <a:r>
              <a:rPr lang="en-US" dirty="0">
                <a:sym typeface="Open Sans"/>
              </a:rPr>
              <a:t> </a:t>
            </a:r>
            <a:endParaRPr lang="en-CH" dirty="0">
              <a:sym typeface="Open Sans"/>
            </a:endParaRPr>
          </a:p>
          <a:p>
            <a:pPr lvl="0"/>
            <a:r>
              <a:rPr lang="en-US" dirty="0">
                <a:sym typeface="Open Sans"/>
              </a:rPr>
              <a:t>Dependency injection via Spring:  </a:t>
            </a:r>
            <a:r>
              <a:rPr lang="en-US" dirty="0">
                <a:sym typeface="Open Sans"/>
                <a:hlinkClick r:id="rId4"/>
              </a:rPr>
              <a:t>https://spring.io/</a:t>
            </a:r>
            <a:endParaRPr lang="en-US" dirty="0">
              <a:sym typeface="Open Sans"/>
            </a:endParaRPr>
          </a:p>
          <a:p>
            <a:endParaRPr lang="en-US" dirty="0"/>
          </a:p>
        </p:txBody>
      </p:sp>
      <p:grpSp>
        <p:nvGrpSpPr>
          <p:cNvPr id="66" name="Group 65">
            <a:extLst>
              <a:ext uri="{FF2B5EF4-FFF2-40B4-BE49-F238E27FC236}">
                <a16:creationId xmlns:a16="http://schemas.microsoft.com/office/drawing/2014/main" id="{4467C39F-1AF0-5968-622A-8FFFA514F067}"/>
              </a:ext>
            </a:extLst>
          </p:cNvPr>
          <p:cNvGrpSpPr/>
          <p:nvPr/>
        </p:nvGrpSpPr>
        <p:grpSpPr>
          <a:xfrm>
            <a:off x="4197916" y="949013"/>
            <a:ext cx="7387798" cy="4887307"/>
            <a:chOff x="4197916" y="949013"/>
            <a:chExt cx="7387798" cy="4887307"/>
          </a:xfrm>
        </p:grpSpPr>
        <p:sp>
          <p:nvSpPr>
            <p:cNvPr id="2" name="Rectangle: Rounded Corners 1">
              <a:extLst>
                <a:ext uri="{FF2B5EF4-FFF2-40B4-BE49-F238E27FC236}">
                  <a16:creationId xmlns:a16="http://schemas.microsoft.com/office/drawing/2014/main" id="{FE89D957-1C69-3C1B-26E2-03EFFFEE93B9}"/>
                </a:ext>
              </a:extLst>
            </p:cNvPr>
            <p:cNvSpPr/>
            <p:nvPr/>
          </p:nvSpPr>
          <p:spPr>
            <a:xfrm>
              <a:off x="6760055" y="4142755"/>
              <a:ext cx="2203129" cy="526300"/>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descr="Folder outline">
              <a:extLst>
                <a:ext uri="{FF2B5EF4-FFF2-40B4-BE49-F238E27FC236}">
                  <a16:creationId xmlns:a16="http://schemas.microsoft.com/office/drawing/2014/main" id="{D87F4845-FE8F-543D-7753-DC40642810E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32757" y="5011824"/>
              <a:ext cx="786180" cy="824089"/>
            </a:xfrm>
            <a:prstGeom prst="rect">
              <a:avLst/>
            </a:prstGeom>
          </p:spPr>
        </p:pic>
        <p:pic>
          <p:nvPicPr>
            <p:cNvPr id="4" name="Graphic 3" descr="Database outline">
              <a:extLst>
                <a:ext uri="{FF2B5EF4-FFF2-40B4-BE49-F238E27FC236}">
                  <a16:creationId xmlns:a16="http://schemas.microsoft.com/office/drawing/2014/main" id="{1F64C721-A775-A946-C1BA-F005028E7B4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67372" y="5069170"/>
              <a:ext cx="786180" cy="767150"/>
            </a:xfrm>
            <a:prstGeom prst="rect">
              <a:avLst/>
            </a:prstGeom>
          </p:spPr>
        </p:pic>
        <p:sp>
          <p:nvSpPr>
            <p:cNvPr id="5" name="Rectangle: Rounded Corners 4">
              <a:extLst>
                <a:ext uri="{FF2B5EF4-FFF2-40B4-BE49-F238E27FC236}">
                  <a16:creationId xmlns:a16="http://schemas.microsoft.com/office/drawing/2014/main" id="{BA7AF952-60B9-3C57-E2B9-19B731475FDC}"/>
                </a:ext>
              </a:extLst>
            </p:cNvPr>
            <p:cNvSpPr/>
            <p:nvPr/>
          </p:nvSpPr>
          <p:spPr>
            <a:xfrm>
              <a:off x="4197916" y="2651894"/>
              <a:ext cx="7342643" cy="1196488"/>
            </a:xfrm>
            <a:prstGeom prst="roundRect">
              <a:avLst>
                <a:gd name="adj" fmla="val 29740"/>
              </a:avLst>
            </a:prstGeom>
            <a:noFill/>
            <a:ln w="19050">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pic>
          <p:nvPicPr>
            <p:cNvPr id="6" name="Graphic 5" descr="Gears outline">
              <a:extLst>
                <a:ext uri="{FF2B5EF4-FFF2-40B4-BE49-F238E27FC236}">
                  <a16:creationId xmlns:a16="http://schemas.microsoft.com/office/drawing/2014/main" id="{38EE044C-ACA5-FD53-E50E-5BE62958FCA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443967">
              <a:off x="8971080" y="4159580"/>
              <a:ext cx="487911" cy="476101"/>
            </a:xfrm>
            <a:prstGeom prst="rect">
              <a:avLst/>
            </a:prstGeom>
          </p:spPr>
        </p:pic>
        <p:pic>
          <p:nvPicPr>
            <p:cNvPr id="7" name="Graphic 6" descr="Gears outline">
              <a:extLst>
                <a:ext uri="{FF2B5EF4-FFF2-40B4-BE49-F238E27FC236}">
                  <a16:creationId xmlns:a16="http://schemas.microsoft.com/office/drawing/2014/main" id="{E34942C6-8494-EE94-A9FC-E9A466DC881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7144992">
              <a:off x="6278774" y="4109240"/>
              <a:ext cx="476101" cy="487911"/>
            </a:xfrm>
            <a:prstGeom prst="rect">
              <a:avLst/>
            </a:prstGeom>
          </p:spPr>
        </p:pic>
        <p:sp>
          <p:nvSpPr>
            <p:cNvPr id="9" name="TextBox 8">
              <a:extLst>
                <a:ext uri="{FF2B5EF4-FFF2-40B4-BE49-F238E27FC236}">
                  <a16:creationId xmlns:a16="http://schemas.microsoft.com/office/drawing/2014/main" id="{BBAAA9BC-7289-D074-3293-CCDEDDDEDFFC}"/>
                </a:ext>
              </a:extLst>
            </p:cNvPr>
            <p:cNvSpPr txBox="1"/>
            <p:nvPr/>
          </p:nvSpPr>
          <p:spPr>
            <a:xfrm>
              <a:off x="5550805" y="5216001"/>
              <a:ext cx="678363" cy="361499"/>
            </a:xfrm>
            <a:prstGeom prst="rect">
              <a:avLst/>
            </a:prstGeom>
            <a:noFill/>
          </p:spPr>
          <p:txBody>
            <a:bodyPr wrap="none" rtlCol="0">
              <a:spAutoFit/>
            </a:bodyPr>
            <a:lstStyle/>
            <a:p>
              <a:pPr defTabSz="274320"/>
              <a:endParaRPr lang="en-US" sz="1100" dirty="0"/>
            </a:p>
            <a:p>
              <a:pPr defTabSz="274320"/>
              <a:r>
                <a:rPr lang="en-US" sz="1100" dirty="0"/>
                <a:t>Database</a:t>
              </a:r>
            </a:p>
          </p:txBody>
        </p:sp>
        <p:sp>
          <p:nvSpPr>
            <p:cNvPr id="10" name="TextBox 9">
              <a:extLst>
                <a:ext uri="{FF2B5EF4-FFF2-40B4-BE49-F238E27FC236}">
                  <a16:creationId xmlns:a16="http://schemas.microsoft.com/office/drawing/2014/main" id="{EAEF1D43-B11B-1E15-A5A2-08F47C8158A1}"/>
                </a:ext>
              </a:extLst>
            </p:cNvPr>
            <p:cNvSpPr txBox="1"/>
            <p:nvPr/>
          </p:nvSpPr>
          <p:spPr>
            <a:xfrm>
              <a:off x="8787715" y="2620900"/>
              <a:ext cx="1290738" cy="261610"/>
            </a:xfrm>
            <a:prstGeom prst="rect">
              <a:avLst/>
            </a:prstGeom>
            <a:noFill/>
            <a:ln>
              <a:noFill/>
            </a:ln>
          </p:spPr>
          <p:txBody>
            <a:bodyPr wrap="none" rtlCol="0">
              <a:spAutoFit/>
            </a:bodyPr>
            <a:lstStyle/>
            <a:p>
              <a:pPr defTabSz="274320"/>
              <a:r>
                <a:rPr lang="en-US" sz="1100" dirty="0" err="1">
                  <a:solidFill>
                    <a:schemeClr val="accent4"/>
                  </a:solidFill>
                </a:rPr>
                <a:t>Hazelcast</a:t>
              </a:r>
              <a:r>
                <a:rPr lang="en-US" sz="1100" dirty="0">
                  <a:solidFill>
                    <a:schemeClr val="accent4"/>
                  </a:solidFill>
                </a:rPr>
                <a:t> Cluster</a:t>
              </a:r>
            </a:p>
          </p:txBody>
        </p:sp>
        <p:sp>
          <p:nvSpPr>
            <p:cNvPr id="11" name="TextBox 10">
              <a:extLst>
                <a:ext uri="{FF2B5EF4-FFF2-40B4-BE49-F238E27FC236}">
                  <a16:creationId xmlns:a16="http://schemas.microsoft.com/office/drawing/2014/main" id="{025258A0-4CB8-01AF-782C-E093B0D75B5A}"/>
                </a:ext>
              </a:extLst>
            </p:cNvPr>
            <p:cNvSpPr txBox="1"/>
            <p:nvPr/>
          </p:nvSpPr>
          <p:spPr>
            <a:xfrm>
              <a:off x="10772285" y="5314128"/>
              <a:ext cx="813429" cy="219482"/>
            </a:xfrm>
            <a:prstGeom prst="rect">
              <a:avLst/>
            </a:prstGeom>
            <a:noFill/>
          </p:spPr>
          <p:txBody>
            <a:bodyPr wrap="none" rtlCol="0">
              <a:spAutoFit/>
            </a:bodyPr>
            <a:lstStyle/>
            <a:p>
              <a:pPr defTabSz="274320"/>
              <a:r>
                <a:rPr lang="en-US" sz="1100" dirty="0"/>
                <a:t>File Storage</a:t>
              </a:r>
            </a:p>
          </p:txBody>
        </p:sp>
        <p:sp>
          <p:nvSpPr>
            <p:cNvPr id="12" name="TextBox 11">
              <a:extLst>
                <a:ext uri="{FF2B5EF4-FFF2-40B4-BE49-F238E27FC236}">
                  <a16:creationId xmlns:a16="http://schemas.microsoft.com/office/drawing/2014/main" id="{E7BF2AD4-A985-14A4-F84F-8EBDAF20F03B}"/>
                </a:ext>
              </a:extLst>
            </p:cNvPr>
            <p:cNvSpPr txBox="1"/>
            <p:nvPr/>
          </p:nvSpPr>
          <p:spPr>
            <a:xfrm>
              <a:off x="7432757" y="4287890"/>
              <a:ext cx="845127" cy="219482"/>
            </a:xfrm>
            <a:prstGeom prst="rect">
              <a:avLst/>
            </a:prstGeom>
            <a:noFill/>
          </p:spPr>
          <p:txBody>
            <a:bodyPr wrap="none" rtlCol="0">
              <a:spAutoFit/>
            </a:bodyPr>
            <a:lstStyle/>
            <a:p>
              <a:pPr algn="ctr" defTabSz="274320"/>
              <a:r>
                <a:rPr lang="en-US" sz="1100" dirty="0"/>
                <a:t>Platform-API</a:t>
              </a:r>
            </a:p>
          </p:txBody>
        </p:sp>
        <p:cxnSp>
          <p:nvCxnSpPr>
            <p:cNvPr id="13" name="Connector: Elbow 12">
              <a:extLst>
                <a:ext uri="{FF2B5EF4-FFF2-40B4-BE49-F238E27FC236}">
                  <a16:creationId xmlns:a16="http://schemas.microsoft.com/office/drawing/2014/main" id="{A446C007-A4A5-1CA6-0BE3-399E5BC56AF3}"/>
                </a:ext>
              </a:extLst>
            </p:cNvPr>
            <p:cNvCxnSpPr>
              <a:stCxn id="4" idx="0"/>
              <a:endCxn id="3" idx="0"/>
            </p:cNvCxnSpPr>
            <p:nvPr/>
          </p:nvCxnSpPr>
          <p:spPr>
            <a:xfrm rot="5400000" flipH="1" flipV="1">
              <a:off x="7814481" y="2457805"/>
              <a:ext cx="57346" cy="5165386"/>
            </a:xfrm>
            <a:prstGeom prst="bentConnector3">
              <a:avLst>
                <a:gd name="adj1" fmla="val 37222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946E7E4-FAB8-8F62-7A1B-5326B8EC0C7D}"/>
                </a:ext>
              </a:extLst>
            </p:cNvPr>
            <p:cNvCxnSpPr>
              <a:cxnSpLocks/>
              <a:stCxn id="2" idx="2"/>
            </p:cNvCxnSpPr>
            <p:nvPr/>
          </p:nvCxnSpPr>
          <p:spPr>
            <a:xfrm>
              <a:off x="7861620" y="4669055"/>
              <a:ext cx="0" cy="187328"/>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19570F36-F650-35FF-E4C3-8A0E391B9350}"/>
                </a:ext>
              </a:extLst>
            </p:cNvPr>
            <p:cNvSpPr/>
            <p:nvPr/>
          </p:nvSpPr>
          <p:spPr>
            <a:xfrm>
              <a:off x="8417493" y="2003838"/>
              <a:ext cx="1091382" cy="399619"/>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18" name="TextBox 17">
              <a:extLst>
                <a:ext uri="{FF2B5EF4-FFF2-40B4-BE49-F238E27FC236}">
                  <a16:creationId xmlns:a16="http://schemas.microsoft.com/office/drawing/2014/main" id="{0EEEC158-BF9C-8979-C08D-EE88703BCD39}"/>
                </a:ext>
              </a:extLst>
            </p:cNvPr>
            <p:cNvSpPr txBox="1"/>
            <p:nvPr/>
          </p:nvSpPr>
          <p:spPr>
            <a:xfrm>
              <a:off x="8426633" y="2087021"/>
              <a:ext cx="1082241" cy="261610"/>
            </a:xfrm>
            <a:prstGeom prst="rect">
              <a:avLst/>
            </a:prstGeom>
            <a:noFill/>
          </p:spPr>
          <p:txBody>
            <a:bodyPr wrap="square" rtlCol="0">
              <a:spAutoFit/>
            </a:bodyPr>
            <a:lstStyle/>
            <a:p>
              <a:pPr algn="ctr" defTabSz="274320"/>
              <a:r>
                <a:rPr lang="en-US" sz="1100" dirty="0">
                  <a:solidFill>
                    <a:schemeClr val="tx1">
                      <a:lumMod val="20000"/>
                      <a:lumOff val="80000"/>
                    </a:schemeClr>
                  </a:solidFill>
                </a:rPr>
                <a:t>Python-API</a:t>
              </a:r>
            </a:p>
          </p:txBody>
        </p:sp>
        <p:cxnSp>
          <p:nvCxnSpPr>
            <p:cNvPr id="19" name="Connector: Elbow 18">
              <a:extLst>
                <a:ext uri="{FF2B5EF4-FFF2-40B4-BE49-F238E27FC236}">
                  <a16:creationId xmlns:a16="http://schemas.microsoft.com/office/drawing/2014/main" id="{0BF328AC-FDB8-AABA-2E62-D01B95B1A795}"/>
                </a:ext>
              </a:extLst>
            </p:cNvPr>
            <p:cNvCxnSpPr>
              <a:cxnSpLocks/>
              <a:stCxn id="36" idx="2"/>
              <a:endCxn id="23" idx="2"/>
            </p:cNvCxnSpPr>
            <p:nvPr/>
          </p:nvCxnSpPr>
          <p:spPr>
            <a:xfrm rot="16200000" flipH="1">
              <a:off x="7721795" y="896342"/>
              <a:ext cx="137716" cy="5342728"/>
            </a:xfrm>
            <a:prstGeom prst="bentConnector3">
              <a:avLst>
                <a:gd name="adj1" fmla="val 325917"/>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9236A92-E0C8-0F88-73F5-7DE0A9AC4508}"/>
                </a:ext>
              </a:extLst>
            </p:cNvPr>
            <p:cNvCxnSpPr>
              <a:cxnSpLocks/>
              <a:endCxn id="2" idx="0"/>
            </p:cNvCxnSpPr>
            <p:nvPr/>
          </p:nvCxnSpPr>
          <p:spPr>
            <a:xfrm>
              <a:off x="7861620" y="3948063"/>
              <a:ext cx="0" cy="194692"/>
            </a:xfrm>
            <a:prstGeom prst="straightConnector1">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9D9BBE93-791A-C380-B1CF-6CE579E88074}"/>
                </a:ext>
              </a:extLst>
            </p:cNvPr>
            <p:cNvSpPr/>
            <p:nvPr/>
          </p:nvSpPr>
          <p:spPr>
            <a:xfrm>
              <a:off x="9832895" y="2860491"/>
              <a:ext cx="1490086" cy="633345"/>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2" name="Rectangle: Rounded Corners 21">
              <a:extLst>
                <a:ext uri="{FF2B5EF4-FFF2-40B4-BE49-F238E27FC236}">
                  <a16:creationId xmlns:a16="http://schemas.microsoft.com/office/drawing/2014/main" id="{4BD2865B-0F5D-423C-0B4A-4BE0D0AEFCC3}"/>
                </a:ext>
              </a:extLst>
            </p:cNvPr>
            <p:cNvSpPr/>
            <p:nvPr/>
          </p:nvSpPr>
          <p:spPr>
            <a:xfrm>
              <a:off x="9774935" y="2931855"/>
              <a:ext cx="1490086" cy="633345"/>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3" name="Rectangle: Rounded Corners 22">
              <a:extLst>
                <a:ext uri="{FF2B5EF4-FFF2-40B4-BE49-F238E27FC236}">
                  <a16:creationId xmlns:a16="http://schemas.microsoft.com/office/drawing/2014/main" id="{B9EC939B-3517-3793-44E6-F6C161342D5D}"/>
                </a:ext>
              </a:extLst>
            </p:cNvPr>
            <p:cNvSpPr/>
            <p:nvPr/>
          </p:nvSpPr>
          <p:spPr>
            <a:xfrm>
              <a:off x="9716975" y="3003219"/>
              <a:ext cx="1490086" cy="633345"/>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5" name="TextBox 24">
              <a:extLst>
                <a:ext uri="{FF2B5EF4-FFF2-40B4-BE49-F238E27FC236}">
                  <a16:creationId xmlns:a16="http://schemas.microsoft.com/office/drawing/2014/main" id="{F82771C9-62DF-324C-9EAE-5DE4F84AF93F}"/>
                </a:ext>
              </a:extLst>
            </p:cNvPr>
            <p:cNvSpPr txBox="1"/>
            <p:nvPr/>
          </p:nvSpPr>
          <p:spPr>
            <a:xfrm>
              <a:off x="9658235" y="3114516"/>
              <a:ext cx="1576072" cy="400110"/>
            </a:xfrm>
            <a:prstGeom prst="rect">
              <a:avLst/>
            </a:prstGeom>
            <a:noFill/>
          </p:spPr>
          <p:txBody>
            <a:bodyPr wrap="none" rtlCol="0">
              <a:spAutoFit/>
            </a:bodyPr>
            <a:lstStyle/>
            <a:p>
              <a:pPr algn="ctr" defTabSz="274320"/>
              <a:r>
                <a:rPr lang="en-US" sz="1100" dirty="0"/>
                <a:t>SLIMS GATE Plugins</a:t>
              </a:r>
            </a:p>
            <a:p>
              <a:pPr algn="ctr" defTabSz="274320"/>
              <a:r>
                <a:rPr lang="en-US" sz="900" dirty="0"/>
                <a:t>(Apache, Camel, Java API)</a:t>
              </a:r>
            </a:p>
          </p:txBody>
        </p:sp>
        <p:sp>
          <p:nvSpPr>
            <p:cNvPr id="26" name="Rectangle: Rounded Corners 25">
              <a:extLst>
                <a:ext uri="{FF2B5EF4-FFF2-40B4-BE49-F238E27FC236}">
                  <a16:creationId xmlns:a16="http://schemas.microsoft.com/office/drawing/2014/main" id="{F4ED362A-55B5-27D4-D2BD-C3F0E1614852}"/>
                </a:ext>
              </a:extLst>
            </p:cNvPr>
            <p:cNvSpPr/>
            <p:nvPr/>
          </p:nvSpPr>
          <p:spPr>
            <a:xfrm>
              <a:off x="9359748" y="949013"/>
              <a:ext cx="2203129" cy="820010"/>
            </a:xfrm>
            <a:prstGeom prst="roundRect">
              <a:avLst>
                <a:gd name="adj" fmla="val 18236"/>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7" name="TextBox 26">
              <a:extLst>
                <a:ext uri="{FF2B5EF4-FFF2-40B4-BE49-F238E27FC236}">
                  <a16:creationId xmlns:a16="http://schemas.microsoft.com/office/drawing/2014/main" id="{F050E41B-80F5-6600-7AFA-C878AEF7AB6B}"/>
                </a:ext>
              </a:extLst>
            </p:cNvPr>
            <p:cNvSpPr txBox="1"/>
            <p:nvPr/>
          </p:nvSpPr>
          <p:spPr>
            <a:xfrm>
              <a:off x="9805964" y="1017622"/>
              <a:ext cx="1189749" cy="307777"/>
            </a:xfrm>
            <a:prstGeom prst="rect">
              <a:avLst/>
            </a:prstGeom>
            <a:noFill/>
          </p:spPr>
          <p:txBody>
            <a:bodyPr wrap="none" rtlCol="0">
              <a:spAutoFit/>
            </a:bodyPr>
            <a:lstStyle/>
            <a:p>
              <a:pPr algn="ctr" defTabSz="274320"/>
              <a:r>
                <a:rPr lang="en-US" sz="1400" dirty="0"/>
                <a:t>Lab Network</a:t>
              </a:r>
            </a:p>
          </p:txBody>
        </p:sp>
        <p:sp>
          <p:nvSpPr>
            <p:cNvPr id="28" name="TextBox 27">
              <a:extLst>
                <a:ext uri="{FF2B5EF4-FFF2-40B4-BE49-F238E27FC236}">
                  <a16:creationId xmlns:a16="http://schemas.microsoft.com/office/drawing/2014/main" id="{2CC87F40-19F8-A4D2-EC1E-0205F94CDC85}"/>
                </a:ext>
              </a:extLst>
            </p:cNvPr>
            <p:cNvSpPr txBox="1"/>
            <p:nvPr/>
          </p:nvSpPr>
          <p:spPr>
            <a:xfrm>
              <a:off x="9728526" y="1197683"/>
              <a:ext cx="1040670" cy="592470"/>
            </a:xfrm>
            <a:prstGeom prst="rect">
              <a:avLst/>
            </a:prstGeom>
            <a:noFill/>
          </p:spPr>
          <p:txBody>
            <a:bodyPr wrap="none" rtlCol="0">
              <a:spAutoFit/>
            </a:bodyPr>
            <a:lstStyle/>
            <a:p>
              <a:pPr marL="171450" indent="-171450" defTabSz="274320">
                <a:buFontTx/>
                <a:buChar char="-"/>
              </a:pPr>
              <a:r>
                <a:rPr lang="en-US" sz="1100" dirty="0"/>
                <a:t>Printers</a:t>
              </a:r>
            </a:p>
            <a:p>
              <a:pPr marL="171450" indent="-171450" defTabSz="274320">
                <a:buFontTx/>
                <a:buChar char="-"/>
              </a:pPr>
              <a:r>
                <a:rPr lang="en-US" sz="1000" dirty="0"/>
                <a:t>HL7</a:t>
              </a:r>
              <a:endParaRPr lang="en-US" sz="1100" dirty="0"/>
            </a:p>
            <a:p>
              <a:pPr marL="171450" indent="-171450" defTabSz="274320">
                <a:buFontTx/>
                <a:buChar char="-"/>
              </a:pPr>
              <a:r>
                <a:rPr lang="en-US" sz="1100" dirty="0"/>
                <a:t>Sequencer</a:t>
              </a:r>
            </a:p>
          </p:txBody>
        </p:sp>
        <p:sp>
          <p:nvSpPr>
            <p:cNvPr id="29" name="TextBox 28">
              <a:extLst>
                <a:ext uri="{FF2B5EF4-FFF2-40B4-BE49-F238E27FC236}">
                  <a16:creationId xmlns:a16="http://schemas.microsoft.com/office/drawing/2014/main" id="{108CAF7C-D0D3-C75C-F9E9-F71D67FBDFB0}"/>
                </a:ext>
              </a:extLst>
            </p:cNvPr>
            <p:cNvSpPr txBox="1"/>
            <p:nvPr/>
          </p:nvSpPr>
          <p:spPr>
            <a:xfrm>
              <a:off x="10549771" y="1197683"/>
              <a:ext cx="599844" cy="569387"/>
            </a:xfrm>
            <a:prstGeom prst="rect">
              <a:avLst/>
            </a:prstGeom>
            <a:noFill/>
          </p:spPr>
          <p:txBody>
            <a:bodyPr wrap="none" rtlCol="0">
              <a:spAutoFit/>
            </a:bodyPr>
            <a:lstStyle/>
            <a:p>
              <a:pPr marL="171450" indent="-171450" defTabSz="274320">
                <a:buFontTx/>
                <a:buChar char="-"/>
              </a:pPr>
              <a:r>
                <a:rPr lang="en-US" sz="1000" dirty="0"/>
                <a:t>Mail</a:t>
              </a:r>
            </a:p>
            <a:p>
              <a:pPr marL="171450" indent="-171450" defTabSz="274320">
                <a:buFontTx/>
                <a:buChar char="-"/>
              </a:pPr>
              <a:r>
                <a:rPr lang="en-US" sz="1000" dirty="0"/>
                <a:t>FTP</a:t>
              </a:r>
            </a:p>
            <a:p>
              <a:pPr defTabSz="274320"/>
              <a:endParaRPr lang="en-US" sz="1100" dirty="0"/>
            </a:p>
          </p:txBody>
        </p:sp>
        <p:cxnSp>
          <p:nvCxnSpPr>
            <p:cNvPr id="30" name="Straight Arrow Connector 29">
              <a:extLst>
                <a:ext uri="{FF2B5EF4-FFF2-40B4-BE49-F238E27FC236}">
                  <a16:creationId xmlns:a16="http://schemas.microsoft.com/office/drawing/2014/main" id="{A423A0B1-710F-F4BB-E2C9-1097B140BB4E}"/>
                </a:ext>
              </a:extLst>
            </p:cNvPr>
            <p:cNvCxnSpPr>
              <a:cxnSpLocks/>
              <a:stCxn id="26" idx="2"/>
            </p:cNvCxnSpPr>
            <p:nvPr/>
          </p:nvCxnSpPr>
          <p:spPr>
            <a:xfrm>
              <a:off x="10461313" y="1769023"/>
              <a:ext cx="15290" cy="1204113"/>
            </a:xfrm>
            <a:prstGeom prst="straightConnector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Rectangle: Rounded Corners 30">
              <a:extLst>
                <a:ext uri="{FF2B5EF4-FFF2-40B4-BE49-F238E27FC236}">
                  <a16:creationId xmlns:a16="http://schemas.microsoft.com/office/drawing/2014/main" id="{581C1186-2C55-46D8-150D-73FE63BC9C6F}"/>
                </a:ext>
              </a:extLst>
            </p:cNvPr>
            <p:cNvSpPr/>
            <p:nvPr/>
          </p:nvSpPr>
          <p:spPr>
            <a:xfrm>
              <a:off x="5959977" y="3003219"/>
              <a:ext cx="1083224" cy="477652"/>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32" name="TextBox 31">
              <a:extLst>
                <a:ext uri="{FF2B5EF4-FFF2-40B4-BE49-F238E27FC236}">
                  <a16:creationId xmlns:a16="http://schemas.microsoft.com/office/drawing/2014/main" id="{8A79E9F1-749C-6D23-7F46-28C8EAF7E0EA}"/>
                </a:ext>
              </a:extLst>
            </p:cNvPr>
            <p:cNvSpPr txBox="1"/>
            <p:nvPr/>
          </p:nvSpPr>
          <p:spPr>
            <a:xfrm>
              <a:off x="6132882" y="3125174"/>
              <a:ext cx="756938" cy="261610"/>
            </a:xfrm>
            <a:prstGeom prst="rect">
              <a:avLst/>
            </a:prstGeom>
            <a:noFill/>
          </p:spPr>
          <p:txBody>
            <a:bodyPr wrap="none" rtlCol="0">
              <a:spAutoFit/>
            </a:bodyPr>
            <a:lstStyle/>
            <a:p>
              <a:pPr algn="ctr" defTabSz="274320"/>
              <a:r>
                <a:rPr lang="en-US" sz="1100" dirty="0">
                  <a:solidFill>
                    <a:schemeClr val="tx1">
                      <a:lumMod val="20000"/>
                      <a:lumOff val="80000"/>
                    </a:schemeClr>
                  </a:solidFill>
                </a:rPr>
                <a:t>SLIMS-R</a:t>
              </a:r>
            </a:p>
          </p:txBody>
        </p:sp>
        <p:sp>
          <p:nvSpPr>
            <p:cNvPr id="33" name="Rectangle: Rounded Corners 32">
              <a:extLst>
                <a:ext uri="{FF2B5EF4-FFF2-40B4-BE49-F238E27FC236}">
                  <a16:creationId xmlns:a16="http://schemas.microsoft.com/office/drawing/2014/main" id="{A74F0986-5E19-A620-D5C9-CD0529C3634D}"/>
                </a:ext>
              </a:extLst>
            </p:cNvPr>
            <p:cNvSpPr/>
            <p:nvPr/>
          </p:nvSpPr>
          <p:spPr>
            <a:xfrm>
              <a:off x="6232184" y="2003839"/>
              <a:ext cx="1134313" cy="399619"/>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34" name="TextBox 33">
              <a:extLst>
                <a:ext uri="{FF2B5EF4-FFF2-40B4-BE49-F238E27FC236}">
                  <a16:creationId xmlns:a16="http://schemas.microsoft.com/office/drawing/2014/main" id="{6B052B30-79A2-6575-2ACD-220497772F93}"/>
                </a:ext>
              </a:extLst>
            </p:cNvPr>
            <p:cNvSpPr txBox="1"/>
            <p:nvPr/>
          </p:nvSpPr>
          <p:spPr>
            <a:xfrm>
              <a:off x="6232183" y="2035240"/>
              <a:ext cx="1127079" cy="261610"/>
            </a:xfrm>
            <a:prstGeom prst="rect">
              <a:avLst/>
            </a:prstGeom>
            <a:noFill/>
          </p:spPr>
          <p:txBody>
            <a:bodyPr wrap="square" rtlCol="0">
              <a:spAutoFit/>
            </a:bodyPr>
            <a:lstStyle/>
            <a:p>
              <a:pPr algn="ctr" defTabSz="274320"/>
              <a:r>
                <a:rPr lang="en-US" sz="1100" dirty="0">
                  <a:solidFill>
                    <a:schemeClr val="tx1">
                      <a:lumMod val="20000"/>
                      <a:lumOff val="80000"/>
                    </a:schemeClr>
                  </a:solidFill>
                </a:rPr>
                <a:t>Bench UI</a:t>
              </a:r>
            </a:p>
          </p:txBody>
        </p:sp>
        <p:sp>
          <p:nvSpPr>
            <p:cNvPr id="35" name="TextBox 34">
              <a:extLst>
                <a:ext uri="{FF2B5EF4-FFF2-40B4-BE49-F238E27FC236}">
                  <a16:creationId xmlns:a16="http://schemas.microsoft.com/office/drawing/2014/main" id="{9B128ABE-003D-41BC-970F-D573B5B6AE6B}"/>
                </a:ext>
              </a:extLst>
            </p:cNvPr>
            <p:cNvSpPr txBox="1"/>
            <p:nvPr/>
          </p:nvSpPr>
          <p:spPr>
            <a:xfrm>
              <a:off x="6229169" y="2194723"/>
              <a:ext cx="1137328" cy="230832"/>
            </a:xfrm>
            <a:prstGeom prst="rect">
              <a:avLst/>
            </a:prstGeom>
            <a:noFill/>
          </p:spPr>
          <p:txBody>
            <a:bodyPr wrap="square">
              <a:spAutoFit/>
            </a:bodyPr>
            <a:lstStyle/>
            <a:p>
              <a:pPr algn="ctr" defTabSz="274320"/>
              <a:r>
                <a:rPr lang="en-US" sz="900" dirty="0">
                  <a:solidFill>
                    <a:schemeClr val="tx1">
                      <a:lumMod val="20000"/>
                      <a:lumOff val="80000"/>
                    </a:schemeClr>
                  </a:solidFill>
                </a:rPr>
                <a:t>Frontend</a:t>
              </a:r>
            </a:p>
          </p:txBody>
        </p:sp>
        <p:sp>
          <p:nvSpPr>
            <p:cNvPr id="36" name="Rectangle: Rounded Corners 35">
              <a:extLst>
                <a:ext uri="{FF2B5EF4-FFF2-40B4-BE49-F238E27FC236}">
                  <a16:creationId xmlns:a16="http://schemas.microsoft.com/office/drawing/2014/main" id="{7D3D8B6B-3659-1D38-EFAE-17408A6B1208}"/>
                </a:ext>
              </a:extLst>
            </p:cNvPr>
            <p:cNvSpPr/>
            <p:nvPr/>
          </p:nvSpPr>
          <p:spPr>
            <a:xfrm>
              <a:off x="4471899" y="3021198"/>
              <a:ext cx="1294781" cy="477651"/>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37" name="TextBox 36">
              <a:extLst>
                <a:ext uri="{FF2B5EF4-FFF2-40B4-BE49-F238E27FC236}">
                  <a16:creationId xmlns:a16="http://schemas.microsoft.com/office/drawing/2014/main" id="{2760136E-07A7-37F0-88AE-E8A3E0B42D60}"/>
                </a:ext>
              </a:extLst>
            </p:cNvPr>
            <p:cNvSpPr txBox="1"/>
            <p:nvPr/>
          </p:nvSpPr>
          <p:spPr>
            <a:xfrm>
              <a:off x="4499743" y="3081192"/>
              <a:ext cx="1226619" cy="261610"/>
            </a:xfrm>
            <a:prstGeom prst="rect">
              <a:avLst/>
            </a:prstGeom>
            <a:noFill/>
          </p:spPr>
          <p:txBody>
            <a:bodyPr wrap="none" rtlCol="0">
              <a:spAutoFit/>
            </a:bodyPr>
            <a:lstStyle/>
            <a:p>
              <a:pPr algn="ctr" defTabSz="274320"/>
              <a:r>
                <a:rPr lang="en-US" sz="1100" dirty="0">
                  <a:solidFill>
                    <a:schemeClr val="tx1">
                      <a:lumMod val="20000"/>
                      <a:lumOff val="80000"/>
                    </a:schemeClr>
                  </a:solidFill>
                </a:rPr>
                <a:t>Requester portal</a:t>
              </a:r>
            </a:p>
          </p:txBody>
        </p:sp>
        <p:sp>
          <p:nvSpPr>
            <p:cNvPr id="38" name="TextBox 37">
              <a:extLst>
                <a:ext uri="{FF2B5EF4-FFF2-40B4-BE49-F238E27FC236}">
                  <a16:creationId xmlns:a16="http://schemas.microsoft.com/office/drawing/2014/main" id="{4EB7F76E-DEE7-982A-3824-8D22F0C50E74}"/>
                </a:ext>
              </a:extLst>
            </p:cNvPr>
            <p:cNvSpPr txBox="1"/>
            <p:nvPr/>
          </p:nvSpPr>
          <p:spPr>
            <a:xfrm>
              <a:off x="4613949" y="3249356"/>
              <a:ext cx="1004120" cy="230832"/>
            </a:xfrm>
            <a:prstGeom prst="rect">
              <a:avLst/>
            </a:prstGeom>
            <a:noFill/>
          </p:spPr>
          <p:txBody>
            <a:bodyPr wrap="square">
              <a:spAutoFit/>
            </a:bodyPr>
            <a:lstStyle/>
            <a:p>
              <a:pPr algn="ctr" defTabSz="274320"/>
              <a:r>
                <a:rPr lang="en-US" sz="900" dirty="0">
                  <a:solidFill>
                    <a:schemeClr val="tx1">
                      <a:lumMod val="20000"/>
                      <a:lumOff val="80000"/>
                    </a:schemeClr>
                  </a:solidFill>
                </a:rPr>
                <a:t>Backend</a:t>
              </a:r>
            </a:p>
          </p:txBody>
        </p:sp>
        <p:sp>
          <p:nvSpPr>
            <p:cNvPr id="39" name="Rectangle: Rounded Corners 38">
              <a:extLst>
                <a:ext uri="{FF2B5EF4-FFF2-40B4-BE49-F238E27FC236}">
                  <a16:creationId xmlns:a16="http://schemas.microsoft.com/office/drawing/2014/main" id="{F7199D21-6652-130C-0600-21175980AA40}"/>
                </a:ext>
              </a:extLst>
            </p:cNvPr>
            <p:cNvSpPr/>
            <p:nvPr/>
          </p:nvSpPr>
          <p:spPr>
            <a:xfrm>
              <a:off x="4467789" y="2003838"/>
              <a:ext cx="1290526" cy="399619"/>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40" name="TextBox 39">
              <a:extLst>
                <a:ext uri="{FF2B5EF4-FFF2-40B4-BE49-F238E27FC236}">
                  <a16:creationId xmlns:a16="http://schemas.microsoft.com/office/drawing/2014/main" id="{C100B9D2-D482-14AC-401D-76B15030B27C}"/>
                </a:ext>
              </a:extLst>
            </p:cNvPr>
            <p:cNvSpPr txBox="1"/>
            <p:nvPr/>
          </p:nvSpPr>
          <p:spPr>
            <a:xfrm>
              <a:off x="4499744" y="2029607"/>
              <a:ext cx="1226618" cy="261610"/>
            </a:xfrm>
            <a:prstGeom prst="rect">
              <a:avLst/>
            </a:prstGeom>
            <a:noFill/>
          </p:spPr>
          <p:txBody>
            <a:bodyPr wrap="none" rtlCol="0">
              <a:spAutoFit/>
            </a:bodyPr>
            <a:lstStyle/>
            <a:p>
              <a:pPr algn="ctr" defTabSz="274320"/>
              <a:r>
                <a:rPr lang="en-US" sz="1100" dirty="0">
                  <a:solidFill>
                    <a:schemeClr val="tx1">
                      <a:lumMod val="20000"/>
                      <a:lumOff val="80000"/>
                    </a:schemeClr>
                  </a:solidFill>
                </a:rPr>
                <a:t>Requester portal</a:t>
              </a:r>
            </a:p>
          </p:txBody>
        </p:sp>
        <p:sp>
          <p:nvSpPr>
            <p:cNvPr id="41" name="TextBox 40">
              <a:extLst>
                <a:ext uri="{FF2B5EF4-FFF2-40B4-BE49-F238E27FC236}">
                  <a16:creationId xmlns:a16="http://schemas.microsoft.com/office/drawing/2014/main" id="{3575B9DA-65BD-1C95-B0D3-5DA6E7C71CCF}"/>
                </a:ext>
              </a:extLst>
            </p:cNvPr>
            <p:cNvSpPr txBox="1"/>
            <p:nvPr/>
          </p:nvSpPr>
          <p:spPr>
            <a:xfrm>
              <a:off x="4609372" y="2194722"/>
              <a:ext cx="1000820" cy="230832"/>
            </a:xfrm>
            <a:prstGeom prst="rect">
              <a:avLst/>
            </a:prstGeom>
            <a:noFill/>
          </p:spPr>
          <p:txBody>
            <a:bodyPr wrap="square">
              <a:spAutoFit/>
            </a:bodyPr>
            <a:lstStyle/>
            <a:p>
              <a:pPr algn="ctr" defTabSz="274320"/>
              <a:r>
                <a:rPr lang="en-US" sz="900" dirty="0">
                  <a:solidFill>
                    <a:schemeClr val="tx1">
                      <a:lumMod val="20000"/>
                      <a:lumOff val="80000"/>
                    </a:schemeClr>
                  </a:solidFill>
                </a:rPr>
                <a:t>Frontend</a:t>
              </a:r>
            </a:p>
          </p:txBody>
        </p:sp>
        <p:cxnSp>
          <p:nvCxnSpPr>
            <p:cNvPr id="42" name="Straight Arrow Connector 41">
              <a:extLst>
                <a:ext uri="{FF2B5EF4-FFF2-40B4-BE49-F238E27FC236}">
                  <a16:creationId xmlns:a16="http://schemas.microsoft.com/office/drawing/2014/main" id="{A286DB95-950A-CEC5-8F66-E3723B466FE3}"/>
                </a:ext>
              </a:extLst>
            </p:cNvPr>
            <p:cNvCxnSpPr>
              <a:cxnSpLocks/>
              <a:stCxn id="43" idx="2"/>
              <a:endCxn id="46" idx="0"/>
            </p:cNvCxnSpPr>
            <p:nvPr/>
          </p:nvCxnSpPr>
          <p:spPr>
            <a:xfrm flipH="1">
              <a:off x="8112888" y="1720528"/>
              <a:ext cx="9141" cy="1135351"/>
            </a:xfrm>
            <a:prstGeom prst="straightConnector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Rectangle: Rounded Corners 42">
              <a:extLst>
                <a:ext uri="{FF2B5EF4-FFF2-40B4-BE49-F238E27FC236}">
                  <a16:creationId xmlns:a16="http://schemas.microsoft.com/office/drawing/2014/main" id="{BDF4237B-A48D-8C34-19F5-792EA5D988A9}"/>
                </a:ext>
              </a:extLst>
            </p:cNvPr>
            <p:cNvSpPr/>
            <p:nvPr/>
          </p:nvSpPr>
          <p:spPr>
            <a:xfrm>
              <a:off x="7390699" y="973997"/>
              <a:ext cx="1462660" cy="746532"/>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44" name="Rectangle: Rounded Corners 43">
              <a:extLst>
                <a:ext uri="{FF2B5EF4-FFF2-40B4-BE49-F238E27FC236}">
                  <a16:creationId xmlns:a16="http://schemas.microsoft.com/office/drawing/2014/main" id="{1DC74683-EB97-A787-414A-2E13D9273736}"/>
                </a:ext>
              </a:extLst>
            </p:cNvPr>
            <p:cNvSpPr/>
            <p:nvPr/>
          </p:nvSpPr>
          <p:spPr>
            <a:xfrm>
              <a:off x="7380847" y="1452347"/>
              <a:ext cx="1415711" cy="184912"/>
            </a:xfrm>
            <a:prstGeom prst="roundRect">
              <a:avLst>
                <a:gd name="adj" fmla="val 29740"/>
              </a:avLst>
            </a:prstGeom>
            <a:solidFill>
              <a:schemeClr val="bg1"/>
            </a:solidFill>
            <a:ln w="1270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lumMod val="20000"/>
                    <a:lumOff val="80000"/>
                  </a:schemeClr>
                </a:solidFill>
              </a:endParaRPr>
            </a:p>
          </p:txBody>
        </p:sp>
        <p:sp>
          <p:nvSpPr>
            <p:cNvPr id="45" name="Rectangle: Rounded Corners 44">
              <a:extLst>
                <a:ext uri="{FF2B5EF4-FFF2-40B4-BE49-F238E27FC236}">
                  <a16:creationId xmlns:a16="http://schemas.microsoft.com/office/drawing/2014/main" id="{AD468E43-D226-B636-ECB5-B28202002A4E}"/>
                </a:ext>
              </a:extLst>
            </p:cNvPr>
            <p:cNvSpPr/>
            <p:nvPr/>
          </p:nvSpPr>
          <p:spPr>
            <a:xfrm>
              <a:off x="7340647" y="1406866"/>
              <a:ext cx="1415711" cy="184912"/>
            </a:xfrm>
            <a:prstGeom prst="roundRect">
              <a:avLst>
                <a:gd name="adj" fmla="val 29740"/>
              </a:avLst>
            </a:prstGeom>
            <a:solidFill>
              <a:schemeClr val="bg1"/>
            </a:solidFill>
            <a:ln w="1270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lumMod val="20000"/>
                    <a:lumOff val="80000"/>
                  </a:schemeClr>
                </a:solidFill>
              </a:endParaRPr>
            </a:p>
          </p:txBody>
        </p:sp>
        <p:sp>
          <p:nvSpPr>
            <p:cNvPr id="46" name="Rectangle: Rounded Corners 45">
              <a:extLst>
                <a:ext uri="{FF2B5EF4-FFF2-40B4-BE49-F238E27FC236}">
                  <a16:creationId xmlns:a16="http://schemas.microsoft.com/office/drawing/2014/main" id="{92460D19-E02B-ECDB-24E5-96E2C5BF1F8F}"/>
                </a:ext>
              </a:extLst>
            </p:cNvPr>
            <p:cNvSpPr/>
            <p:nvPr/>
          </p:nvSpPr>
          <p:spPr>
            <a:xfrm>
              <a:off x="7390699" y="2855880"/>
              <a:ext cx="1444377" cy="732338"/>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47" name="TextBox 46">
              <a:extLst>
                <a:ext uri="{FF2B5EF4-FFF2-40B4-BE49-F238E27FC236}">
                  <a16:creationId xmlns:a16="http://schemas.microsoft.com/office/drawing/2014/main" id="{18A62F94-AFDF-7B41-3ABC-FC366FDDBC3D}"/>
                </a:ext>
              </a:extLst>
            </p:cNvPr>
            <p:cNvSpPr txBox="1"/>
            <p:nvPr/>
          </p:nvSpPr>
          <p:spPr>
            <a:xfrm>
              <a:off x="7567930" y="2908899"/>
              <a:ext cx="1061509" cy="261610"/>
            </a:xfrm>
            <a:prstGeom prst="rect">
              <a:avLst/>
            </a:prstGeom>
            <a:noFill/>
          </p:spPr>
          <p:txBody>
            <a:bodyPr wrap="none" rtlCol="0">
              <a:spAutoFit/>
            </a:bodyPr>
            <a:lstStyle/>
            <a:p>
              <a:pPr algn="ctr" defTabSz="274320"/>
              <a:r>
                <a:rPr lang="en-US" sz="1100" dirty="0">
                  <a:solidFill>
                    <a:schemeClr val="tx1">
                      <a:lumMod val="20000"/>
                      <a:lumOff val="80000"/>
                    </a:schemeClr>
                  </a:solidFill>
                </a:rPr>
                <a:t>SLIMS Server</a:t>
              </a:r>
            </a:p>
          </p:txBody>
        </p:sp>
        <p:sp>
          <p:nvSpPr>
            <p:cNvPr id="48" name="TextBox 47">
              <a:extLst>
                <a:ext uri="{FF2B5EF4-FFF2-40B4-BE49-F238E27FC236}">
                  <a16:creationId xmlns:a16="http://schemas.microsoft.com/office/drawing/2014/main" id="{960F75F2-E2AD-FECD-AA22-DF7C77AE1BDA}"/>
                </a:ext>
              </a:extLst>
            </p:cNvPr>
            <p:cNvSpPr txBox="1"/>
            <p:nvPr/>
          </p:nvSpPr>
          <p:spPr>
            <a:xfrm>
              <a:off x="7515225" y="1081872"/>
              <a:ext cx="1086387" cy="261610"/>
            </a:xfrm>
            <a:prstGeom prst="rect">
              <a:avLst/>
            </a:prstGeom>
            <a:noFill/>
          </p:spPr>
          <p:txBody>
            <a:bodyPr wrap="square" rtlCol="0">
              <a:spAutoFit/>
            </a:bodyPr>
            <a:lstStyle/>
            <a:p>
              <a:pPr algn="ctr" defTabSz="274320"/>
              <a:r>
                <a:rPr lang="en-US" sz="1100" dirty="0">
                  <a:solidFill>
                    <a:schemeClr val="tx1">
                      <a:lumMod val="20000"/>
                      <a:lumOff val="80000"/>
                    </a:schemeClr>
                  </a:solidFill>
                </a:rPr>
                <a:t>SLIMS Client</a:t>
              </a:r>
            </a:p>
          </p:txBody>
        </p:sp>
        <p:sp>
          <p:nvSpPr>
            <p:cNvPr id="49" name="TextBox 48">
              <a:extLst>
                <a:ext uri="{FF2B5EF4-FFF2-40B4-BE49-F238E27FC236}">
                  <a16:creationId xmlns:a16="http://schemas.microsoft.com/office/drawing/2014/main" id="{E61DC361-0BB3-AE9B-025F-1485E80BF97B}"/>
                </a:ext>
              </a:extLst>
            </p:cNvPr>
            <p:cNvSpPr txBox="1"/>
            <p:nvPr/>
          </p:nvSpPr>
          <p:spPr>
            <a:xfrm>
              <a:off x="7255226" y="1387574"/>
              <a:ext cx="1586551" cy="215444"/>
            </a:xfrm>
            <a:prstGeom prst="rect">
              <a:avLst/>
            </a:prstGeom>
            <a:noFill/>
            <a:ln>
              <a:noFill/>
            </a:ln>
          </p:spPr>
          <p:txBody>
            <a:bodyPr wrap="square" rtlCol="0">
              <a:spAutoFit/>
            </a:bodyPr>
            <a:lstStyle/>
            <a:p>
              <a:pPr algn="ctr" defTabSz="274320"/>
              <a:r>
                <a:rPr lang="en-US" sz="800" dirty="0">
                  <a:solidFill>
                    <a:schemeClr val="tx1">
                      <a:lumMod val="20000"/>
                      <a:lumOff val="80000"/>
                    </a:schemeClr>
                  </a:solidFill>
                </a:rPr>
                <a:t>SLIMS GUI Plugins (</a:t>
              </a:r>
              <a:r>
                <a:rPr lang="en-US" sz="800" dirty="0" err="1">
                  <a:solidFill>
                    <a:schemeClr val="tx1">
                      <a:lumMod val="20000"/>
                      <a:lumOff val="80000"/>
                    </a:schemeClr>
                  </a:solidFill>
                </a:rPr>
                <a:t>Vaadin</a:t>
              </a:r>
              <a:r>
                <a:rPr lang="en-US" sz="800" dirty="0">
                  <a:solidFill>
                    <a:schemeClr val="tx1">
                      <a:lumMod val="20000"/>
                      <a:lumOff val="80000"/>
                    </a:schemeClr>
                  </a:solidFill>
                </a:rPr>
                <a:t>)</a:t>
              </a:r>
            </a:p>
          </p:txBody>
        </p:sp>
        <p:sp>
          <p:nvSpPr>
            <p:cNvPr id="50" name="Rectangle: Rounded Corners 49">
              <a:extLst>
                <a:ext uri="{FF2B5EF4-FFF2-40B4-BE49-F238E27FC236}">
                  <a16:creationId xmlns:a16="http://schemas.microsoft.com/office/drawing/2014/main" id="{543C6683-C281-5E15-789D-4E0244946707}"/>
                </a:ext>
              </a:extLst>
            </p:cNvPr>
            <p:cNvSpPr/>
            <p:nvPr/>
          </p:nvSpPr>
          <p:spPr>
            <a:xfrm>
              <a:off x="7650791" y="3169916"/>
              <a:ext cx="867179" cy="373846"/>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51" name="TextBox 50">
              <a:extLst>
                <a:ext uri="{FF2B5EF4-FFF2-40B4-BE49-F238E27FC236}">
                  <a16:creationId xmlns:a16="http://schemas.microsoft.com/office/drawing/2014/main" id="{AA3DD5F8-BB5B-F907-D981-B8FE43444784}"/>
                </a:ext>
              </a:extLst>
            </p:cNvPr>
            <p:cNvSpPr txBox="1"/>
            <p:nvPr/>
          </p:nvSpPr>
          <p:spPr>
            <a:xfrm>
              <a:off x="7624729" y="3168794"/>
              <a:ext cx="917114" cy="392415"/>
            </a:xfrm>
            <a:prstGeom prst="rect">
              <a:avLst/>
            </a:prstGeom>
            <a:noFill/>
          </p:spPr>
          <p:txBody>
            <a:bodyPr wrap="square" rtlCol="0">
              <a:spAutoFit/>
            </a:bodyPr>
            <a:lstStyle/>
            <a:p>
              <a:pPr algn="ctr" defTabSz="274320"/>
              <a:r>
                <a:rPr lang="en-US" sz="1050" dirty="0">
                  <a:solidFill>
                    <a:schemeClr val="tx1">
                      <a:lumMod val="20000"/>
                      <a:lumOff val="80000"/>
                    </a:schemeClr>
                  </a:solidFill>
                </a:rPr>
                <a:t>SLIMS Rest</a:t>
              </a:r>
            </a:p>
            <a:p>
              <a:pPr algn="ctr" defTabSz="274320"/>
              <a:r>
                <a:rPr lang="en-US" sz="900" dirty="0">
                  <a:solidFill>
                    <a:schemeClr val="tx1">
                      <a:lumMod val="20000"/>
                      <a:lumOff val="80000"/>
                    </a:schemeClr>
                  </a:solidFill>
                </a:rPr>
                <a:t>(Rest-API)</a:t>
              </a:r>
            </a:p>
          </p:txBody>
        </p:sp>
        <p:cxnSp>
          <p:nvCxnSpPr>
            <p:cNvPr id="52" name="Straight Arrow Connector 51">
              <a:extLst>
                <a:ext uri="{FF2B5EF4-FFF2-40B4-BE49-F238E27FC236}">
                  <a16:creationId xmlns:a16="http://schemas.microsoft.com/office/drawing/2014/main" id="{F7F70E85-FF19-963F-CF6E-07D7E120A597}"/>
                </a:ext>
              </a:extLst>
            </p:cNvPr>
            <p:cNvCxnSpPr>
              <a:cxnSpLocks/>
              <a:stCxn id="15" idx="2"/>
              <a:endCxn id="51" idx="3"/>
            </p:cNvCxnSpPr>
            <p:nvPr/>
          </p:nvCxnSpPr>
          <p:spPr>
            <a:xfrm flipH="1">
              <a:off x="8541843" y="2403457"/>
              <a:ext cx="421341" cy="961545"/>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109">
              <a:extLst>
                <a:ext uri="{FF2B5EF4-FFF2-40B4-BE49-F238E27FC236}">
                  <a16:creationId xmlns:a16="http://schemas.microsoft.com/office/drawing/2014/main" id="{C0DA9065-47B3-D9F6-E33F-DA56D52FC60B}"/>
                </a:ext>
              </a:extLst>
            </p:cNvPr>
            <p:cNvCxnSpPr>
              <a:cxnSpLocks/>
              <a:stCxn id="33" idx="2"/>
              <a:endCxn id="51" idx="1"/>
            </p:cNvCxnSpPr>
            <p:nvPr/>
          </p:nvCxnSpPr>
          <p:spPr>
            <a:xfrm>
              <a:off x="6799341" y="2403458"/>
              <a:ext cx="825388" cy="961544"/>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109">
              <a:extLst>
                <a:ext uri="{FF2B5EF4-FFF2-40B4-BE49-F238E27FC236}">
                  <a16:creationId xmlns:a16="http://schemas.microsoft.com/office/drawing/2014/main" id="{BD3CDC23-D45C-EDA4-9EC9-4E96926F85A7}"/>
                </a:ext>
              </a:extLst>
            </p:cNvPr>
            <p:cNvCxnSpPr>
              <a:cxnSpLocks/>
              <a:stCxn id="39" idx="2"/>
              <a:endCxn id="36" idx="0"/>
            </p:cNvCxnSpPr>
            <p:nvPr/>
          </p:nvCxnSpPr>
          <p:spPr>
            <a:xfrm>
              <a:off x="5113052" y="2403457"/>
              <a:ext cx="6238" cy="617740"/>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E31D30F-E09A-DC65-DF27-D558F19A3502}"/>
                </a:ext>
              </a:extLst>
            </p:cNvPr>
            <p:cNvCxnSpPr>
              <a:cxnSpLocks/>
              <a:stCxn id="31" idx="2"/>
            </p:cNvCxnSpPr>
            <p:nvPr/>
          </p:nvCxnSpPr>
          <p:spPr>
            <a:xfrm>
              <a:off x="6501589" y="3480871"/>
              <a:ext cx="0" cy="4671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DC05EBA-F5E5-0DC9-29F9-87ACF6151BD1}"/>
                </a:ext>
              </a:extLst>
            </p:cNvPr>
            <p:cNvCxnSpPr>
              <a:cxnSpLocks/>
            </p:cNvCxnSpPr>
            <p:nvPr/>
          </p:nvCxnSpPr>
          <p:spPr>
            <a:xfrm>
              <a:off x="8112888" y="3594611"/>
              <a:ext cx="0" cy="3534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34391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7" name="Text Placeholder 16">
            <a:extLst>
              <a:ext uri="{FF2B5EF4-FFF2-40B4-BE49-F238E27FC236}">
                <a16:creationId xmlns:a16="http://schemas.microsoft.com/office/drawing/2014/main" id="{573F9904-0B44-4411-86AE-6914AB454924}"/>
              </a:ext>
            </a:extLst>
          </p:cNvPr>
          <p:cNvSpPr>
            <a:spLocks noGrp="1"/>
          </p:cNvSpPr>
          <p:nvPr>
            <p:ph type="body" sz="quarter" idx="13"/>
          </p:nvPr>
        </p:nvSpPr>
        <p:spPr/>
        <p:txBody>
          <a:bodyPr>
            <a:normAutofit lnSpcReduction="10000"/>
          </a:bodyPr>
          <a:lstStyle/>
          <a:p>
            <a:r>
              <a:rPr lang="en-US" dirty="0"/>
              <a:t>Main Programmable Customization Layer</a:t>
            </a:r>
          </a:p>
        </p:txBody>
      </p:sp>
      <p:sp>
        <p:nvSpPr>
          <p:cNvPr id="8" name="Title 7">
            <a:extLst>
              <a:ext uri="{FF2B5EF4-FFF2-40B4-BE49-F238E27FC236}">
                <a16:creationId xmlns:a16="http://schemas.microsoft.com/office/drawing/2014/main" id="{E02F2A90-FB12-43F8-BDDD-603A56C33471}"/>
              </a:ext>
            </a:extLst>
          </p:cNvPr>
          <p:cNvSpPr>
            <a:spLocks noGrp="1"/>
          </p:cNvSpPr>
          <p:nvPr>
            <p:ph type="title"/>
          </p:nvPr>
        </p:nvSpPr>
        <p:spPr/>
        <p:txBody>
          <a:bodyPr/>
          <a:lstStyle/>
          <a:p>
            <a:r>
              <a:rPr lang="en-US" dirty="0"/>
              <a:t>SLIMS GATE – Java API</a:t>
            </a:r>
          </a:p>
        </p:txBody>
      </p:sp>
      <p:sp>
        <p:nvSpPr>
          <p:cNvPr id="16" name="Content Placeholder 15">
            <a:extLst>
              <a:ext uri="{FF2B5EF4-FFF2-40B4-BE49-F238E27FC236}">
                <a16:creationId xmlns:a16="http://schemas.microsoft.com/office/drawing/2014/main" id="{87BCF109-09E3-4E22-839B-782624CE82BE}"/>
              </a:ext>
            </a:extLst>
          </p:cNvPr>
          <p:cNvSpPr>
            <a:spLocks noGrp="1"/>
          </p:cNvSpPr>
          <p:nvPr>
            <p:ph sz="half" idx="1"/>
          </p:nvPr>
        </p:nvSpPr>
        <p:spPr/>
        <p:txBody>
          <a:bodyPr>
            <a:normAutofit fontScale="85000" lnSpcReduction="20000"/>
          </a:bodyPr>
          <a:lstStyle/>
          <a:p>
            <a:pPr lvl="0"/>
            <a:r>
              <a:rPr lang="en-US" dirty="0">
                <a:sym typeface="Open Sans"/>
              </a:rPr>
              <a:t>SLIMS GATE is close to the heart of SLIMS. Main purposes:</a:t>
            </a:r>
          </a:p>
          <a:p>
            <a:pPr marL="342900" lvl="0" indent="-342900">
              <a:buFont typeface="Arial" panose="020B0604020202020204" pitchFamily="34" charset="0"/>
              <a:buChar char="•"/>
            </a:pPr>
            <a:r>
              <a:rPr lang="en-US" dirty="0">
                <a:sym typeface="Open Sans"/>
              </a:rPr>
              <a:t>Instrument connections</a:t>
            </a:r>
          </a:p>
          <a:p>
            <a:pPr marL="342900" lvl="0" indent="-342900">
              <a:buFont typeface="Arial" panose="020B0604020202020204" pitchFamily="34" charset="0"/>
              <a:buChar char="•"/>
            </a:pPr>
            <a:r>
              <a:rPr lang="en-US" dirty="0">
                <a:sym typeface="Open Sans"/>
              </a:rPr>
              <a:t>Connections to “external systems”</a:t>
            </a:r>
          </a:p>
          <a:p>
            <a:pPr marL="342900" lvl="0" indent="-342900">
              <a:buFont typeface="Arial" panose="020B0604020202020204" pitchFamily="34" charset="0"/>
              <a:buChar char="•"/>
            </a:pPr>
            <a:r>
              <a:rPr lang="en-US" dirty="0">
                <a:sym typeface="Open Sans"/>
              </a:rPr>
              <a:t>Extra business logic</a:t>
            </a:r>
          </a:p>
          <a:p>
            <a:pPr lvl="0"/>
            <a:endParaRPr lang="en-US" dirty="0">
              <a:sym typeface="Open Sans"/>
            </a:endParaRPr>
          </a:p>
          <a:p>
            <a:pPr lvl="0"/>
            <a:r>
              <a:rPr lang="en-US" dirty="0">
                <a:sym typeface="Open Sans"/>
              </a:rPr>
              <a:t>APIs that allow manipulating the data model:</a:t>
            </a:r>
          </a:p>
          <a:p>
            <a:pPr marL="342900" lvl="0" indent="-342900">
              <a:buFont typeface="Arial" panose="020B0604020202020204" pitchFamily="34" charset="0"/>
              <a:buChar char="•"/>
            </a:pPr>
            <a:r>
              <a:rPr lang="en-US" dirty="0">
                <a:sym typeface="Open Sans"/>
              </a:rPr>
              <a:t>Transactional</a:t>
            </a:r>
          </a:p>
          <a:p>
            <a:pPr marL="342900" lvl="0" indent="-342900">
              <a:buFont typeface="Arial" panose="020B0604020202020204" pitchFamily="34" charset="0"/>
              <a:buChar char="•"/>
            </a:pPr>
            <a:r>
              <a:rPr lang="en-US" dirty="0">
                <a:sym typeface="Open Sans"/>
              </a:rPr>
              <a:t>Logging</a:t>
            </a:r>
          </a:p>
          <a:p>
            <a:pPr marL="342900" lvl="0" indent="-342900">
              <a:buFont typeface="Arial" panose="020B0604020202020204" pitchFamily="34" charset="0"/>
              <a:buChar char="•"/>
            </a:pPr>
            <a:r>
              <a:rPr lang="en-US" dirty="0">
                <a:sym typeface="Open Sans"/>
              </a:rPr>
              <a:t>Business logic</a:t>
            </a:r>
          </a:p>
          <a:p>
            <a:pPr lvl="0"/>
            <a:r>
              <a:rPr lang="en-US" dirty="0">
                <a:sym typeface="Open Sans"/>
                <a:hlinkClick r:id="rId3"/>
              </a:rPr>
              <a:t>More https://github.com/genohm/slims-api</a:t>
            </a:r>
            <a:r>
              <a:rPr lang="en-US" dirty="0">
                <a:sym typeface="Open Sans"/>
              </a:rPr>
              <a:t> </a:t>
            </a:r>
          </a:p>
          <a:p>
            <a:pPr lvl="0"/>
            <a:r>
              <a:rPr lang="en-US" dirty="0">
                <a:sym typeface="Open Sans"/>
              </a:rPr>
              <a:t>Can use SLIMS REST API to initiate the plugins.</a:t>
            </a:r>
          </a:p>
          <a:p>
            <a:endParaRPr lang="en-US" dirty="0"/>
          </a:p>
        </p:txBody>
      </p:sp>
      <p:grpSp>
        <p:nvGrpSpPr>
          <p:cNvPr id="2" name="Group 1">
            <a:extLst>
              <a:ext uri="{FF2B5EF4-FFF2-40B4-BE49-F238E27FC236}">
                <a16:creationId xmlns:a16="http://schemas.microsoft.com/office/drawing/2014/main" id="{666C368A-B3A1-DC33-50F6-34707ECCE46D}"/>
              </a:ext>
            </a:extLst>
          </p:cNvPr>
          <p:cNvGrpSpPr/>
          <p:nvPr/>
        </p:nvGrpSpPr>
        <p:grpSpPr>
          <a:xfrm>
            <a:off x="4197916" y="949013"/>
            <a:ext cx="7387798" cy="4887307"/>
            <a:chOff x="4197916" y="949013"/>
            <a:chExt cx="7387798" cy="4887307"/>
          </a:xfrm>
        </p:grpSpPr>
        <p:sp>
          <p:nvSpPr>
            <p:cNvPr id="3" name="Rectangle: Rounded Corners 2">
              <a:extLst>
                <a:ext uri="{FF2B5EF4-FFF2-40B4-BE49-F238E27FC236}">
                  <a16:creationId xmlns:a16="http://schemas.microsoft.com/office/drawing/2014/main" id="{1527D5FF-885C-D5DB-4697-5FC3CE6BA347}"/>
                </a:ext>
              </a:extLst>
            </p:cNvPr>
            <p:cNvSpPr/>
            <p:nvPr/>
          </p:nvSpPr>
          <p:spPr>
            <a:xfrm>
              <a:off x="6760055" y="4142755"/>
              <a:ext cx="2203129" cy="526300"/>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descr="Folder outline">
              <a:extLst>
                <a:ext uri="{FF2B5EF4-FFF2-40B4-BE49-F238E27FC236}">
                  <a16:creationId xmlns:a16="http://schemas.microsoft.com/office/drawing/2014/main" id="{0B9D9220-81A7-82D7-1A22-9291558A3FB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32757" y="5011824"/>
              <a:ext cx="786180" cy="824089"/>
            </a:xfrm>
            <a:prstGeom prst="rect">
              <a:avLst/>
            </a:prstGeom>
          </p:spPr>
        </p:pic>
        <p:pic>
          <p:nvPicPr>
            <p:cNvPr id="5" name="Graphic 4" descr="Database outline">
              <a:extLst>
                <a:ext uri="{FF2B5EF4-FFF2-40B4-BE49-F238E27FC236}">
                  <a16:creationId xmlns:a16="http://schemas.microsoft.com/office/drawing/2014/main" id="{DF2C3B29-8515-4939-AF45-D1E7D4B31E1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67372" y="5069170"/>
              <a:ext cx="786180" cy="767150"/>
            </a:xfrm>
            <a:prstGeom prst="rect">
              <a:avLst/>
            </a:prstGeom>
          </p:spPr>
        </p:pic>
        <p:sp>
          <p:nvSpPr>
            <p:cNvPr id="6" name="Rectangle: Rounded Corners 5">
              <a:extLst>
                <a:ext uri="{FF2B5EF4-FFF2-40B4-BE49-F238E27FC236}">
                  <a16:creationId xmlns:a16="http://schemas.microsoft.com/office/drawing/2014/main" id="{82B26653-0E08-279A-5CB2-053EB8B6B14E}"/>
                </a:ext>
              </a:extLst>
            </p:cNvPr>
            <p:cNvSpPr/>
            <p:nvPr/>
          </p:nvSpPr>
          <p:spPr>
            <a:xfrm>
              <a:off x="4197916" y="2651894"/>
              <a:ext cx="7342643" cy="1196488"/>
            </a:xfrm>
            <a:prstGeom prst="roundRect">
              <a:avLst>
                <a:gd name="adj" fmla="val 29740"/>
              </a:avLst>
            </a:prstGeom>
            <a:noFill/>
            <a:ln w="19050">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pic>
          <p:nvPicPr>
            <p:cNvPr id="7" name="Graphic 6" descr="Gears outline">
              <a:extLst>
                <a:ext uri="{FF2B5EF4-FFF2-40B4-BE49-F238E27FC236}">
                  <a16:creationId xmlns:a16="http://schemas.microsoft.com/office/drawing/2014/main" id="{D48F3B0C-EDA0-C8EE-20EA-993E53A3965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443967">
              <a:off x="8971080" y="4159580"/>
              <a:ext cx="487911" cy="476101"/>
            </a:xfrm>
            <a:prstGeom prst="rect">
              <a:avLst/>
            </a:prstGeom>
          </p:spPr>
        </p:pic>
        <p:pic>
          <p:nvPicPr>
            <p:cNvPr id="9" name="Graphic 8" descr="Gears outline">
              <a:extLst>
                <a:ext uri="{FF2B5EF4-FFF2-40B4-BE49-F238E27FC236}">
                  <a16:creationId xmlns:a16="http://schemas.microsoft.com/office/drawing/2014/main" id="{6FEAD9C9-161A-3A2B-5E68-66B89893BDD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7144992">
              <a:off x="6278774" y="4109240"/>
              <a:ext cx="476101" cy="487911"/>
            </a:xfrm>
            <a:prstGeom prst="rect">
              <a:avLst/>
            </a:prstGeom>
          </p:spPr>
        </p:pic>
        <p:sp>
          <p:nvSpPr>
            <p:cNvPr id="10" name="TextBox 9">
              <a:extLst>
                <a:ext uri="{FF2B5EF4-FFF2-40B4-BE49-F238E27FC236}">
                  <a16:creationId xmlns:a16="http://schemas.microsoft.com/office/drawing/2014/main" id="{0AC1347F-071A-C008-9F5A-552AEE26630A}"/>
                </a:ext>
              </a:extLst>
            </p:cNvPr>
            <p:cNvSpPr txBox="1"/>
            <p:nvPr/>
          </p:nvSpPr>
          <p:spPr>
            <a:xfrm>
              <a:off x="5550805" y="5216001"/>
              <a:ext cx="678363" cy="361499"/>
            </a:xfrm>
            <a:prstGeom prst="rect">
              <a:avLst/>
            </a:prstGeom>
            <a:noFill/>
          </p:spPr>
          <p:txBody>
            <a:bodyPr wrap="none" rtlCol="0">
              <a:spAutoFit/>
            </a:bodyPr>
            <a:lstStyle/>
            <a:p>
              <a:pPr defTabSz="274320"/>
              <a:endParaRPr lang="en-US" sz="1100" dirty="0"/>
            </a:p>
            <a:p>
              <a:pPr defTabSz="274320"/>
              <a:r>
                <a:rPr lang="en-US" sz="1100" dirty="0"/>
                <a:t>Database</a:t>
              </a:r>
            </a:p>
          </p:txBody>
        </p:sp>
        <p:sp>
          <p:nvSpPr>
            <p:cNvPr id="11" name="TextBox 10">
              <a:extLst>
                <a:ext uri="{FF2B5EF4-FFF2-40B4-BE49-F238E27FC236}">
                  <a16:creationId xmlns:a16="http://schemas.microsoft.com/office/drawing/2014/main" id="{36C75969-8C11-1CA9-5975-1DC9A1EED7DA}"/>
                </a:ext>
              </a:extLst>
            </p:cNvPr>
            <p:cNvSpPr txBox="1"/>
            <p:nvPr/>
          </p:nvSpPr>
          <p:spPr>
            <a:xfrm>
              <a:off x="8787715" y="2620900"/>
              <a:ext cx="1290738" cy="261610"/>
            </a:xfrm>
            <a:prstGeom prst="rect">
              <a:avLst/>
            </a:prstGeom>
            <a:noFill/>
            <a:ln>
              <a:noFill/>
            </a:ln>
          </p:spPr>
          <p:txBody>
            <a:bodyPr wrap="none" rtlCol="0">
              <a:spAutoFit/>
            </a:bodyPr>
            <a:lstStyle/>
            <a:p>
              <a:pPr defTabSz="274320"/>
              <a:r>
                <a:rPr lang="en-US" sz="1100" dirty="0" err="1">
                  <a:solidFill>
                    <a:schemeClr val="accent4"/>
                  </a:solidFill>
                </a:rPr>
                <a:t>Hazelcast</a:t>
              </a:r>
              <a:r>
                <a:rPr lang="en-US" sz="1100" dirty="0">
                  <a:solidFill>
                    <a:schemeClr val="accent4"/>
                  </a:solidFill>
                </a:rPr>
                <a:t> Cluster</a:t>
              </a:r>
            </a:p>
          </p:txBody>
        </p:sp>
        <p:sp>
          <p:nvSpPr>
            <p:cNvPr id="12" name="TextBox 11">
              <a:extLst>
                <a:ext uri="{FF2B5EF4-FFF2-40B4-BE49-F238E27FC236}">
                  <a16:creationId xmlns:a16="http://schemas.microsoft.com/office/drawing/2014/main" id="{BF7113CB-7558-EFD1-F25E-91EDE7FED004}"/>
                </a:ext>
              </a:extLst>
            </p:cNvPr>
            <p:cNvSpPr txBox="1"/>
            <p:nvPr/>
          </p:nvSpPr>
          <p:spPr>
            <a:xfrm>
              <a:off x="10772285" y="5314128"/>
              <a:ext cx="813429" cy="219482"/>
            </a:xfrm>
            <a:prstGeom prst="rect">
              <a:avLst/>
            </a:prstGeom>
            <a:noFill/>
          </p:spPr>
          <p:txBody>
            <a:bodyPr wrap="none" rtlCol="0">
              <a:spAutoFit/>
            </a:bodyPr>
            <a:lstStyle/>
            <a:p>
              <a:pPr defTabSz="274320"/>
              <a:r>
                <a:rPr lang="en-US" sz="1100" dirty="0"/>
                <a:t>File Storage</a:t>
              </a:r>
            </a:p>
          </p:txBody>
        </p:sp>
        <p:sp>
          <p:nvSpPr>
            <p:cNvPr id="13" name="TextBox 12">
              <a:extLst>
                <a:ext uri="{FF2B5EF4-FFF2-40B4-BE49-F238E27FC236}">
                  <a16:creationId xmlns:a16="http://schemas.microsoft.com/office/drawing/2014/main" id="{B451AE4D-968C-6B15-33E7-7FFA0438D76A}"/>
                </a:ext>
              </a:extLst>
            </p:cNvPr>
            <p:cNvSpPr txBox="1"/>
            <p:nvPr/>
          </p:nvSpPr>
          <p:spPr>
            <a:xfrm>
              <a:off x="7432757" y="4287890"/>
              <a:ext cx="845127" cy="219482"/>
            </a:xfrm>
            <a:prstGeom prst="rect">
              <a:avLst/>
            </a:prstGeom>
            <a:noFill/>
          </p:spPr>
          <p:txBody>
            <a:bodyPr wrap="none" rtlCol="0">
              <a:spAutoFit/>
            </a:bodyPr>
            <a:lstStyle/>
            <a:p>
              <a:pPr algn="ctr" defTabSz="274320"/>
              <a:r>
                <a:rPr lang="en-US" sz="1100" dirty="0"/>
                <a:t>Platform-API</a:t>
              </a:r>
            </a:p>
          </p:txBody>
        </p:sp>
        <p:cxnSp>
          <p:nvCxnSpPr>
            <p:cNvPr id="14" name="Connector: Elbow 13">
              <a:extLst>
                <a:ext uri="{FF2B5EF4-FFF2-40B4-BE49-F238E27FC236}">
                  <a16:creationId xmlns:a16="http://schemas.microsoft.com/office/drawing/2014/main" id="{8AA3E522-757E-97E2-CCBB-14CBF1B07F10}"/>
                </a:ext>
              </a:extLst>
            </p:cNvPr>
            <p:cNvCxnSpPr>
              <a:stCxn id="5" idx="0"/>
              <a:endCxn id="4" idx="0"/>
            </p:cNvCxnSpPr>
            <p:nvPr/>
          </p:nvCxnSpPr>
          <p:spPr>
            <a:xfrm rot="5400000" flipH="1" flipV="1">
              <a:off x="7814481" y="2457805"/>
              <a:ext cx="57346" cy="5165386"/>
            </a:xfrm>
            <a:prstGeom prst="bentConnector3">
              <a:avLst>
                <a:gd name="adj1" fmla="val 37222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D018A8D-3F5E-7018-4E7F-2B2469C6D80D}"/>
                </a:ext>
              </a:extLst>
            </p:cNvPr>
            <p:cNvCxnSpPr>
              <a:cxnSpLocks/>
              <a:stCxn id="3" idx="2"/>
            </p:cNvCxnSpPr>
            <p:nvPr/>
          </p:nvCxnSpPr>
          <p:spPr>
            <a:xfrm>
              <a:off x="7861620" y="4669055"/>
              <a:ext cx="0" cy="187328"/>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91C414B1-EB90-BCEC-DF1B-C441FE12D5BB}"/>
                </a:ext>
              </a:extLst>
            </p:cNvPr>
            <p:cNvSpPr/>
            <p:nvPr/>
          </p:nvSpPr>
          <p:spPr>
            <a:xfrm>
              <a:off x="8417493" y="2003838"/>
              <a:ext cx="1091382" cy="399619"/>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19" name="TextBox 18">
              <a:extLst>
                <a:ext uri="{FF2B5EF4-FFF2-40B4-BE49-F238E27FC236}">
                  <a16:creationId xmlns:a16="http://schemas.microsoft.com/office/drawing/2014/main" id="{F8DD9316-37E5-5CBE-ADC3-80FE29225DDA}"/>
                </a:ext>
              </a:extLst>
            </p:cNvPr>
            <p:cNvSpPr txBox="1"/>
            <p:nvPr/>
          </p:nvSpPr>
          <p:spPr>
            <a:xfrm>
              <a:off x="8426633" y="2087021"/>
              <a:ext cx="1082241" cy="261610"/>
            </a:xfrm>
            <a:prstGeom prst="rect">
              <a:avLst/>
            </a:prstGeom>
            <a:noFill/>
          </p:spPr>
          <p:txBody>
            <a:bodyPr wrap="square" rtlCol="0">
              <a:spAutoFit/>
            </a:bodyPr>
            <a:lstStyle/>
            <a:p>
              <a:pPr algn="ctr" defTabSz="274320"/>
              <a:r>
                <a:rPr lang="en-US" sz="1100" dirty="0">
                  <a:solidFill>
                    <a:schemeClr val="tx1">
                      <a:lumMod val="20000"/>
                      <a:lumOff val="80000"/>
                    </a:schemeClr>
                  </a:solidFill>
                </a:rPr>
                <a:t>Python-API</a:t>
              </a:r>
            </a:p>
          </p:txBody>
        </p:sp>
        <p:cxnSp>
          <p:nvCxnSpPr>
            <p:cNvPr id="20" name="Connector: Elbow 19">
              <a:extLst>
                <a:ext uri="{FF2B5EF4-FFF2-40B4-BE49-F238E27FC236}">
                  <a16:creationId xmlns:a16="http://schemas.microsoft.com/office/drawing/2014/main" id="{CDB56CB6-3381-FD87-5AF8-65DA77B04B15}"/>
                </a:ext>
              </a:extLst>
            </p:cNvPr>
            <p:cNvCxnSpPr>
              <a:cxnSpLocks/>
              <a:stCxn id="37" idx="2"/>
              <a:endCxn id="24" idx="2"/>
            </p:cNvCxnSpPr>
            <p:nvPr/>
          </p:nvCxnSpPr>
          <p:spPr>
            <a:xfrm rot="16200000" flipH="1">
              <a:off x="7721795" y="896342"/>
              <a:ext cx="137716" cy="5342728"/>
            </a:xfrm>
            <a:prstGeom prst="bentConnector3">
              <a:avLst>
                <a:gd name="adj1" fmla="val 325917"/>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172D524-EB61-6C27-F6DB-E4A001959EDB}"/>
                </a:ext>
              </a:extLst>
            </p:cNvPr>
            <p:cNvCxnSpPr>
              <a:cxnSpLocks/>
              <a:endCxn id="3" idx="0"/>
            </p:cNvCxnSpPr>
            <p:nvPr/>
          </p:nvCxnSpPr>
          <p:spPr>
            <a:xfrm>
              <a:off x="7861620" y="3948063"/>
              <a:ext cx="0" cy="194692"/>
            </a:xfrm>
            <a:prstGeom prst="straightConnector1">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5AA85DAB-FBCB-849C-DDB1-982830B7A64A}"/>
                </a:ext>
              </a:extLst>
            </p:cNvPr>
            <p:cNvSpPr/>
            <p:nvPr/>
          </p:nvSpPr>
          <p:spPr>
            <a:xfrm>
              <a:off x="9832895" y="2860491"/>
              <a:ext cx="1490086" cy="633345"/>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3" name="Rectangle: Rounded Corners 22">
              <a:extLst>
                <a:ext uri="{FF2B5EF4-FFF2-40B4-BE49-F238E27FC236}">
                  <a16:creationId xmlns:a16="http://schemas.microsoft.com/office/drawing/2014/main" id="{998AEC17-1728-7B7A-1DB9-2E60E7765779}"/>
                </a:ext>
              </a:extLst>
            </p:cNvPr>
            <p:cNvSpPr/>
            <p:nvPr/>
          </p:nvSpPr>
          <p:spPr>
            <a:xfrm>
              <a:off x="9774935" y="2931855"/>
              <a:ext cx="1490086" cy="633345"/>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4" name="Rectangle: Rounded Corners 23">
              <a:extLst>
                <a:ext uri="{FF2B5EF4-FFF2-40B4-BE49-F238E27FC236}">
                  <a16:creationId xmlns:a16="http://schemas.microsoft.com/office/drawing/2014/main" id="{7D76E3B3-E432-CDFA-E06F-C4D9044F7E25}"/>
                </a:ext>
              </a:extLst>
            </p:cNvPr>
            <p:cNvSpPr/>
            <p:nvPr/>
          </p:nvSpPr>
          <p:spPr>
            <a:xfrm>
              <a:off x="9716975" y="3003219"/>
              <a:ext cx="1490086" cy="633345"/>
            </a:xfrm>
            <a:prstGeom prst="roundRect">
              <a:avLst>
                <a:gd name="adj" fmla="val 29740"/>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5" name="TextBox 24">
              <a:extLst>
                <a:ext uri="{FF2B5EF4-FFF2-40B4-BE49-F238E27FC236}">
                  <a16:creationId xmlns:a16="http://schemas.microsoft.com/office/drawing/2014/main" id="{194667F3-B02C-0A8A-1BB3-0BFFFBAFA12A}"/>
                </a:ext>
              </a:extLst>
            </p:cNvPr>
            <p:cNvSpPr txBox="1"/>
            <p:nvPr/>
          </p:nvSpPr>
          <p:spPr>
            <a:xfrm>
              <a:off x="9658235" y="3114516"/>
              <a:ext cx="1576072" cy="400110"/>
            </a:xfrm>
            <a:prstGeom prst="rect">
              <a:avLst/>
            </a:prstGeom>
            <a:noFill/>
          </p:spPr>
          <p:txBody>
            <a:bodyPr wrap="none" rtlCol="0">
              <a:spAutoFit/>
            </a:bodyPr>
            <a:lstStyle/>
            <a:p>
              <a:pPr algn="ctr" defTabSz="274320"/>
              <a:r>
                <a:rPr lang="en-US" sz="1100" dirty="0"/>
                <a:t>SLIMS GATE Plugins</a:t>
              </a:r>
            </a:p>
            <a:p>
              <a:pPr algn="ctr" defTabSz="274320"/>
              <a:r>
                <a:rPr lang="en-US" sz="900" dirty="0"/>
                <a:t>(Apache, Camel, Java API)</a:t>
              </a:r>
            </a:p>
          </p:txBody>
        </p:sp>
        <p:sp>
          <p:nvSpPr>
            <p:cNvPr id="26" name="Rectangle: Rounded Corners 25">
              <a:extLst>
                <a:ext uri="{FF2B5EF4-FFF2-40B4-BE49-F238E27FC236}">
                  <a16:creationId xmlns:a16="http://schemas.microsoft.com/office/drawing/2014/main" id="{82806174-8FC0-6590-387E-57F17ABAC9E1}"/>
                </a:ext>
              </a:extLst>
            </p:cNvPr>
            <p:cNvSpPr/>
            <p:nvPr/>
          </p:nvSpPr>
          <p:spPr>
            <a:xfrm>
              <a:off x="9359748" y="949013"/>
              <a:ext cx="2203129" cy="820010"/>
            </a:xfrm>
            <a:prstGeom prst="roundRect">
              <a:avLst>
                <a:gd name="adj" fmla="val 18236"/>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28" name="TextBox 27">
              <a:extLst>
                <a:ext uri="{FF2B5EF4-FFF2-40B4-BE49-F238E27FC236}">
                  <a16:creationId xmlns:a16="http://schemas.microsoft.com/office/drawing/2014/main" id="{5E7BEE8A-7B78-1767-C582-3CFEEAD85AE5}"/>
                </a:ext>
              </a:extLst>
            </p:cNvPr>
            <p:cNvSpPr txBox="1"/>
            <p:nvPr/>
          </p:nvSpPr>
          <p:spPr>
            <a:xfrm>
              <a:off x="9805964" y="1017622"/>
              <a:ext cx="1189749" cy="307777"/>
            </a:xfrm>
            <a:prstGeom prst="rect">
              <a:avLst/>
            </a:prstGeom>
            <a:noFill/>
          </p:spPr>
          <p:txBody>
            <a:bodyPr wrap="none" rtlCol="0">
              <a:spAutoFit/>
            </a:bodyPr>
            <a:lstStyle/>
            <a:p>
              <a:pPr algn="ctr" defTabSz="274320"/>
              <a:r>
                <a:rPr lang="en-US" sz="1400" dirty="0"/>
                <a:t>Lab Network</a:t>
              </a:r>
            </a:p>
          </p:txBody>
        </p:sp>
        <p:sp>
          <p:nvSpPr>
            <p:cNvPr id="29" name="TextBox 28">
              <a:extLst>
                <a:ext uri="{FF2B5EF4-FFF2-40B4-BE49-F238E27FC236}">
                  <a16:creationId xmlns:a16="http://schemas.microsoft.com/office/drawing/2014/main" id="{FE5EF1B5-6F86-650C-2FB7-C06B01CB4744}"/>
                </a:ext>
              </a:extLst>
            </p:cNvPr>
            <p:cNvSpPr txBox="1"/>
            <p:nvPr/>
          </p:nvSpPr>
          <p:spPr>
            <a:xfrm>
              <a:off x="9728526" y="1197683"/>
              <a:ext cx="1040670" cy="592470"/>
            </a:xfrm>
            <a:prstGeom prst="rect">
              <a:avLst/>
            </a:prstGeom>
            <a:noFill/>
          </p:spPr>
          <p:txBody>
            <a:bodyPr wrap="none" rtlCol="0">
              <a:spAutoFit/>
            </a:bodyPr>
            <a:lstStyle/>
            <a:p>
              <a:pPr marL="171450" indent="-171450" defTabSz="274320">
                <a:buFontTx/>
                <a:buChar char="-"/>
              </a:pPr>
              <a:r>
                <a:rPr lang="en-US" sz="1100" dirty="0"/>
                <a:t>Printers</a:t>
              </a:r>
            </a:p>
            <a:p>
              <a:pPr marL="171450" indent="-171450" defTabSz="274320">
                <a:buFontTx/>
                <a:buChar char="-"/>
              </a:pPr>
              <a:r>
                <a:rPr lang="en-US" sz="1000" dirty="0"/>
                <a:t>HL7</a:t>
              </a:r>
              <a:endParaRPr lang="en-US" sz="1100" dirty="0"/>
            </a:p>
            <a:p>
              <a:pPr marL="171450" indent="-171450" defTabSz="274320">
                <a:buFontTx/>
                <a:buChar char="-"/>
              </a:pPr>
              <a:r>
                <a:rPr lang="en-US" sz="1100" dirty="0"/>
                <a:t>Sequencer</a:t>
              </a:r>
            </a:p>
          </p:txBody>
        </p:sp>
        <p:sp>
          <p:nvSpPr>
            <p:cNvPr id="30" name="TextBox 29">
              <a:extLst>
                <a:ext uri="{FF2B5EF4-FFF2-40B4-BE49-F238E27FC236}">
                  <a16:creationId xmlns:a16="http://schemas.microsoft.com/office/drawing/2014/main" id="{AC84D223-3158-35E9-A82C-50E1E83794D8}"/>
                </a:ext>
              </a:extLst>
            </p:cNvPr>
            <p:cNvSpPr txBox="1"/>
            <p:nvPr/>
          </p:nvSpPr>
          <p:spPr>
            <a:xfrm>
              <a:off x="10549771" y="1197683"/>
              <a:ext cx="599844" cy="569387"/>
            </a:xfrm>
            <a:prstGeom prst="rect">
              <a:avLst/>
            </a:prstGeom>
            <a:noFill/>
          </p:spPr>
          <p:txBody>
            <a:bodyPr wrap="none" rtlCol="0">
              <a:spAutoFit/>
            </a:bodyPr>
            <a:lstStyle/>
            <a:p>
              <a:pPr marL="171450" indent="-171450" defTabSz="274320">
                <a:buFontTx/>
                <a:buChar char="-"/>
              </a:pPr>
              <a:r>
                <a:rPr lang="en-US" sz="1000" dirty="0"/>
                <a:t>Mail</a:t>
              </a:r>
            </a:p>
            <a:p>
              <a:pPr marL="171450" indent="-171450" defTabSz="274320">
                <a:buFontTx/>
                <a:buChar char="-"/>
              </a:pPr>
              <a:r>
                <a:rPr lang="en-US" sz="1000" dirty="0"/>
                <a:t>FTP</a:t>
              </a:r>
            </a:p>
            <a:p>
              <a:pPr defTabSz="274320"/>
              <a:endParaRPr lang="en-US" sz="1100" dirty="0"/>
            </a:p>
          </p:txBody>
        </p:sp>
        <p:cxnSp>
          <p:nvCxnSpPr>
            <p:cNvPr id="31" name="Straight Arrow Connector 30">
              <a:extLst>
                <a:ext uri="{FF2B5EF4-FFF2-40B4-BE49-F238E27FC236}">
                  <a16:creationId xmlns:a16="http://schemas.microsoft.com/office/drawing/2014/main" id="{17AC0A94-25AE-3965-E743-BA1219C57173}"/>
                </a:ext>
              </a:extLst>
            </p:cNvPr>
            <p:cNvCxnSpPr>
              <a:cxnSpLocks/>
              <a:stCxn id="26" idx="2"/>
            </p:cNvCxnSpPr>
            <p:nvPr/>
          </p:nvCxnSpPr>
          <p:spPr>
            <a:xfrm>
              <a:off x="10461313" y="1769023"/>
              <a:ext cx="15290" cy="1204113"/>
            </a:xfrm>
            <a:prstGeom prst="straightConnector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C9A7DD06-1D6F-1736-E27E-F23503DD010F}"/>
                </a:ext>
              </a:extLst>
            </p:cNvPr>
            <p:cNvSpPr/>
            <p:nvPr/>
          </p:nvSpPr>
          <p:spPr>
            <a:xfrm>
              <a:off x="5959977" y="3003219"/>
              <a:ext cx="1083224" cy="477652"/>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33" name="TextBox 32">
              <a:extLst>
                <a:ext uri="{FF2B5EF4-FFF2-40B4-BE49-F238E27FC236}">
                  <a16:creationId xmlns:a16="http://schemas.microsoft.com/office/drawing/2014/main" id="{6C0DF8DB-01E3-2275-1EAF-4846B19EF44C}"/>
                </a:ext>
              </a:extLst>
            </p:cNvPr>
            <p:cNvSpPr txBox="1"/>
            <p:nvPr/>
          </p:nvSpPr>
          <p:spPr>
            <a:xfrm>
              <a:off x="6132882" y="3125174"/>
              <a:ext cx="756938" cy="261610"/>
            </a:xfrm>
            <a:prstGeom prst="rect">
              <a:avLst/>
            </a:prstGeom>
            <a:noFill/>
          </p:spPr>
          <p:txBody>
            <a:bodyPr wrap="none" rtlCol="0">
              <a:spAutoFit/>
            </a:bodyPr>
            <a:lstStyle/>
            <a:p>
              <a:pPr algn="ctr" defTabSz="274320"/>
              <a:r>
                <a:rPr lang="en-US" sz="1100" dirty="0">
                  <a:solidFill>
                    <a:schemeClr val="tx1">
                      <a:lumMod val="20000"/>
                      <a:lumOff val="80000"/>
                    </a:schemeClr>
                  </a:solidFill>
                </a:rPr>
                <a:t>SLIMS-R</a:t>
              </a:r>
            </a:p>
          </p:txBody>
        </p:sp>
        <p:sp>
          <p:nvSpPr>
            <p:cNvPr id="34" name="Rectangle: Rounded Corners 33">
              <a:extLst>
                <a:ext uri="{FF2B5EF4-FFF2-40B4-BE49-F238E27FC236}">
                  <a16:creationId xmlns:a16="http://schemas.microsoft.com/office/drawing/2014/main" id="{C081BADD-9BFE-CA6B-3224-A0072D3B72CE}"/>
                </a:ext>
              </a:extLst>
            </p:cNvPr>
            <p:cNvSpPr/>
            <p:nvPr/>
          </p:nvSpPr>
          <p:spPr>
            <a:xfrm>
              <a:off x="6232184" y="2003839"/>
              <a:ext cx="1134313" cy="399619"/>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35" name="TextBox 34">
              <a:extLst>
                <a:ext uri="{FF2B5EF4-FFF2-40B4-BE49-F238E27FC236}">
                  <a16:creationId xmlns:a16="http://schemas.microsoft.com/office/drawing/2014/main" id="{3EC963BA-50E3-95E1-D4F7-A21A8C2ED6FC}"/>
                </a:ext>
              </a:extLst>
            </p:cNvPr>
            <p:cNvSpPr txBox="1"/>
            <p:nvPr/>
          </p:nvSpPr>
          <p:spPr>
            <a:xfrm>
              <a:off x="6232183" y="2035240"/>
              <a:ext cx="1127079" cy="261610"/>
            </a:xfrm>
            <a:prstGeom prst="rect">
              <a:avLst/>
            </a:prstGeom>
            <a:noFill/>
          </p:spPr>
          <p:txBody>
            <a:bodyPr wrap="square" rtlCol="0">
              <a:spAutoFit/>
            </a:bodyPr>
            <a:lstStyle/>
            <a:p>
              <a:pPr algn="ctr" defTabSz="274320"/>
              <a:r>
                <a:rPr lang="en-US" sz="1100" dirty="0">
                  <a:solidFill>
                    <a:schemeClr val="tx1">
                      <a:lumMod val="20000"/>
                      <a:lumOff val="80000"/>
                    </a:schemeClr>
                  </a:solidFill>
                </a:rPr>
                <a:t>Bench UI</a:t>
              </a:r>
            </a:p>
          </p:txBody>
        </p:sp>
        <p:sp>
          <p:nvSpPr>
            <p:cNvPr id="36" name="TextBox 35">
              <a:extLst>
                <a:ext uri="{FF2B5EF4-FFF2-40B4-BE49-F238E27FC236}">
                  <a16:creationId xmlns:a16="http://schemas.microsoft.com/office/drawing/2014/main" id="{5D6C92F6-32AE-BD16-BA5D-D909EA7D1824}"/>
                </a:ext>
              </a:extLst>
            </p:cNvPr>
            <p:cNvSpPr txBox="1"/>
            <p:nvPr/>
          </p:nvSpPr>
          <p:spPr>
            <a:xfrm>
              <a:off x="6229169" y="2194723"/>
              <a:ext cx="1137328" cy="230832"/>
            </a:xfrm>
            <a:prstGeom prst="rect">
              <a:avLst/>
            </a:prstGeom>
            <a:noFill/>
          </p:spPr>
          <p:txBody>
            <a:bodyPr wrap="square">
              <a:spAutoFit/>
            </a:bodyPr>
            <a:lstStyle/>
            <a:p>
              <a:pPr algn="ctr" defTabSz="274320"/>
              <a:r>
                <a:rPr lang="en-US" sz="900" dirty="0">
                  <a:solidFill>
                    <a:schemeClr val="tx1">
                      <a:lumMod val="20000"/>
                      <a:lumOff val="80000"/>
                    </a:schemeClr>
                  </a:solidFill>
                </a:rPr>
                <a:t>Frontend</a:t>
              </a:r>
            </a:p>
          </p:txBody>
        </p:sp>
        <p:sp>
          <p:nvSpPr>
            <p:cNvPr id="37" name="Rectangle: Rounded Corners 36">
              <a:extLst>
                <a:ext uri="{FF2B5EF4-FFF2-40B4-BE49-F238E27FC236}">
                  <a16:creationId xmlns:a16="http://schemas.microsoft.com/office/drawing/2014/main" id="{7121BC9A-767B-038E-B9AC-B114EE742C30}"/>
                </a:ext>
              </a:extLst>
            </p:cNvPr>
            <p:cNvSpPr/>
            <p:nvPr/>
          </p:nvSpPr>
          <p:spPr>
            <a:xfrm>
              <a:off x="4471899" y="3021198"/>
              <a:ext cx="1294781" cy="477651"/>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38" name="TextBox 37">
              <a:extLst>
                <a:ext uri="{FF2B5EF4-FFF2-40B4-BE49-F238E27FC236}">
                  <a16:creationId xmlns:a16="http://schemas.microsoft.com/office/drawing/2014/main" id="{ADEAB362-05D3-1E43-6286-EE88A61946D2}"/>
                </a:ext>
              </a:extLst>
            </p:cNvPr>
            <p:cNvSpPr txBox="1"/>
            <p:nvPr/>
          </p:nvSpPr>
          <p:spPr>
            <a:xfrm>
              <a:off x="4499743" y="3081192"/>
              <a:ext cx="1226619" cy="261610"/>
            </a:xfrm>
            <a:prstGeom prst="rect">
              <a:avLst/>
            </a:prstGeom>
            <a:noFill/>
          </p:spPr>
          <p:txBody>
            <a:bodyPr wrap="none" rtlCol="0">
              <a:spAutoFit/>
            </a:bodyPr>
            <a:lstStyle/>
            <a:p>
              <a:pPr algn="ctr" defTabSz="274320"/>
              <a:r>
                <a:rPr lang="en-US" sz="1100" dirty="0">
                  <a:solidFill>
                    <a:schemeClr val="tx1">
                      <a:lumMod val="20000"/>
                      <a:lumOff val="80000"/>
                    </a:schemeClr>
                  </a:solidFill>
                </a:rPr>
                <a:t>Requester portal</a:t>
              </a:r>
            </a:p>
          </p:txBody>
        </p:sp>
        <p:sp>
          <p:nvSpPr>
            <p:cNvPr id="39" name="TextBox 38">
              <a:extLst>
                <a:ext uri="{FF2B5EF4-FFF2-40B4-BE49-F238E27FC236}">
                  <a16:creationId xmlns:a16="http://schemas.microsoft.com/office/drawing/2014/main" id="{2CFEAB7B-BF74-66AE-11AE-968CAD24FAC3}"/>
                </a:ext>
              </a:extLst>
            </p:cNvPr>
            <p:cNvSpPr txBox="1"/>
            <p:nvPr/>
          </p:nvSpPr>
          <p:spPr>
            <a:xfrm>
              <a:off x="4613949" y="3249356"/>
              <a:ext cx="1004120" cy="230832"/>
            </a:xfrm>
            <a:prstGeom prst="rect">
              <a:avLst/>
            </a:prstGeom>
            <a:noFill/>
          </p:spPr>
          <p:txBody>
            <a:bodyPr wrap="square">
              <a:spAutoFit/>
            </a:bodyPr>
            <a:lstStyle/>
            <a:p>
              <a:pPr algn="ctr" defTabSz="274320"/>
              <a:r>
                <a:rPr lang="en-US" sz="900" dirty="0">
                  <a:solidFill>
                    <a:schemeClr val="tx1">
                      <a:lumMod val="20000"/>
                      <a:lumOff val="80000"/>
                    </a:schemeClr>
                  </a:solidFill>
                </a:rPr>
                <a:t>Backend</a:t>
              </a:r>
            </a:p>
          </p:txBody>
        </p:sp>
        <p:sp>
          <p:nvSpPr>
            <p:cNvPr id="40" name="Rectangle: Rounded Corners 39">
              <a:extLst>
                <a:ext uri="{FF2B5EF4-FFF2-40B4-BE49-F238E27FC236}">
                  <a16:creationId xmlns:a16="http://schemas.microsoft.com/office/drawing/2014/main" id="{2121948A-5670-3FA6-2AB6-85FD1A15633E}"/>
                </a:ext>
              </a:extLst>
            </p:cNvPr>
            <p:cNvSpPr/>
            <p:nvPr/>
          </p:nvSpPr>
          <p:spPr>
            <a:xfrm>
              <a:off x="4467789" y="2003838"/>
              <a:ext cx="1290526" cy="399619"/>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41" name="TextBox 40">
              <a:extLst>
                <a:ext uri="{FF2B5EF4-FFF2-40B4-BE49-F238E27FC236}">
                  <a16:creationId xmlns:a16="http://schemas.microsoft.com/office/drawing/2014/main" id="{CF3BF0FF-B43B-60B8-B834-540B20A846BA}"/>
                </a:ext>
              </a:extLst>
            </p:cNvPr>
            <p:cNvSpPr txBox="1"/>
            <p:nvPr/>
          </p:nvSpPr>
          <p:spPr>
            <a:xfrm>
              <a:off x="4499744" y="2029607"/>
              <a:ext cx="1226618" cy="261610"/>
            </a:xfrm>
            <a:prstGeom prst="rect">
              <a:avLst/>
            </a:prstGeom>
            <a:noFill/>
          </p:spPr>
          <p:txBody>
            <a:bodyPr wrap="none" rtlCol="0">
              <a:spAutoFit/>
            </a:bodyPr>
            <a:lstStyle/>
            <a:p>
              <a:pPr algn="ctr" defTabSz="274320"/>
              <a:r>
                <a:rPr lang="en-US" sz="1100" dirty="0">
                  <a:solidFill>
                    <a:schemeClr val="tx1">
                      <a:lumMod val="20000"/>
                      <a:lumOff val="80000"/>
                    </a:schemeClr>
                  </a:solidFill>
                </a:rPr>
                <a:t>Requester portal</a:t>
              </a:r>
            </a:p>
          </p:txBody>
        </p:sp>
        <p:sp>
          <p:nvSpPr>
            <p:cNvPr id="42" name="TextBox 41">
              <a:extLst>
                <a:ext uri="{FF2B5EF4-FFF2-40B4-BE49-F238E27FC236}">
                  <a16:creationId xmlns:a16="http://schemas.microsoft.com/office/drawing/2014/main" id="{5A3DD7B7-F303-7524-D916-E1FB915303FB}"/>
                </a:ext>
              </a:extLst>
            </p:cNvPr>
            <p:cNvSpPr txBox="1"/>
            <p:nvPr/>
          </p:nvSpPr>
          <p:spPr>
            <a:xfrm>
              <a:off x="4609372" y="2194722"/>
              <a:ext cx="1000820" cy="230832"/>
            </a:xfrm>
            <a:prstGeom prst="rect">
              <a:avLst/>
            </a:prstGeom>
            <a:noFill/>
          </p:spPr>
          <p:txBody>
            <a:bodyPr wrap="square">
              <a:spAutoFit/>
            </a:bodyPr>
            <a:lstStyle/>
            <a:p>
              <a:pPr algn="ctr" defTabSz="274320"/>
              <a:r>
                <a:rPr lang="en-US" sz="900" dirty="0">
                  <a:solidFill>
                    <a:schemeClr val="tx1">
                      <a:lumMod val="20000"/>
                      <a:lumOff val="80000"/>
                    </a:schemeClr>
                  </a:solidFill>
                </a:rPr>
                <a:t>Frontend</a:t>
              </a:r>
            </a:p>
          </p:txBody>
        </p:sp>
        <p:cxnSp>
          <p:nvCxnSpPr>
            <p:cNvPr id="43" name="Straight Arrow Connector 42">
              <a:extLst>
                <a:ext uri="{FF2B5EF4-FFF2-40B4-BE49-F238E27FC236}">
                  <a16:creationId xmlns:a16="http://schemas.microsoft.com/office/drawing/2014/main" id="{7969931A-4153-F97F-9FDC-6A232750A29D}"/>
                </a:ext>
              </a:extLst>
            </p:cNvPr>
            <p:cNvCxnSpPr>
              <a:cxnSpLocks/>
              <a:stCxn id="44" idx="2"/>
              <a:endCxn id="47" idx="0"/>
            </p:cNvCxnSpPr>
            <p:nvPr/>
          </p:nvCxnSpPr>
          <p:spPr>
            <a:xfrm flipH="1">
              <a:off x="8112888" y="1720528"/>
              <a:ext cx="9141" cy="1135351"/>
            </a:xfrm>
            <a:prstGeom prst="straightConnector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04648254-CCF5-75AC-2232-5951712313EF}"/>
                </a:ext>
              </a:extLst>
            </p:cNvPr>
            <p:cNvSpPr/>
            <p:nvPr/>
          </p:nvSpPr>
          <p:spPr>
            <a:xfrm>
              <a:off x="7390699" y="973997"/>
              <a:ext cx="1462660" cy="746532"/>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45" name="Rectangle: Rounded Corners 44">
              <a:extLst>
                <a:ext uri="{FF2B5EF4-FFF2-40B4-BE49-F238E27FC236}">
                  <a16:creationId xmlns:a16="http://schemas.microsoft.com/office/drawing/2014/main" id="{D50D6922-BACC-2DBB-3238-739EEDBF0452}"/>
                </a:ext>
              </a:extLst>
            </p:cNvPr>
            <p:cNvSpPr/>
            <p:nvPr/>
          </p:nvSpPr>
          <p:spPr>
            <a:xfrm>
              <a:off x="7380847" y="1452347"/>
              <a:ext cx="1415711" cy="184912"/>
            </a:xfrm>
            <a:prstGeom prst="roundRect">
              <a:avLst>
                <a:gd name="adj" fmla="val 29740"/>
              </a:avLst>
            </a:prstGeom>
            <a:solidFill>
              <a:schemeClr val="bg1"/>
            </a:solidFill>
            <a:ln w="1270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lumMod val="20000"/>
                    <a:lumOff val="80000"/>
                  </a:schemeClr>
                </a:solidFill>
              </a:endParaRPr>
            </a:p>
          </p:txBody>
        </p:sp>
        <p:sp>
          <p:nvSpPr>
            <p:cNvPr id="46" name="Rectangle: Rounded Corners 45">
              <a:extLst>
                <a:ext uri="{FF2B5EF4-FFF2-40B4-BE49-F238E27FC236}">
                  <a16:creationId xmlns:a16="http://schemas.microsoft.com/office/drawing/2014/main" id="{83D9FD95-E79E-AF3A-DFEA-480F3A674A26}"/>
                </a:ext>
              </a:extLst>
            </p:cNvPr>
            <p:cNvSpPr/>
            <p:nvPr/>
          </p:nvSpPr>
          <p:spPr>
            <a:xfrm>
              <a:off x="7340647" y="1406866"/>
              <a:ext cx="1415711" cy="184912"/>
            </a:xfrm>
            <a:prstGeom prst="roundRect">
              <a:avLst>
                <a:gd name="adj" fmla="val 29740"/>
              </a:avLst>
            </a:prstGeom>
            <a:solidFill>
              <a:schemeClr val="bg1"/>
            </a:solidFill>
            <a:ln w="1270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lumMod val="20000"/>
                    <a:lumOff val="80000"/>
                  </a:schemeClr>
                </a:solidFill>
              </a:endParaRPr>
            </a:p>
          </p:txBody>
        </p:sp>
        <p:sp>
          <p:nvSpPr>
            <p:cNvPr id="47" name="Rectangle: Rounded Corners 46">
              <a:extLst>
                <a:ext uri="{FF2B5EF4-FFF2-40B4-BE49-F238E27FC236}">
                  <a16:creationId xmlns:a16="http://schemas.microsoft.com/office/drawing/2014/main" id="{E47BCE4A-837A-C172-6871-C4BE138B2B5D}"/>
                </a:ext>
              </a:extLst>
            </p:cNvPr>
            <p:cNvSpPr/>
            <p:nvPr/>
          </p:nvSpPr>
          <p:spPr>
            <a:xfrm>
              <a:off x="7390699" y="2855880"/>
              <a:ext cx="1444377" cy="732338"/>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48" name="TextBox 47">
              <a:extLst>
                <a:ext uri="{FF2B5EF4-FFF2-40B4-BE49-F238E27FC236}">
                  <a16:creationId xmlns:a16="http://schemas.microsoft.com/office/drawing/2014/main" id="{7AB5FDA1-F59F-3B7D-0B79-3D919A24CB07}"/>
                </a:ext>
              </a:extLst>
            </p:cNvPr>
            <p:cNvSpPr txBox="1"/>
            <p:nvPr/>
          </p:nvSpPr>
          <p:spPr>
            <a:xfrm>
              <a:off x="7567930" y="2908899"/>
              <a:ext cx="1061509" cy="261610"/>
            </a:xfrm>
            <a:prstGeom prst="rect">
              <a:avLst/>
            </a:prstGeom>
            <a:noFill/>
          </p:spPr>
          <p:txBody>
            <a:bodyPr wrap="none" rtlCol="0">
              <a:spAutoFit/>
            </a:bodyPr>
            <a:lstStyle/>
            <a:p>
              <a:pPr algn="ctr" defTabSz="274320"/>
              <a:r>
                <a:rPr lang="en-US" sz="1100" dirty="0">
                  <a:solidFill>
                    <a:schemeClr val="tx1">
                      <a:lumMod val="20000"/>
                      <a:lumOff val="80000"/>
                    </a:schemeClr>
                  </a:solidFill>
                </a:rPr>
                <a:t>SLIMS Server</a:t>
              </a:r>
            </a:p>
          </p:txBody>
        </p:sp>
        <p:sp>
          <p:nvSpPr>
            <p:cNvPr id="49" name="TextBox 48">
              <a:extLst>
                <a:ext uri="{FF2B5EF4-FFF2-40B4-BE49-F238E27FC236}">
                  <a16:creationId xmlns:a16="http://schemas.microsoft.com/office/drawing/2014/main" id="{A00F2A18-7B8D-015F-C8D1-C7A85F8C7BAB}"/>
                </a:ext>
              </a:extLst>
            </p:cNvPr>
            <p:cNvSpPr txBox="1"/>
            <p:nvPr/>
          </p:nvSpPr>
          <p:spPr>
            <a:xfrm>
              <a:off x="7515225" y="1081872"/>
              <a:ext cx="1086387" cy="261610"/>
            </a:xfrm>
            <a:prstGeom prst="rect">
              <a:avLst/>
            </a:prstGeom>
            <a:noFill/>
          </p:spPr>
          <p:txBody>
            <a:bodyPr wrap="square" rtlCol="0">
              <a:spAutoFit/>
            </a:bodyPr>
            <a:lstStyle/>
            <a:p>
              <a:pPr algn="ctr" defTabSz="274320"/>
              <a:r>
                <a:rPr lang="en-US" sz="1100" dirty="0">
                  <a:solidFill>
                    <a:schemeClr val="tx1">
                      <a:lumMod val="20000"/>
                      <a:lumOff val="80000"/>
                    </a:schemeClr>
                  </a:solidFill>
                </a:rPr>
                <a:t>SLIMS Client</a:t>
              </a:r>
            </a:p>
          </p:txBody>
        </p:sp>
        <p:sp>
          <p:nvSpPr>
            <p:cNvPr id="50" name="TextBox 49">
              <a:extLst>
                <a:ext uri="{FF2B5EF4-FFF2-40B4-BE49-F238E27FC236}">
                  <a16:creationId xmlns:a16="http://schemas.microsoft.com/office/drawing/2014/main" id="{B02DE229-7ACF-3645-A535-F601D272FBF8}"/>
                </a:ext>
              </a:extLst>
            </p:cNvPr>
            <p:cNvSpPr txBox="1"/>
            <p:nvPr/>
          </p:nvSpPr>
          <p:spPr>
            <a:xfrm>
              <a:off x="7255226" y="1387574"/>
              <a:ext cx="1586551" cy="215444"/>
            </a:xfrm>
            <a:prstGeom prst="rect">
              <a:avLst/>
            </a:prstGeom>
            <a:noFill/>
            <a:ln>
              <a:noFill/>
            </a:ln>
          </p:spPr>
          <p:txBody>
            <a:bodyPr wrap="square" rtlCol="0">
              <a:spAutoFit/>
            </a:bodyPr>
            <a:lstStyle/>
            <a:p>
              <a:pPr algn="ctr" defTabSz="274320"/>
              <a:r>
                <a:rPr lang="en-US" sz="800" dirty="0">
                  <a:solidFill>
                    <a:schemeClr val="tx1">
                      <a:lumMod val="20000"/>
                      <a:lumOff val="80000"/>
                    </a:schemeClr>
                  </a:solidFill>
                </a:rPr>
                <a:t>SLIMS GUI Plugins (</a:t>
              </a:r>
              <a:r>
                <a:rPr lang="en-US" sz="800" dirty="0" err="1">
                  <a:solidFill>
                    <a:schemeClr val="tx1">
                      <a:lumMod val="20000"/>
                      <a:lumOff val="80000"/>
                    </a:schemeClr>
                  </a:solidFill>
                </a:rPr>
                <a:t>Vaadin</a:t>
              </a:r>
              <a:r>
                <a:rPr lang="en-US" sz="800" dirty="0">
                  <a:solidFill>
                    <a:schemeClr val="tx1">
                      <a:lumMod val="20000"/>
                      <a:lumOff val="80000"/>
                    </a:schemeClr>
                  </a:solidFill>
                </a:rPr>
                <a:t>)</a:t>
              </a:r>
            </a:p>
          </p:txBody>
        </p:sp>
        <p:sp>
          <p:nvSpPr>
            <p:cNvPr id="51" name="Rectangle: Rounded Corners 50">
              <a:extLst>
                <a:ext uri="{FF2B5EF4-FFF2-40B4-BE49-F238E27FC236}">
                  <a16:creationId xmlns:a16="http://schemas.microsoft.com/office/drawing/2014/main" id="{2FD67308-BA78-2141-4B3F-53B5A9FD0404}"/>
                </a:ext>
              </a:extLst>
            </p:cNvPr>
            <p:cNvSpPr/>
            <p:nvPr/>
          </p:nvSpPr>
          <p:spPr>
            <a:xfrm>
              <a:off x="7650791" y="3169916"/>
              <a:ext cx="867179" cy="373846"/>
            </a:xfrm>
            <a:prstGeom prst="roundRect">
              <a:avLst>
                <a:gd name="adj" fmla="val 29740"/>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20000"/>
                    <a:lumOff val="80000"/>
                  </a:schemeClr>
                </a:solidFill>
              </a:endParaRPr>
            </a:p>
          </p:txBody>
        </p:sp>
        <p:sp>
          <p:nvSpPr>
            <p:cNvPr id="52" name="TextBox 51">
              <a:extLst>
                <a:ext uri="{FF2B5EF4-FFF2-40B4-BE49-F238E27FC236}">
                  <a16:creationId xmlns:a16="http://schemas.microsoft.com/office/drawing/2014/main" id="{A33AE909-7115-ED82-33D8-1B9A2A898BC0}"/>
                </a:ext>
              </a:extLst>
            </p:cNvPr>
            <p:cNvSpPr txBox="1"/>
            <p:nvPr/>
          </p:nvSpPr>
          <p:spPr>
            <a:xfrm>
              <a:off x="7624729" y="3168794"/>
              <a:ext cx="917114" cy="392415"/>
            </a:xfrm>
            <a:prstGeom prst="rect">
              <a:avLst/>
            </a:prstGeom>
            <a:noFill/>
          </p:spPr>
          <p:txBody>
            <a:bodyPr wrap="square" rtlCol="0">
              <a:spAutoFit/>
            </a:bodyPr>
            <a:lstStyle/>
            <a:p>
              <a:pPr algn="ctr" defTabSz="274320"/>
              <a:r>
                <a:rPr lang="en-US" sz="1050" dirty="0">
                  <a:solidFill>
                    <a:schemeClr val="tx1">
                      <a:lumMod val="20000"/>
                      <a:lumOff val="80000"/>
                    </a:schemeClr>
                  </a:solidFill>
                </a:rPr>
                <a:t>SLIMS Rest</a:t>
              </a:r>
            </a:p>
            <a:p>
              <a:pPr algn="ctr" defTabSz="274320"/>
              <a:r>
                <a:rPr lang="en-US" sz="900" dirty="0">
                  <a:solidFill>
                    <a:schemeClr val="tx1">
                      <a:lumMod val="20000"/>
                      <a:lumOff val="80000"/>
                    </a:schemeClr>
                  </a:solidFill>
                </a:rPr>
                <a:t>(Rest-API)</a:t>
              </a:r>
            </a:p>
          </p:txBody>
        </p:sp>
        <p:cxnSp>
          <p:nvCxnSpPr>
            <p:cNvPr id="53" name="Straight Arrow Connector 52">
              <a:extLst>
                <a:ext uri="{FF2B5EF4-FFF2-40B4-BE49-F238E27FC236}">
                  <a16:creationId xmlns:a16="http://schemas.microsoft.com/office/drawing/2014/main" id="{1EC48491-2BDD-D06C-712F-C22C970D59E5}"/>
                </a:ext>
              </a:extLst>
            </p:cNvPr>
            <p:cNvCxnSpPr>
              <a:cxnSpLocks/>
              <a:stCxn id="18" idx="2"/>
              <a:endCxn id="52" idx="3"/>
            </p:cNvCxnSpPr>
            <p:nvPr/>
          </p:nvCxnSpPr>
          <p:spPr>
            <a:xfrm flipH="1">
              <a:off x="8541843" y="2403457"/>
              <a:ext cx="421341" cy="961545"/>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109">
              <a:extLst>
                <a:ext uri="{FF2B5EF4-FFF2-40B4-BE49-F238E27FC236}">
                  <a16:creationId xmlns:a16="http://schemas.microsoft.com/office/drawing/2014/main" id="{80281BCA-07A1-AF11-790C-0940225AC38D}"/>
                </a:ext>
              </a:extLst>
            </p:cNvPr>
            <p:cNvCxnSpPr>
              <a:cxnSpLocks/>
              <a:stCxn id="34" idx="2"/>
              <a:endCxn id="52" idx="1"/>
            </p:cNvCxnSpPr>
            <p:nvPr/>
          </p:nvCxnSpPr>
          <p:spPr>
            <a:xfrm>
              <a:off x="6799341" y="2403458"/>
              <a:ext cx="825388" cy="961544"/>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5" name="Connector: Elbow 109">
              <a:extLst>
                <a:ext uri="{FF2B5EF4-FFF2-40B4-BE49-F238E27FC236}">
                  <a16:creationId xmlns:a16="http://schemas.microsoft.com/office/drawing/2014/main" id="{2C73BFEB-E98E-449B-7CDA-3CF6EF04A5F0}"/>
                </a:ext>
              </a:extLst>
            </p:cNvPr>
            <p:cNvCxnSpPr>
              <a:cxnSpLocks/>
              <a:stCxn id="40" idx="2"/>
              <a:endCxn id="37" idx="0"/>
            </p:cNvCxnSpPr>
            <p:nvPr/>
          </p:nvCxnSpPr>
          <p:spPr>
            <a:xfrm>
              <a:off x="5113052" y="2403457"/>
              <a:ext cx="6238" cy="617740"/>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D330FD3-FF53-0580-AAAD-5F3A01B66CC1}"/>
                </a:ext>
              </a:extLst>
            </p:cNvPr>
            <p:cNvCxnSpPr>
              <a:cxnSpLocks/>
              <a:stCxn id="32" idx="2"/>
            </p:cNvCxnSpPr>
            <p:nvPr/>
          </p:nvCxnSpPr>
          <p:spPr>
            <a:xfrm>
              <a:off x="6501589" y="3480871"/>
              <a:ext cx="0" cy="4671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417D92-1189-3FDC-7E76-8BCF32EDB0F8}"/>
                </a:ext>
              </a:extLst>
            </p:cNvPr>
            <p:cNvCxnSpPr>
              <a:cxnSpLocks/>
            </p:cNvCxnSpPr>
            <p:nvPr/>
          </p:nvCxnSpPr>
          <p:spPr>
            <a:xfrm>
              <a:off x="8112888" y="3594611"/>
              <a:ext cx="0" cy="3534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6611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9" name="Rectangle 8">
            <a:extLst>
              <a:ext uri="{FF2B5EF4-FFF2-40B4-BE49-F238E27FC236}">
                <a16:creationId xmlns:a16="http://schemas.microsoft.com/office/drawing/2014/main" id="{B63E3953-54B8-493C-BE01-4A7A33453D5D}"/>
              </a:ext>
            </a:extLst>
          </p:cNvPr>
          <p:cNvSpPr/>
          <p:nvPr/>
        </p:nvSpPr>
        <p:spPr>
          <a:xfrm>
            <a:off x="5327081" y="3890424"/>
            <a:ext cx="2824181" cy="162486"/>
          </a:xfrm>
          <a:prstGeom prst="rect">
            <a:avLst/>
          </a:prstGeom>
          <a:solidFill>
            <a:schemeClr val="bg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5F3B1DF2-57EF-4B1D-86C9-4BEC5B91EC30}"/>
              </a:ext>
            </a:extLst>
          </p:cNvPr>
          <p:cNvSpPr/>
          <p:nvPr/>
        </p:nvSpPr>
        <p:spPr>
          <a:xfrm>
            <a:off x="8162988" y="3878215"/>
            <a:ext cx="1161836" cy="190055"/>
          </a:xfrm>
          <a:prstGeom prst="rect">
            <a:avLst/>
          </a:prstGeom>
          <a:solidFill>
            <a:schemeClr val="bg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691E263-8A48-4487-9F33-49426704FBDF}"/>
              </a:ext>
            </a:extLst>
          </p:cNvPr>
          <p:cNvSpPr/>
          <p:nvPr/>
        </p:nvSpPr>
        <p:spPr>
          <a:xfrm>
            <a:off x="8174476" y="2604370"/>
            <a:ext cx="1152404" cy="221169"/>
          </a:xfrm>
          <a:prstGeom prst="rect">
            <a:avLst/>
          </a:prstGeom>
          <a:solidFill>
            <a:schemeClr val="bg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FC44B7A-80B8-4B24-A5F1-E46EFC177E79}"/>
              </a:ext>
            </a:extLst>
          </p:cNvPr>
          <p:cNvSpPr/>
          <p:nvPr/>
        </p:nvSpPr>
        <p:spPr>
          <a:xfrm>
            <a:off x="6936378" y="2604369"/>
            <a:ext cx="1229627" cy="190055"/>
          </a:xfrm>
          <a:prstGeom prst="rect">
            <a:avLst/>
          </a:prstGeom>
          <a:solidFill>
            <a:schemeClr val="bg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56DA2BA-954D-4718-AA41-92481615D62D}"/>
              </a:ext>
            </a:extLst>
          </p:cNvPr>
          <p:cNvSpPr/>
          <p:nvPr/>
        </p:nvSpPr>
        <p:spPr>
          <a:xfrm>
            <a:off x="6936378" y="3719963"/>
            <a:ext cx="1211334" cy="190055"/>
          </a:xfrm>
          <a:prstGeom prst="rect">
            <a:avLst/>
          </a:prstGeom>
          <a:solidFill>
            <a:schemeClr val="bg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CC9F0D84-6A21-4809-8177-380F8547D381}"/>
              </a:ext>
            </a:extLst>
          </p:cNvPr>
          <p:cNvSpPr/>
          <p:nvPr/>
        </p:nvSpPr>
        <p:spPr>
          <a:xfrm>
            <a:off x="8190413" y="3735333"/>
            <a:ext cx="1229627" cy="190055"/>
          </a:xfrm>
          <a:prstGeom prst="rect">
            <a:avLst/>
          </a:prstGeom>
          <a:solidFill>
            <a:schemeClr val="bg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Google Shape;260;g5baac50a1a_0_182">
            <a:extLst>
              <a:ext uri="{FF2B5EF4-FFF2-40B4-BE49-F238E27FC236}">
                <a16:creationId xmlns:a16="http://schemas.microsoft.com/office/drawing/2014/main" id="{05DBDEF5-C280-495F-AB78-7B91C8F96C74}"/>
              </a:ext>
            </a:extLst>
          </p:cNvPr>
          <p:cNvPicPr preferRelativeResize="0"/>
          <p:nvPr/>
        </p:nvPicPr>
        <p:blipFill rotWithShape="1">
          <a:blip r:embed="rId3">
            <a:alphaModFix/>
            <a:duotone>
              <a:prstClr val="black"/>
              <a:schemeClr val="tx2">
                <a:tint val="45000"/>
                <a:satMod val="400000"/>
              </a:schemeClr>
            </a:duotone>
          </a:blip>
          <a:srcRect t="14312"/>
          <a:stretch/>
        </p:blipFill>
        <p:spPr>
          <a:xfrm>
            <a:off x="9564562" y="3717844"/>
            <a:ext cx="1123825" cy="1193599"/>
          </a:xfrm>
          <a:prstGeom prst="rect">
            <a:avLst/>
          </a:prstGeom>
          <a:noFill/>
          <a:ln>
            <a:noFill/>
          </a:ln>
        </p:spPr>
      </p:pic>
      <p:pic>
        <p:nvPicPr>
          <p:cNvPr id="18" name="Google Shape;262;g5baac50a1a_0_182">
            <a:extLst>
              <a:ext uri="{FF2B5EF4-FFF2-40B4-BE49-F238E27FC236}">
                <a16:creationId xmlns:a16="http://schemas.microsoft.com/office/drawing/2014/main" id="{44D1D707-D826-40A7-9F93-235262ECD061}"/>
              </a:ext>
            </a:extLst>
          </p:cNvPr>
          <p:cNvPicPr preferRelativeResize="0"/>
          <p:nvPr/>
        </p:nvPicPr>
        <p:blipFill rotWithShape="1">
          <a:blip r:embed="rId4">
            <a:alphaModFix/>
            <a:extLst>
              <a:ext uri="{BEBA8EAE-BF5A-486C-A8C5-ECC9F3942E4B}">
                <a14:imgProps xmlns:a14="http://schemas.microsoft.com/office/drawing/2010/main">
                  <a14:imgLayer r:embed="rId5">
                    <a14:imgEffect>
                      <a14:colorTemperature colorTemp="11200"/>
                    </a14:imgEffect>
                  </a14:imgLayer>
                </a14:imgProps>
              </a:ext>
            </a:extLst>
          </a:blip>
          <a:srcRect t="15582"/>
          <a:stretch/>
        </p:blipFill>
        <p:spPr>
          <a:xfrm>
            <a:off x="6113662" y="3735333"/>
            <a:ext cx="1123826" cy="1176403"/>
          </a:xfrm>
          <a:prstGeom prst="rect">
            <a:avLst/>
          </a:prstGeom>
          <a:noFill/>
          <a:ln>
            <a:noFill/>
          </a:ln>
        </p:spPr>
      </p:pic>
      <p:sp>
        <p:nvSpPr>
          <p:cNvPr id="19" name="Google Shape;263;g5baac50a1a_0_182">
            <a:extLst>
              <a:ext uri="{FF2B5EF4-FFF2-40B4-BE49-F238E27FC236}">
                <a16:creationId xmlns:a16="http://schemas.microsoft.com/office/drawing/2014/main" id="{16ED1DCE-F0E3-4764-97EA-A3869727D95C}"/>
              </a:ext>
            </a:extLst>
          </p:cNvPr>
          <p:cNvSpPr/>
          <p:nvPr/>
        </p:nvSpPr>
        <p:spPr>
          <a:xfrm>
            <a:off x="5672662" y="2588936"/>
            <a:ext cx="5456700" cy="2512500"/>
          </a:xfrm>
          <a:prstGeom prst="rect">
            <a:avLst/>
          </a:prstGeom>
          <a:noFill/>
          <a:ln w="19050" cap="flat" cmpd="sng">
            <a:solidFill>
              <a:srgbClr val="4FCCD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64;g5baac50a1a_0_182">
            <a:extLst>
              <a:ext uri="{FF2B5EF4-FFF2-40B4-BE49-F238E27FC236}">
                <a16:creationId xmlns:a16="http://schemas.microsoft.com/office/drawing/2014/main" id="{FB609542-17C4-4F9E-8124-F6ECD9C568C3}"/>
              </a:ext>
            </a:extLst>
          </p:cNvPr>
          <p:cNvSpPr txBox="1"/>
          <p:nvPr/>
        </p:nvSpPr>
        <p:spPr>
          <a:xfrm>
            <a:off x="7339437" y="2786337"/>
            <a:ext cx="2307711" cy="93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dirty="0">
                <a:solidFill>
                  <a:schemeClr val="accent4"/>
                </a:solidFill>
                <a:latin typeface="+mj-lt"/>
                <a:ea typeface="Open Sans"/>
                <a:cs typeface="Open Sans"/>
                <a:sym typeface="Open Sans"/>
              </a:rPr>
              <a:t>SLIMS/SLIMSGATE</a:t>
            </a:r>
            <a:endParaRPr b="1" dirty="0">
              <a:solidFill>
                <a:schemeClr val="accent4"/>
              </a:solidFill>
              <a:latin typeface="+mj-lt"/>
              <a:ea typeface="Open Sans"/>
              <a:cs typeface="Open Sans"/>
              <a:sym typeface="Open Sans"/>
            </a:endParaRPr>
          </a:p>
        </p:txBody>
      </p:sp>
      <p:sp>
        <p:nvSpPr>
          <p:cNvPr id="6" name="Title 5">
            <a:extLst>
              <a:ext uri="{FF2B5EF4-FFF2-40B4-BE49-F238E27FC236}">
                <a16:creationId xmlns:a16="http://schemas.microsoft.com/office/drawing/2014/main" id="{97528757-C0A0-4550-903A-BF988F30AA1B}"/>
              </a:ext>
            </a:extLst>
          </p:cNvPr>
          <p:cNvSpPr>
            <a:spLocks noGrp="1"/>
          </p:cNvSpPr>
          <p:nvPr>
            <p:ph type="title"/>
          </p:nvPr>
        </p:nvSpPr>
        <p:spPr/>
        <p:txBody>
          <a:bodyPr/>
          <a:lstStyle/>
          <a:p>
            <a:r>
              <a:rPr lang="en-US" dirty="0"/>
              <a:t>SLIMS GATE - Plugin</a:t>
            </a:r>
          </a:p>
        </p:txBody>
      </p:sp>
      <p:sp>
        <p:nvSpPr>
          <p:cNvPr id="7" name="Content Placeholder 6">
            <a:extLst>
              <a:ext uri="{FF2B5EF4-FFF2-40B4-BE49-F238E27FC236}">
                <a16:creationId xmlns:a16="http://schemas.microsoft.com/office/drawing/2014/main" id="{427EA8D3-730C-434B-B49D-2683AD1F4C73}"/>
              </a:ext>
            </a:extLst>
          </p:cNvPr>
          <p:cNvSpPr>
            <a:spLocks noGrp="1"/>
          </p:cNvSpPr>
          <p:nvPr>
            <p:ph sz="half" idx="1"/>
          </p:nvPr>
        </p:nvSpPr>
        <p:spPr/>
        <p:txBody>
          <a:bodyPr>
            <a:normAutofit fontScale="92500" lnSpcReduction="10000"/>
          </a:bodyPr>
          <a:lstStyle/>
          <a:p>
            <a:r>
              <a:rPr lang="en-US" dirty="0">
                <a:sym typeface="Open Sans"/>
              </a:rPr>
              <a:t>This is the </a:t>
            </a:r>
            <a:r>
              <a:rPr lang="en-US" b="1" dirty="0">
                <a:sym typeface="Open Sans"/>
              </a:rPr>
              <a:t>public API </a:t>
            </a:r>
            <a:r>
              <a:rPr lang="en-US" dirty="0">
                <a:sym typeface="Open Sans"/>
              </a:rPr>
              <a:t>part of SLIMS GATE.</a:t>
            </a:r>
            <a:endParaRPr lang="en-CH" dirty="0">
              <a:sym typeface="Open Sans"/>
            </a:endParaRPr>
          </a:p>
          <a:p>
            <a:endParaRPr lang="en-US" dirty="0">
              <a:sym typeface="Open Sans"/>
            </a:endParaRPr>
          </a:p>
          <a:p>
            <a:pPr marL="0" lvl="1" indent="0">
              <a:buNone/>
            </a:pPr>
            <a:r>
              <a:rPr lang="en-US" dirty="0">
                <a:sym typeface="Open Sans"/>
              </a:rPr>
              <a:t>Plugin structure in the UI to upload a plugin that is </a:t>
            </a:r>
            <a:r>
              <a:rPr lang="en-US" b="1" dirty="0">
                <a:sym typeface="Open Sans"/>
              </a:rPr>
              <a:t>run by SLIMS GATE.</a:t>
            </a:r>
            <a:endParaRPr lang="en-CH" b="1" dirty="0">
              <a:sym typeface="Open Sans"/>
            </a:endParaRPr>
          </a:p>
          <a:p>
            <a:pPr lvl="1"/>
            <a:endParaRPr lang="en-CH" dirty="0">
              <a:sym typeface="Open Sans"/>
            </a:endParaRPr>
          </a:p>
          <a:p>
            <a:pPr marL="0" lvl="1" indent="0">
              <a:buNone/>
            </a:pPr>
            <a:r>
              <a:rPr lang="en-US" dirty="0">
                <a:sym typeface="Open Sans"/>
              </a:rPr>
              <a:t>Configurable and manageable via the SLIMS application. </a:t>
            </a:r>
          </a:p>
          <a:p>
            <a:pPr lvl="1"/>
            <a:r>
              <a:rPr lang="en-US" b="1" dirty="0">
                <a:sym typeface="Open Sans"/>
              </a:rPr>
              <a:t>Independent from each other</a:t>
            </a:r>
            <a:endParaRPr lang="en-CH" b="1" dirty="0">
              <a:sym typeface="Open Sans"/>
            </a:endParaRPr>
          </a:p>
          <a:p>
            <a:pPr lvl="1"/>
            <a:endParaRPr lang="en-CH" dirty="0">
              <a:sym typeface="Open Sans"/>
            </a:endParaRPr>
          </a:p>
          <a:p>
            <a:r>
              <a:rPr lang="en-US" i="1" dirty="0">
                <a:sym typeface="Open Sans"/>
              </a:rPr>
              <a:t>Examples of plugins</a:t>
            </a:r>
            <a:r>
              <a:rPr lang="en-CH" i="1" dirty="0">
                <a:sym typeface="Open Sans"/>
              </a:rPr>
              <a:t>:</a:t>
            </a:r>
            <a:endParaRPr lang="en-US" i="1" dirty="0">
              <a:sym typeface="Open Sans"/>
            </a:endParaRPr>
          </a:p>
          <a:p>
            <a:pPr lvl="1"/>
            <a:r>
              <a:rPr lang="en-US" i="1" dirty="0">
                <a:sym typeface="Open Sans"/>
              </a:rPr>
              <a:t>Handle the connection to a specific instrument</a:t>
            </a:r>
          </a:p>
          <a:p>
            <a:pPr lvl="1"/>
            <a:r>
              <a:rPr lang="en-US" i="1" dirty="0">
                <a:sym typeface="Open Sans"/>
              </a:rPr>
              <a:t>Add an extra piece of business logic</a:t>
            </a:r>
          </a:p>
          <a:p>
            <a:endParaRPr lang="en-US" dirty="0"/>
          </a:p>
        </p:txBody>
      </p:sp>
      <p:pic>
        <p:nvPicPr>
          <p:cNvPr id="29" name="Google Shape;262;g5baac50a1a_0_182">
            <a:extLst>
              <a:ext uri="{FF2B5EF4-FFF2-40B4-BE49-F238E27FC236}">
                <a16:creationId xmlns:a16="http://schemas.microsoft.com/office/drawing/2014/main" id="{38170821-7670-4FC4-BBB7-CDF8124950F2}"/>
              </a:ext>
            </a:extLst>
          </p:cNvPr>
          <p:cNvPicPr preferRelativeResize="0"/>
          <p:nvPr/>
        </p:nvPicPr>
        <p:blipFill rotWithShape="1">
          <a:blip r:embed="rId6">
            <a:alphaModFix/>
            <a:extLst>
              <a:ext uri="{BEBA8EAE-BF5A-486C-A8C5-ECC9F3942E4B}">
                <a14:imgProps xmlns:a14="http://schemas.microsoft.com/office/drawing/2010/main">
                  <a14:imgLayer r:embed="rId5">
                    <a14:imgEffect>
                      <a14:colorTemperature colorTemp="4700"/>
                    </a14:imgEffect>
                  </a14:imgLayer>
                </a14:imgProps>
              </a:ext>
            </a:extLst>
          </a:blip>
          <a:srcRect t="14348"/>
          <a:stretch/>
        </p:blipFill>
        <p:spPr>
          <a:xfrm>
            <a:off x="7839099" y="3718437"/>
            <a:ext cx="1123826" cy="1193598"/>
          </a:xfrm>
          <a:prstGeom prst="rect">
            <a:avLst/>
          </a:prstGeom>
          <a:noFill/>
          <a:ln>
            <a:noFill/>
          </a:ln>
        </p:spPr>
      </p:pic>
      <p:sp>
        <p:nvSpPr>
          <p:cNvPr id="30" name="Google Shape;264;g5baac50a1a_0_182">
            <a:extLst>
              <a:ext uri="{FF2B5EF4-FFF2-40B4-BE49-F238E27FC236}">
                <a16:creationId xmlns:a16="http://schemas.microsoft.com/office/drawing/2014/main" id="{5A652EB0-D1F5-4D1C-BE7A-5E0BBF645079}"/>
              </a:ext>
            </a:extLst>
          </p:cNvPr>
          <p:cNvSpPr txBox="1"/>
          <p:nvPr/>
        </p:nvSpPr>
        <p:spPr>
          <a:xfrm>
            <a:off x="6110112" y="3344104"/>
            <a:ext cx="1123826" cy="403057"/>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dirty="0">
                <a:solidFill>
                  <a:schemeClr val="bg1">
                    <a:lumMod val="65000"/>
                  </a:schemeClr>
                </a:solidFill>
                <a:latin typeface="+mj-lt"/>
                <a:ea typeface="Open Sans"/>
                <a:cs typeface="Open Sans"/>
                <a:sym typeface="Open Sans"/>
              </a:rPr>
              <a:t>PLUGIN</a:t>
            </a:r>
            <a:endParaRPr b="1" dirty="0">
              <a:solidFill>
                <a:schemeClr val="bg1">
                  <a:lumMod val="65000"/>
                </a:schemeClr>
              </a:solidFill>
              <a:latin typeface="+mj-lt"/>
              <a:ea typeface="Open Sans"/>
              <a:cs typeface="Open Sans"/>
              <a:sym typeface="Open Sans"/>
            </a:endParaRPr>
          </a:p>
        </p:txBody>
      </p:sp>
      <p:sp>
        <p:nvSpPr>
          <p:cNvPr id="31" name="Google Shape;264;g5baac50a1a_0_182">
            <a:extLst>
              <a:ext uri="{FF2B5EF4-FFF2-40B4-BE49-F238E27FC236}">
                <a16:creationId xmlns:a16="http://schemas.microsoft.com/office/drawing/2014/main" id="{042771EE-1BE9-4054-BB4B-D1155EAF3333}"/>
              </a:ext>
            </a:extLst>
          </p:cNvPr>
          <p:cNvSpPr txBox="1"/>
          <p:nvPr/>
        </p:nvSpPr>
        <p:spPr>
          <a:xfrm>
            <a:off x="7842878" y="3323467"/>
            <a:ext cx="1123826" cy="403057"/>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dirty="0">
                <a:solidFill>
                  <a:schemeClr val="bg1">
                    <a:lumMod val="65000"/>
                  </a:schemeClr>
                </a:solidFill>
                <a:latin typeface="+mj-lt"/>
                <a:ea typeface="Open Sans"/>
                <a:cs typeface="Open Sans"/>
                <a:sym typeface="Open Sans"/>
              </a:rPr>
              <a:t>PLUGIN</a:t>
            </a:r>
            <a:endParaRPr b="1" dirty="0">
              <a:solidFill>
                <a:schemeClr val="bg1">
                  <a:lumMod val="65000"/>
                </a:schemeClr>
              </a:solidFill>
              <a:latin typeface="+mj-lt"/>
              <a:ea typeface="Open Sans"/>
              <a:cs typeface="Open Sans"/>
              <a:sym typeface="Open Sans"/>
            </a:endParaRPr>
          </a:p>
        </p:txBody>
      </p:sp>
      <p:sp>
        <p:nvSpPr>
          <p:cNvPr id="32" name="Google Shape;264;g5baac50a1a_0_182">
            <a:extLst>
              <a:ext uri="{FF2B5EF4-FFF2-40B4-BE49-F238E27FC236}">
                <a16:creationId xmlns:a16="http://schemas.microsoft.com/office/drawing/2014/main" id="{B9E2D56D-ED6E-41A1-8A34-45ABD1440F85}"/>
              </a:ext>
            </a:extLst>
          </p:cNvPr>
          <p:cNvSpPr txBox="1"/>
          <p:nvPr/>
        </p:nvSpPr>
        <p:spPr>
          <a:xfrm>
            <a:off x="9559278" y="3332276"/>
            <a:ext cx="1123826" cy="403057"/>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dirty="0">
                <a:solidFill>
                  <a:schemeClr val="bg1">
                    <a:lumMod val="65000"/>
                  </a:schemeClr>
                </a:solidFill>
                <a:latin typeface="+mj-lt"/>
                <a:ea typeface="Open Sans"/>
                <a:cs typeface="Open Sans"/>
                <a:sym typeface="Open Sans"/>
              </a:rPr>
              <a:t>PLUGIN</a:t>
            </a:r>
            <a:endParaRPr b="1" dirty="0">
              <a:solidFill>
                <a:schemeClr val="bg1">
                  <a:lumMod val="65000"/>
                </a:schemeClr>
              </a:solidFill>
              <a:latin typeface="+mj-lt"/>
              <a:ea typeface="Open Sans"/>
              <a:cs typeface="Open Sans"/>
              <a:sym typeface="Open Sans"/>
            </a:endParaRPr>
          </a:p>
        </p:txBody>
      </p:sp>
    </p:spTree>
    <p:extLst>
      <p:ext uri="{BB962C8B-B14F-4D97-AF65-F5344CB8AC3E}">
        <p14:creationId xmlns:p14="http://schemas.microsoft.com/office/powerpoint/2010/main" val="3545598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CADB997-8020-4813-B1E9-84C2E31D75C0}"/>
              </a:ext>
            </a:extLst>
          </p:cNvPr>
          <p:cNvSpPr>
            <a:spLocks noGrp="1"/>
          </p:cNvSpPr>
          <p:nvPr>
            <p:ph idx="1"/>
          </p:nvPr>
        </p:nvSpPr>
        <p:spPr/>
        <p:txBody>
          <a:bodyPr>
            <a:normAutofit/>
          </a:bodyPr>
          <a:lstStyle/>
          <a:p>
            <a:pPr marL="457200" indent="-457200">
              <a:buFont typeface="+mj-lt"/>
              <a:buAutoNum type="arabicPeriod"/>
            </a:pPr>
            <a:r>
              <a:rPr lang="en-US"/>
              <a:t>Download </a:t>
            </a:r>
            <a:r>
              <a:rPr lang="en-US" dirty="0" err="1"/>
              <a:t>github</a:t>
            </a:r>
            <a:r>
              <a:rPr lang="en-US" dirty="0"/>
              <a:t> repository</a:t>
            </a:r>
          </a:p>
          <a:p>
            <a:pPr marL="457200" indent="-457200">
              <a:buFont typeface="+mj-lt"/>
              <a:buAutoNum type="arabicPeriod"/>
            </a:pPr>
            <a:r>
              <a:rPr lang="en-US" dirty="0">
                <a:latin typeface="+mj-lt"/>
                <a:cs typeface="Courier New" panose="02070309020205020404" pitchFamily="49" charset="0"/>
              </a:rPr>
              <a:t>Add </a:t>
            </a:r>
            <a:r>
              <a:rPr lang="en-US" dirty="0" err="1">
                <a:latin typeface="+mj-lt"/>
                <a:cs typeface="Courier New" panose="02070309020205020404" pitchFamily="49" charset="0"/>
              </a:rPr>
              <a:t>gradle.properties</a:t>
            </a:r>
            <a:r>
              <a:rPr lang="en-US" dirty="0">
                <a:latin typeface="+mj-lt"/>
                <a:cs typeface="Courier New" panose="02070309020205020404" pitchFamily="49" charset="0"/>
              </a:rPr>
              <a:t> in ~/.</a:t>
            </a:r>
            <a:r>
              <a:rPr lang="en-US" dirty="0" err="1">
                <a:latin typeface="+mj-lt"/>
                <a:cs typeface="Courier New" panose="02070309020205020404" pitchFamily="49" charset="0"/>
              </a:rPr>
              <a:t>gradle</a:t>
            </a:r>
            <a:r>
              <a:rPr lang="en-US" dirty="0">
                <a:latin typeface="+mj-lt"/>
                <a:cs typeface="Courier New" panose="02070309020205020404" pitchFamily="49" charset="0"/>
              </a:rPr>
              <a:t>/</a:t>
            </a:r>
            <a:r>
              <a:rPr lang="en-US" dirty="0" err="1">
                <a:latin typeface="+mj-lt"/>
                <a:cs typeface="Courier New" panose="02070309020205020404" pitchFamily="49" charset="0"/>
              </a:rPr>
              <a:t>gradle.properties</a:t>
            </a:r>
            <a:endParaRPr lang="en-US" dirty="0">
              <a:latin typeface="+mj-lt"/>
              <a:cs typeface="Courier New" panose="02070309020205020404" pitchFamily="49" charset="0"/>
            </a:endParaRPr>
          </a:p>
          <a:p>
            <a:pPr marL="457200" indent="-457200">
              <a:buFont typeface="+mj-lt"/>
              <a:buAutoNum type="arabicPeriod"/>
            </a:pPr>
            <a:r>
              <a:rPr lang="en-US" dirty="0">
                <a:latin typeface="+mj-lt"/>
                <a:cs typeface="Courier New" panose="02070309020205020404" pitchFamily="49" charset="0"/>
              </a:rPr>
              <a:t>Set java home</a:t>
            </a:r>
          </a:p>
          <a:p>
            <a:pPr marL="457200" indent="-457200">
              <a:buFont typeface="+mj-lt"/>
              <a:buAutoNum type="arabicPeriod"/>
            </a:pPr>
            <a:r>
              <a:rPr lang="en-US" dirty="0">
                <a:latin typeface="+mj-lt"/>
                <a:cs typeface="Courier New" panose="02070309020205020404" pitchFamily="49" charset="0"/>
              </a:rPr>
              <a:t>Build the project </a:t>
            </a:r>
          </a:p>
          <a:p>
            <a:pPr lvl="1" indent="0">
              <a:buNone/>
            </a:pPr>
            <a:r>
              <a:rPr lang="en-US" dirty="0">
                <a:latin typeface="+mj-lt"/>
                <a:cs typeface="Courier New" panose="02070309020205020404" pitchFamily="49" charset="0"/>
              </a:rPr>
              <a:t>	# Eclipse</a:t>
            </a:r>
            <a:br>
              <a:rPr lang="en-US" dirty="0">
                <a:latin typeface="+mj-lt"/>
                <a:cs typeface="Courier New" panose="02070309020205020404" pitchFamily="49" charset="0"/>
              </a:rPr>
            </a:br>
            <a:r>
              <a:rPr lang="en-US" dirty="0">
                <a:latin typeface="+mj-lt"/>
                <a:cs typeface="Courier New" panose="02070309020205020404" pitchFamily="49" charset="0"/>
              </a:rPr>
              <a:t>	./</a:t>
            </a:r>
            <a:r>
              <a:rPr lang="en-US" dirty="0" err="1">
                <a:latin typeface="+mj-lt"/>
                <a:cs typeface="Courier New" panose="02070309020205020404" pitchFamily="49" charset="0"/>
              </a:rPr>
              <a:t>gradlew</a:t>
            </a:r>
            <a:r>
              <a:rPr lang="en-US" dirty="0">
                <a:latin typeface="+mj-lt"/>
                <a:cs typeface="Courier New" panose="02070309020205020404" pitchFamily="49" charset="0"/>
              </a:rPr>
              <a:t> eclipse</a:t>
            </a:r>
            <a:br>
              <a:rPr lang="en-US" dirty="0">
                <a:latin typeface="+mj-lt"/>
                <a:cs typeface="Courier New" panose="02070309020205020404" pitchFamily="49" charset="0"/>
              </a:rPr>
            </a:br>
            <a:r>
              <a:rPr lang="en-US" dirty="0">
                <a:latin typeface="+mj-lt"/>
                <a:cs typeface="Courier New" panose="02070309020205020404" pitchFamily="49" charset="0"/>
              </a:rPr>
              <a:t>	# IntelliJ</a:t>
            </a:r>
            <a:br>
              <a:rPr lang="en-US" dirty="0">
                <a:latin typeface="+mj-lt"/>
                <a:cs typeface="Courier New" panose="02070309020205020404" pitchFamily="49" charset="0"/>
              </a:rPr>
            </a:br>
            <a:r>
              <a:rPr lang="en-US" dirty="0">
                <a:latin typeface="+mj-lt"/>
                <a:cs typeface="Courier New" panose="02070309020205020404" pitchFamily="49" charset="0"/>
              </a:rPr>
              <a:t>	./</a:t>
            </a:r>
            <a:r>
              <a:rPr lang="en-US" dirty="0" err="1">
                <a:latin typeface="+mj-lt"/>
                <a:cs typeface="Courier New" panose="02070309020205020404" pitchFamily="49" charset="0"/>
              </a:rPr>
              <a:t>gradlew</a:t>
            </a:r>
            <a:r>
              <a:rPr lang="en-US" dirty="0">
                <a:latin typeface="+mj-lt"/>
                <a:cs typeface="Courier New" panose="02070309020205020404" pitchFamily="49" charset="0"/>
              </a:rPr>
              <a:t> idea</a:t>
            </a:r>
          </a:p>
          <a:p>
            <a:pPr marL="457200" indent="-457200">
              <a:buFont typeface="+mj-lt"/>
              <a:buAutoNum type="arabicPeriod"/>
            </a:pPr>
            <a:r>
              <a:rPr lang="en-US" dirty="0">
                <a:latin typeface="+mj-lt"/>
                <a:cs typeface="Courier New" panose="02070309020205020404" pitchFamily="49" charset="0"/>
              </a:rPr>
              <a:t>Import plugin projects in IDE</a:t>
            </a:r>
          </a:p>
        </p:txBody>
      </p:sp>
      <p:sp>
        <p:nvSpPr>
          <p:cNvPr id="3" name="Footer Placeholder 2">
            <a:extLst>
              <a:ext uri="{FF2B5EF4-FFF2-40B4-BE49-F238E27FC236}">
                <a16:creationId xmlns:a16="http://schemas.microsoft.com/office/drawing/2014/main" id="{6F73656B-96A0-4C95-86AF-402EA76FF6A8}"/>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CB7BB1F8-5125-421F-93E6-C467882D911A}"/>
              </a:ext>
            </a:extLst>
          </p:cNvPr>
          <p:cNvSpPr>
            <a:spLocks noGrp="1"/>
          </p:cNvSpPr>
          <p:nvPr>
            <p:ph type="sldNum" sz="quarter" idx="12"/>
          </p:nvPr>
        </p:nvSpPr>
        <p:spPr/>
        <p:txBody>
          <a:bodyPr/>
          <a:lstStyle/>
          <a:p>
            <a:fld id="{CBD803B2-A378-42BD-B5EC-F7748F169FE0}" type="slidenum">
              <a:rPr lang="en-US" smtClean="0"/>
              <a:pPr/>
              <a:t>10</a:t>
            </a:fld>
            <a:endParaRPr lang="en-US" dirty="0"/>
          </a:p>
        </p:txBody>
      </p:sp>
      <p:sp>
        <p:nvSpPr>
          <p:cNvPr id="9" name="Title 8">
            <a:extLst>
              <a:ext uri="{FF2B5EF4-FFF2-40B4-BE49-F238E27FC236}">
                <a16:creationId xmlns:a16="http://schemas.microsoft.com/office/drawing/2014/main" id="{A87EC58A-9F9E-47DC-9789-EA4F87E99EA1}"/>
              </a:ext>
            </a:extLst>
          </p:cNvPr>
          <p:cNvSpPr>
            <a:spLocks noGrp="1"/>
          </p:cNvSpPr>
          <p:nvPr>
            <p:ph type="title"/>
          </p:nvPr>
        </p:nvSpPr>
        <p:spPr/>
        <p:txBody>
          <a:bodyPr/>
          <a:lstStyle/>
          <a:p>
            <a:r>
              <a:rPr lang="en-US" dirty="0"/>
              <a:t>0. Set up the environment</a:t>
            </a:r>
          </a:p>
        </p:txBody>
      </p:sp>
      <p:sp>
        <p:nvSpPr>
          <p:cNvPr id="2" name="Date Placeholder 1">
            <a:extLst>
              <a:ext uri="{FF2B5EF4-FFF2-40B4-BE49-F238E27FC236}">
                <a16:creationId xmlns:a16="http://schemas.microsoft.com/office/drawing/2014/main" id="{3A82B947-32CD-4797-B493-FFDA9520E0B4}"/>
              </a:ext>
            </a:extLst>
          </p:cNvPr>
          <p:cNvSpPr>
            <a:spLocks noGrp="1"/>
          </p:cNvSpPr>
          <p:nvPr>
            <p:ph type="dt" sz="half" idx="10"/>
          </p:nvPr>
        </p:nvSpPr>
        <p:spPr/>
        <p:txBody>
          <a:bodyPr/>
          <a:lstStyle/>
          <a:p>
            <a:fld id="{2C360CA1-30C8-408C-A6A0-929331B07DDC}" type="datetime4">
              <a:rPr lang="en-US" smtClean="0"/>
              <a:t>February 23, 2026</a:t>
            </a:fld>
            <a:endParaRPr lang="en-US" dirty="0"/>
          </a:p>
        </p:txBody>
      </p:sp>
    </p:spTree>
    <p:extLst>
      <p:ext uri="{BB962C8B-B14F-4D97-AF65-F5344CB8AC3E}">
        <p14:creationId xmlns:p14="http://schemas.microsoft.com/office/powerpoint/2010/main" val="1668859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569CAB7-575A-4C08-8E90-508C59027446}"/>
              </a:ext>
            </a:extLst>
          </p:cNvPr>
          <p:cNvSpPr>
            <a:spLocks noGrp="1"/>
          </p:cNvSpPr>
          <p:nvPr>
            <p:ph type="title"/>
          </p:nvPr>
        </p:nvSpPr>
        <p:spPr/>
        <p:txBody>
          <a:bodyPr/>
          <a:lstStyle/>
          <a:p>
            <a:r>
              <a:rPr lang="en-US" dirty="0"/>
              <a:t>Demonstration: Say Hello Example</a:t>
            </a:r>
          </a:p>
        </p:txBody>
      </p:sp>
      <p:sp>
        <p:nvSpPr>
          <p:cNvPr id="4" name="Footer Placeholder 3">
            <a:extLst>
              <a:ext uri="{FF2B5EF4-FFF2-40B4-BE49-F238E27FC236}">
                <a16:creationId xmlns:a16="http://schemas.microsoft.com/office/drawing/2014/main" id="{30DBBDF2-7F11-4E88-BD52-486DEC88EBFB}"/>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5" name="Slide Number Placeholder 4">
            <a:extLst>
              <a:ext uri="{FF2B5EF4-FFF2-40B4-BE49-F238E27FC236}">
                <a16:creationId xmlns:a16="http://schemas.microsoft.com/office/drawing/2014/main" id="{EEF0E4D1-B3DF-42BA-87C3-59D941B01866}"/>
              </a:ext>
            </a:extLst>
          </p:cNvPr>
          <p:cNvSpPr>
            <a:spLocks noGrp="1"/>
          </p:cNvSpPr>
          <p:nvPr>
            <p:ph type="sldNum" sz="quarter" idx="12"/>
          </p:nvPr>
        </p:nvSpPr>
        <p:spPr/>
        <p:txBody>
          <a:bodyPr/>
          <a:lstStyle/>
          <a:p>
            <a:fld id="{CBD803B2-A378-42BD-B5EC-F7748F169FE0}" type="slidenum">
              <a:rPr lang="en-US" smtClean="0"/>
              <a:pPr/>
              <a:t>11</a:t>
            </a:fld>
            <a:endParaRPr lang="en-US" dirty="0"/>
          </a:p>
        </p:txBody>
      </p:sp>
      <p:pic>
        <p:nvPicPr>
          <p:cNvPr id="9" name="Picture 8">
            <a:extLst>
              <a:ext uri="{FF2B5EF4-FFF2-40B4-BE49-F238E27FC236}">
                <a16:creationId xmlns:a16="http://schemas.microsoft.com/office/drawing/2014/main" id="{2428A02A-500F-4BB6-9784-08B83CB44E37}"/>
              </a:ext>
            </a:extLst>
          </p:cNvPr>
          <p:cNvPicPr>
            <a:picLocks noChangeAspect="1"/>
          </p:cNvPicPr>
          <p:nvPr/>
        </p:nvPicPr>
        <p:blipFill>
          <a:blip r:embed="rId3"/>
          <a:stretch>
            <a:fillRect/>
          </a:stretch>
        </p:blipFill>
        <p:spPr>
          <a:xfrm>
            <a:off x="3993448" y="2888910"/>
            <a:ext cx="3904626" cy="2124576"/>
          </a:xfrm>
          <a:prstGeom prst="rect">
            <a:avLst/>
          </a:prstGeom>
        </p:spPr>
      </p:pic>
      <p:pic>
        <p:nvPicPr>
          <p:cNvPr id="10" name="Picture 9">
            <a:extLst>
              <a:ext uri="{FF2B5EF4-FFF2-40B4-BE49-F238E27FC236}">
                <a16:creationId xmlns:a16="http://schemas.microsoft.com/office/drawing/2014/main" id="{AA6A1092-84D0-4F80-9C43-9B79454576F5}"/>
              </a:ext>
            </a:extLst>
          </p:cNvPr>
          <p:cNvPicPr>
            <a:picLocks noChangeAspect="1"/>
          </p:cNvPicPr>
          <p:nvPr/>
        </p:nvPicPr>
        <p:blipFill>
          <a:blip r:embed="rId4"/>
          <a:stretch>
            <a:fillRect/>
          </a:stretch>
        </p:blipFill>
        <p:spPr>
          <a:xfrm>
            <a:off x="3993448" y="998774"/>
            <a:ext cx="4205104" cy="1830279"/>
          </a:xfrm>
          <a:prstGeom prst="rect">
            <a:avLst/>
          </a:prstGeom>
        </p:spPr>
      </p:pic>
      <p:pic>
        <p:nvPicPr>
          <p:cNvPr id="11" name="Picture 10">
            <a:extLst>
              <a:ext uri="{FF2B5EF4-FFF2-40B4-BE49-F238E27FC236}">
                <a16:creationId xmlns:a16="http://schemas.microsoft.com/office/drawing/2014/main" id="{E167F2C1-D1B7-451E-AFFA-5F8EB07CF90D}"/>
              </a:ext>
            </a:extLst>
          </p:cNvPr>
          <p:cNvPicPr>
            <a:picLocks noChangeAspect="1"/>
          </p:cNvPicPr>
          <p:nvPr/>
        </p:nvPicPr>
        <p:blipFill>
          <a:blip r:embed="rId5"/>
          <a:stretch>
            <a:fillRect/>
          </a:stretch>
        </p:blipFill>
        <p:spPr>
          <a:xfrm>
            <a:off x="3993448" y="5073343"/>
            <a:ext cx="4510554" cy="1200651"/>
          </a:xfrm>
          <a:prstGeom prst="rect">
            <a:avLst/>
          </a:prstGeom>
        </p:spPr>
      </p:pic>
    </p:spTree>
    <p:extLst>
      <p:ext uri="{BB962C8B-B14F-4D97-AF65-F5344CB8AC3E}">
        <p14:creationId xmlns:p14="http://schemas.microsoft.com/office/powerpoint/2010/main" val="1521824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DDBAB6B-D3FA-48C0-A24E-234304D11CF7}"/>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9C6E138E-1276-4AD7-9961-CC9E5361FF88}"/>
              </a:ext>
            </a:extLst>
          </p:cNvPr>
          <p:cNvSpPr>
            <a:spLocks noGrp="1"/>
          </p:cNvSpPr>
          <p:nvPr>
            <p:ph type="sldNum" sz="quarter" idx="12"/>
          </p:nvPr>
        </p:nvSpPr>
        <p:spPr/>
        <p:txBody>
          <a:bodyPr/>
          <a:lstStyle/>
          <a:p>
            <a:fld id="{CBD803B2-A378-42BD-B5EC-F7748F169FE0}" type="slidenum">
              <a:rPr lang="en-US" smtClean="0"/>
              <a:pPr/>
              <a:t>12</a:t>
            </a:fld>
            <a:endParaRPr lang="en-US" dirty="0"/>
          </a:p>
        </p:txBody>
      </p:sp>
      <p:sp>
        <p:nvSpPr>
          <p:cNvPr id="7" name="Title 6">
            <a:extLst>
              <a:ext uri="{FF2B5EF4-FFF2-40B4-BE49-F238E27FC236}">
                <a16:creationId xmlns:a16="http://schemas.microsoft.com/office/drawing/2014/main" id="{F059C16E-57C7-4C41-8E97-95EE655B9DCB}"/>
              </a:ext>
            </a:extLst>
          </p:cNvPr>
          <p:cNvSpPr>
            <a:spLocks noGrp="1"/>
          </p:cNvSpPr>
          <p:nvPr>
            <p:ph type="title"/>
          </p:nvPr>
        </p:nvSpPr>
        <p:spPr/>
        <p:txBody>
          <a:bodyPr/>
          <a:lstStyle/>
          <a:p>
            <a:r>
              <a:rPr lang="en-US" dirty="0" err="1"/>
              <a:t>settings.gradle</a:t>
            </a:r>
            <a:endParaRPr lang="en-US" dirty="0"/>
          </a:p>
        </p:txBody>
      </p:sp>
      <p:sp>
        <p:nvSpPr>
          <p:cNvPr id="8" name="Content Placeholder 7">
            <a:extLst>
              <a:ext uri="{FF2B5EF4-FFF2-40B4-BE49-F238E27FC236}">
                <a16:creationId xmlns:a16="http://schemas.microsoft.com/office/drawing/2014/main" id="{A09FD283-7DB9-4D65-BEA9-10CAD1FF691A}"/>
              </a:ext>
            </a:extLst>
          </p:cNvPr>
          <p:cNvSpPr>
            <a:spLocks noGrp="1"/>
          </p:cNvSpPr>
          <p:nvPr>
            <p:ph sz="half" idx="1"/>
          </p:nvPr>
        </p:nvSpPr>
        <p:spPr/>
        <p:txBody>
          <a:bodyPr/>
          <a:lstStyle/>
          <a:p>
            <a:r>
              <a:rPr lang="en-US" dirty="0"/>
              <a:t>Defines which projects should be included in the build.</a:t>
            </a:r>
          </a:p>
          <a:p>
            <a:pPr marL="342900" indent="-342900">
              <a:buFont typeface="Arial" panose="020B0604020202020204" pitchFamily="34" charset="0"/>
              <a:buChar char="•"/>
            </a:pPr>
            <a:r>
              <a:rPr lang="en-US" dirty="0"/>
              <a:t>Newly created plugin projects need to be added:</a:t>
            </a:r>
          </a:p>
          <a:p>
            <a:pPr marL="515938" lvl="1" indent="-342900"/>
            <a:r>
              <a:rPr lang="en-US" dirty="0"/>
              <a:t>include ‘</a:t>
            </a:r>
            <a:r>
              <a:rPr lang="en-US" dirty="0" err="1"/>
              <a:t>templates:slimsgate-template</a:t>
            </a:r>
            <a:r>
              <a:rPr lang="en-US" dirty="0"/>
              <a:t>’</a:t>
            </a:r>
          </a:p>
          <a:p>
            <a:pPr marL="515938" lvl="1" indent="-342900"/>
            <a:r>
              <a:rPr lang="en-US" dirty="0"/>
              <a:t>include ‘</a:t>
            </a:r>
            <a:r>
              <a:rPr lang="en-US" dirty="0" err="1"/>
              <a:t>templates:slims-vaadin-template</a:t>
            </a:r>
            <a:r>
              <a:rPr lang="en-US" dirty="0"/>
              <a:t>’</a:t>
            </a:r>
          </a:p>
          <a:p>
            <a:pPr marL="515938" lvl="1" indent="-342900"/>
            <a:r>
              <a:rPr lang="en-US" dirty="0"/>
              <a:t>include ‘</a:t>
            </a:r>
            <a:r>
              <a:rPr lang="en-US" dirty="0" err="1"/>
              <a:t>templates:library-template</a:t>
            </a:r>
            <a:r>
              <a:rPr lang="en-US" dirty="0"/>
              <a:t>’</a:t>
            </a:r>
          </a:p>
          <a:p>
            <a:pPr marL="515938" lvl="1" indent="-342900"/>
            <a:r>
              <a:rPr lang="en-US" dirty="0"/>
              <a:t>include ‘</a:t>
            </a:r>
            <a:r>
              <a:rPr lang="en-US" dirty="0" err="1"/>
              <a:t>templates:dto-template</a:t>
            </a:r>
            <a:r>
              <a:rPr lang="en-US" dirty="0"/>
              <a:t>’</a:t>
            </a:r>
          </a:p>
        </p:txBody>
      </p:sp>
      <p:pic>
        <p:nvPicPr>
          <p:cNvPr id="11" name="Picture 10">
            <a:extLst>
              <a:ext uri="{FF2B5EF4-FFF2-40B4-BE49-F238E27FC236}">
                <a16:creationId xmlns:a16="http://schemas.microsoft.com/office/drawing/2014/main" id="{CFA62C2F-2AAA-40E1-B0BD-394BAC29226F}"/>
              </a:ext>
            </a:extLst>
          </p:cNvPr>
          <p:cNvPicPr>
            <a:picLocks noChangeAspect="1"/>
          </p:cNvPicPr>
          <p:nvPr/>
        </p:nvPicPr>
        <p:blipFill>
          <a:blip r:embed="rId3"/>
          <a:stretch>
            <a:fillRect/>
          </a:stretch>
        </p:blipFill>
        <p:spPr>
          <a:xfrm>
            <a:off x="7442479" y="2475082"/>
            <a:ext cx="4510554" cy="1200651"/>
          </a:xfrm>
          <a:prstGeom prst="rect">
            <a:avLst/>
          </a:prstGeom>
        </p:spPr>
      </p:pic>
      <p:sp>
        <p:nvSpPr>
          <p:cNvPr id="12" name="Rectangle 11">
            <a:extLst>
              <a:ext uri="{FF2B5EF4-FFF2-40B4-BE49-F238E27FC236}">
                <a16:creationId xmlns:a16="http://schemas.microsoft.com/office/drawing/2014/main" id="{9AA83173-D829-4D2F-8A47-9136BA4D41C2}"/>
              </a:ext>
            </a:extLst>
          </p:cNvPr>
          <p:cNvSpPr/>
          <p:nvPr/>
        </p:nvSpPr>
        <p:spPr>
          <a:xfrm>
            <a:off x="7586858" y="3346098"/>
            <a:ext cx="2341153" cy="309700"/>
          </a:xfrm>
          <a:prstGeom prst="rect">
            <a:avLst/>
          </a:prstGeom>
          <a:noFill/>
          <a:ln w="28575">
            <a:solidFill>
              <a:srgbClr val="00BA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feld 23">
            <a:extLst>
              <a:ext uri="{FF2B5EF4-FFF2-40B4-BE49-F238E27FC236}">
                <a16:creationId xmlns:a16="http://schemas.microsoft.com/office/drawing/2014/main" id="{920DADF1-B0FF-48FB-8AD8-E9796A417035}"/>
              </a:ext>
            </a:extLst>
          </p:cNvPr>
          <p:cNvSpPr txBox="1"/>
          <p:nvPr/>
        </p:nvSpPr>
        <p:spPr>
          <a:xfrm>
            <a:off x="9697756" y="4125105"/>
            <a:ext cx="1597982" cy="230832"/>
          </a:xfrm>
          <a:prstGeom prst="rect">
            <a:avLst/>
          </a:prstGeom>
          <a:noFill/>
        </p:spPr>
        <p:txBody>
          <a:bodyPr wrap="square" rtlCol="0">
            <a:spAutoFit/>
          </a:bodyPr>
          <a:lstStyle/>
          <a:p>
            <a:r>
              <a:rPr lang="de-DE" sz="900" b="1" dirty="0">
                <a:solidFill>
                  <a:srgbClr val="0085D5"/>
                </a:solidFill>
              </a:rPr>
              <a:t>File pictured in Intellij</a:t>
            </a:r>
          </a:p>
        </p:txBody>
      </p:sp>
      <p:cxnSp>
        <p:nvCxnSpPr>
          <p:cNvPr id="16" name="Gerade Verbindung 15">
            <a:extLst>
              <a:ext uri="{FF2B5EF4-FFF2-40B4-BE49-F238E27FC236}">
                <a16:creationId xmlns:a16="http://schemas.microsoft.com/office/drawing/2014/main" id="{40749A94-4FD8-4A05-A8D3-A6323C7F5993}"/>
              </a:ext>
            </a:extLst>
          </p:cNvPr>
          <p:cNvCxnSpPr>
            <a:cxnSpLocks/>
          </p:cNvCxnSpPr>
          <p:nvPr/>
        </p:nvCxnSpPr>
        <p:spPr>
          <a:xfrm>
            <a:off x="9792482" y="3557198"/>
            <a:ext cx="0" cy="546969"/>
          </a:xfrm>
          <a:prstGeom prst="line">
            <a:avLst/>
          </a:prstGeom>
          <a:ln w="12700" cmpd="sng">
            <a:solidFill>
              <a:schemeClr val="accent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7694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DDBAB6B-D3FA-48C0-A24E-234304D11CF7}"/>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9C6E138E-1276-4AD7-9961-CC9E5361FF88}"/>
              </a:ext>
            </a:extLst>
          </p:cNvPr>
          <p:cNvSpPr>
            <a:spLocks noGrp="1"/>
          </p:cNvSpPr>
          <p:nvPr>
            <p:ph type="sldNum" sz="quarter" idx="12"/>
          </p:nvPr>
        </p:nvSpPr>
        <p:spPr/>
        <p:txBody>
          <a:bodyPr/>
          <a:lstStyle/>
          <a:p>
            <a:fld id="{CBD803B2-A378-42BD-B5EC-F7748F169FE0}" type="slidenum">
              <a:rPr lang="en-US" smtClean="0"/>
              <a:pPr/>
              <a:t>13</a:t>
            </a:fld>
            <a:endParaRPr lang="en-US" dirty="0"/>
          </a:p>
        </p:txBody>
      </p:sp>
      <p:sp>
        <p:nvSpPr>
          <p:cNvPr id="10" name="Text Placeholder 9">
            <a:extLst>
              <a:ext uri="{FF2B5EF4-FFF2-40B4-BE49-F238E27FC236}">
                <a16:creationId xmlns:a16="http://schemas.microsoft.com/office/drawing/2014/main" id="{93C738D6-1F8B-4C21-93EB-49E508B5CC60}"/>
              </a:ext>
            </a:extLst>
          </p:cNvPr>
          <p:cNvSpPr>
            <a:spLocks noGrp="1"/>
          </p:cNvSpPr>
          <p:nvPr>
            <p:ph type="body" sz="quarter" idx="13"/>
          </p:nvPr>
        </p:nvSpPr>
        <p:spPr/>
        <p:txBody>
          <a:bodyPr>
            <a:normAutofit lnSpcReduction="10000"/>
          </a:bodyPr>
          <a:lstStyle/>
          <a:p>
            <a:r>
              <a:rPr lang="en-US" dirty="0"/>
              <a:t>List of Library Dependencies</a:t>
            </a:r>
          </a:p>
        </p:txBody>
      </p:sp>
      <p:sp>
        <p:nvSpPr>
          <p:cNvPr id="7" name="Title 6">
            <a:extLst>
              <a:ext uri="{FF2B5EF4-FFF2-40B4-BE49-F238E27FC236}">
                <a16:creationId xmlns:a16="http://schemas.microsoft.com/office/drawing/2014/main" id="{F059C16E-57C7-4C41-8E97-95EE655B9DCB}"/>
              </a:ext>
            </a:extLst>
          </p:cNvPr>
          <p:cNvSpPr>
            <a:spLocks noGrp="1"/>
          </p:cNvSpPr>
          <p:nvPr>
            <p:ph type="title"/>
          </p:nvPr>
        </p:nvSpPr>
        <p:spPr/>
        <p:txBody>
          <a:bodyPr/>
          <a:lstStyle/>
          <a:p>
            <a:r>
              <a:rPr lang="en-US" dirty="0" err="1"/>
              <a:t>build.gradle</a:t>
            </a:r>
            <a:endParaRPr lang="en-US" dirty="0"/>
          </a:p>
        </p:txBody>
      </p:sp>
      <p:sp>
        <p:nvSpPr>
          <p:cNvPr id="8" name="Content Placeholder 7">
            <a:extLst>
              <a:ext uri="{FF2B5EF4-FFF2-40B4-BE49-F238E27FC236}">
                <a16:creationId xmlns:a16="http://schemas.microsoft.com/office/drawing/2014/main" id="{A09FD283-7DB9-4D65-BEA9-10CAD1FF691A}"/>
              </a:ext>
            </a:extLst>
          </p:cNvPr>
          <p:cNvSpPr>
            <a:spLocks noGrp="1"/>
          </p:cNvSpPr>
          <p:nvPr>
            <p:ph sz="half" idx="1"/>
          </p:nvPr>
        </p:nvSpPr>
        <p:spPr/>
        <p:txBody>
          <a:bodyPr/>
          <a:lstStyle/>
          <a:p>
            <a:r>
              <a:rPr lang="en-US" dirty="0">
                <a:solidFill>
                  <a:schemeClr val="accent6"/>
                </a:solidFill>
              </a:rPr>
              <a:t>Disclaimer! Don’t pull in too many dependencies because they need to be packaged inside the </a:t>
            </a:r>
            <a:r>
              <a:rPr lang="en-US" dirty="0" err="1">
                <a:solidFill>
                  <a:schemeClr val="accent6"/>
                </a:solidFill>
              </a:rPr>
              <a:t>fatjar</a:t>
            </a:r>
            <a:r>
              <a:rPr lang="en-US" dirty="0">
                <a:solidFill>
                  <a:schemeClr val="accent6"/>
                </a:solidFill>
              </a:rPr>
              <a:t>.</a:t>
            </a:r>
          </a:p>
          <a:p>
            <a:r>
              <a:rPr lang="en-US" dirty="0"/>
              <a:t>Use maven repository to find the right external dependency: </a:t>
            </a:r>
            <a:r>
              <a:rPr lang="en-US" dirty="0">
                <a:hlinkClick r:id="rId3"/>
              </a:rPr>
              <a:t>https://mvnrepository.com/</a:t>
            </a:r>
            <a:r>
              <a:rPr lang="en-US" dirty="0"/>
              <a:t> </a:t>
            </a:r>
          </a:p>
          <a:p>
            <a:r>
              <a:rPr lang="en-US" dirty="0"/>
              <a:t>When this file changes, you need to run:</a:t>
            </a:r>
          </a:p>
          <a:p>
            <a:r>
              <a:rPr lang="en-US" dirty="0"/>
              <a:t>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gradlew</a:t>
            </a:r>
            <a:r>
              <a:rPr lang="en-US" dirty="0">
                <a:latin typeface="Courier New" panose="02070309020205020404" pitchFamily="49" charset="0"/>
                <a:cs typeface="Courier New" panose="02070309020205020404" pitchFamily="49" charset="0"/>
              </a:rPr>
              <a:t> idea </a:t>
            </a:r>
            <a:r>
              <a:rPr lang="en-US" dirty="0"/>
              <a:t>(or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gradlew</a:t>
            </a:r>
            <a:r>
              <a:rPr lang="en-US" dirty="0">
                <a:latin typeface="Courier New" panose="02070309020205020404" pitchFamily="49" charset="0"/>
                <a:cs typeface="Courier New" panose="02070309020205020404" pitchFamily="49" charset="0"/>
              </a:rPr>
              <a:t> eclipse</a:t>
            </a:r>
            <a:r>
              <a:rPr lang="en-US" dirty="0"/>
              <a:t>) to apply changes to your IDE.</a:t>
            </a:r>
          </a:p>
        </p:txBody>
      </p:sp>
      <p:pic>
        <p:nvPicPr>
          <p:cNvPr id="15" name="Picture 14">
            <a:extLst>
              <a:ext uri="{FF2B5EF4-FFF2-40B4-BE49-F238E27FC236}">
                <a16:creationId xmlns:a16="http://schemas.microsoft.com/office/drawing/2014/main" id="{57119BE3-C81D-4AFD-A611-D81445E702FF}"/>
              </a:ext>
            </a:extLst>
          </p:cNvPr>
          <p:cNvPicPr>
            <a:picLocks noChangeAspect="1"/>
          </p:cNvPicPr>
          <p:nvPr/>
        </p:nvPicPr>
        <p:blipFill>
          <a:blip r:embed="rId4"/>
          <a:stretch>
            <a:fillRect/>
          </a:stretch>
        </p:blipFill>
        <p:spPr>
          <a:xfrm>
            <a:off x="4022277" y="2364942"/>
            <a:ext cx="2940930" cy="782837"/>
          </a:xfrm>
          <a:prstGeom prst="rect">
            <a:avLst/>
          </a:prstGeom>
        </p:spPr>
      </p:pic>
      <p:sp>
        <p:nvSpPr>
          <p:cNvPr id="20" name="Rectangle 19">
            <a:extLst>
              <a:ext uri="{FF2B5EF4-FFF2-40B4-BE49-F238E27FC236}">
                <a16:creationId xmlns:a16="http://schemas.microsoft.com/office/drawing/2014/main" id="{57FFDC4E-E747-4C9C-91ED-B12E6039E0CA}"/>
              </a:ext>
            </a:extLst>
          </p:cNvPr>
          <p:cNvSpPr/>
          <p:nvPr/>
        </p:nvSpPr>
        <p:spPr>
          <a:xfrm>
            <a:off x="4765935" y="2363558"/>
            <a:ext cx="1347786" cy="276306"/>
          </a:xfrm>
          <a:prstGeom prst="rect">
            <a:avLst/>
          </a:prstGeom>
          <a:noFill/>
          <a:ln w="28575">
            <a:solidFill>
              <a:srgbClr val="00BA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feld 23">
            <a:extLst>
              <a:ext uri="{FF2B5EF4-FFF2-40B4-BE49-F238E27FC236}">
                <a16:creationId xmlns:a16="http://schemas.microsoft.com/office/drawing/2014/main" id="{3E914B8B-2582-45BE-BB49-361BFD4EAED9}"/>
              </a:ext>
            </a:extLst>
          </p:cNvPr>
          <p:cNvSpPr txBox="1"/>
          <p:nvPr/>
        </p:nvSpPr>
        <p:spPr>
          <a:xfrm>
            <a:off x="9372600" y="2091562"/>
            <a:ext cx="2407346" cy="230832"/>
          </a:xfrm>
          <a:prstGeom prst="rect">
            <a:avLst/>
          </a:prstGeom>
          <a:noFill/>
        </p:spPr>
        <p:txBody>
          <a:bodyPr wrap="square" rtlCol="0">
            <a:spAutoFit/>
          </a:bodyPr>
          <a:lstStyle/>
          <a:p>
            <a:r>
              <a:rPr lang="de-DE" sz="900" b="1" dirty="0">
                <a:solidFill>
                  <a:srgbClr val="0085D5"/>
                </a:solidFill>
              </a:rPr>
              <a:t>Example of dependencies in build.gradle</a:t>
            </a:r>
          </a:p>
        </p:txBody>
      </p:sp>
      <p:cxnSp>
        <p:nvCxnSpPr>
          <p:cNvPr id="22" name="Gerade Verbindung 15">
            <a:extLst>
              <a:ext uri="{FF2B5EF4-FFF2-40B4-BE49-F238E27FC236}">
                <a16:creationId xmlns:a16="http://schemas.microsoft.com/office/drawing/2014/main" id="{2778D9FA-4474-41E8-95F6-E2E02370DCE8}"/>
              </a:ext>
            </a:extLst>
          </p:cNvPr>
          <p:cNvCxnSpPr>
            <a:cxnSpLocks/>
          </p:cNvCxnSpPr>
          <p:nvPr/>
        </p:nvCxnSpPr>
        <p:spPr>
          <a:xfrm>
            <a:off x="6068317" y="2538995"/>
            <a:ext cx="1782338" cy="0"/>
          </a:xfrm>
          <a:prstGeom prst="line">
            <a:avLst/>
          </a:prstGeom>
          <a:ln w="12700" cmpd="sng">
            <a:solidFill>
              <a:schemeClr val="accent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44A3B4D7-CA6A-4CD0-8227-DB36AB80B078}"/>
              </a:ext>
            </a:extLst>
          </p:cNvPr>
          <p:cNvPicPr>
            <a:picLocks noChangeAspect="1"/>
          </p:cNvPicPr>
          <p:nvPr/>
        </p:nvPicPr>
        <p:blipFill rotWithShape="1">
          <a:blip r:embed="rId5"/>
          <a:srcRect l="662"/>
          <a:stretch/>
        </p:blipFill>
        <p:spPr>
          <a:xfrm>
            <a:off x="7862151" y="2356972"/>
            <a:ext cx="3917795" cy="790685"/>
          </a:xfrm>
          <a:prstGeom prst="rect">
            <a:avLst/>
          </a:prstGeom>
          <a:noFill/>
          <a:ln w="28575">
            <a:solidFill>
              <a:srgbClr val="00BAB3"/>
            </a:solidFill>
          </a:ln>
        </p:spPr>
      </p:pic>
    </p:spTree>
    <p:extLst>
      <p:ext uri="{BB962C8B-B14F-4D97-AF65-F5344CB8AC3E}">
        <p14:creationId xmlns:p14="http://schemas.microsoft.com/office/powerpoint/2010/main" val="3547930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DDBAB6B-D3FA-48C0-A24E-234304D11CF7}"/>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9C6E138E-1276-4AD7-9961-CC9E5361FF88}"/>
              </a:ext>
            </a:extLst>
          </p:cNvPr>
          <p:cNvSpPr>
            <a:spLocks noGrp="1"/>
          </p:cNvSpPr>
          <p:nvPr>
            <p:ph type="sldNum" sz="quarter" idx="12"/>
          </p:nvPr>
        </p:nvSpPr>
        <p:spPr/>
        <p:txBody>
          <a:bodyPr/>
          <a:lstStyle/>
          <a:p>
            <a:fld id="{CBD803B2-A378-42BD-B5EC-F7748F169FE0}" type="slidenum">
              <a:rPr lang="en-US" smtClean="0"/>
              <a:pPr/>
              <a:t>14</a:t>
            </a:fld>
            <a:endParaRPr lang="en-US" dirty="0"/>
          </a:p>
        </p:txBody>
      </p:sp>
      <p:sp>
        <p:nvSpPr>
          <p:cNvPr id="10" name="Text Placeholder 9">
            <a:extLst>
              <a:ext uri="{FF2B5EF4-FFF2-40B4-BE49-F238E27FC236}">
                <a16:creationId xmlns:a16="http://schemas.microsoft.com/office/drawing/2014/main" id="{93C738D6-1F8B-4C21-93EB-49E508B5CC60}"/>
              </a:ext>
            </a:extLst>
          </p:cNvPr>
          <p:cNvSpPr>
            <a:spLocks noGrp="1"/>
          </p:cNvSpPr>
          <p:nvPr>
            <p:ph type="body" sz="quarter" idx="13"/>
          </p:nvPr>
        </p:nvSpPr>
        <p:spPr/>
        <p:txBody>
          <a:bodyPr>
            <a:normAutofit lnSpcReduction="10000"/>
          </a:bodyPr>
          <a:lstStyle/>
          <a:p>
            <a:r>
              <a:rPr lang="en-US" dirty="0"/>
              <a:t>Vocabulary</a:t>
            </a:r>
          </a:p>
        </p:txBody>
      </p:sp>
      <p:sp>
        <p:nvSpPr>
          <p:cNvPr id="7" name="Title 6">
            <a:extLst>
              <a:ext uri="{FF2B5EF4-FFF2-40B4-BE49-F238E27FC236}">
                <a16:creationId xmlns:a16="http://schemas.microsoft.com/office/drawing/2014/main" id="{F059C16E-57C7-4C41-8E97-95EE655B9DCB}"/>
              </a:ext>
            </a:extLst>
          </p:cNvPr>
          <p:cNvSpPr>
            <a:spLocks noGrp="1"/>
          </p:cNvSpPr>
          <p:nvPr>
            <p:ph type="title"/>
          </p:nvPr>
        </p:nvSpPr>
        <p:spPr/>
        <p:txBody>
          <a:bodyPr/>
          <a:lstStyle/>
          <a:p>
            <a:r>
              <a:rPr lang="en-US" dirty="0" err="1"/>
              <a:t>plugin.properties</a:t>
            </a:r>
            <a:r>
              <a:rPr lang="en-US" dirty="0"/>
              <a:t> and </a:t>
            </a:r>
            <a:r>
              <a:rPr lang="en-US" dirty="0" err="1"/>
              <a:t>CustomConfiguration</a:t>
            </a:r>
            <a:endParaRPr lang="en-US" dirty="0"/>
          </a:p>
        </p:txBody>
      </p:sp>
      <p:sp>
        <p:nvSpPr>
          <p:cNvPr id="8" name="Content Placeholder 7">
            <a:extLst>
              <a:ext uri="{FF2B5EF4-FFF2-40B4-BE49-F238E27FC236}">
                <a16:creationId xmlns:a16="http://schemas.microsoft.com/office/drawing/2014/main" id="{A09FD283-7DB9-4D65-BEA9-10CAD1FF691A}"/>
              </a:ext>
            </a:extLst>
          </p:cNvPr>
          <p:cNvSpPr>
            <a:spLocks noGrp="1"/>
          </p:cNvSpPr>
          <p:nvPr>
            <p:ph sz="half" idx="1"/>
          </p:nvPr>
        </p:nvSpPr>
        <p:spPr/>
        <p:txBody>
          <a:bodyPr/>
          <a:lstStyle/>
          <a:p>
            <a:r>
              <a:rPr lang="en-US" b="1" dirty="0"/>
              <a:t>Plugin properties file</a:t>
            </a:r>
            <a:r>
              <a:rPr lang="en-US" dirty="0"/>
              <a:t>: Choose the type of plugin from SLIMSGATE, REMOTE, or LIBRARY.</a:t>
            </a:r>
          </a:p>
          <a:p>
            <a:endParaRPr lang="en-US" dirty="0"/>
          </a:p>
          <a:p>
            <a:r>
              <a:rPr lang="en-US" b="1" dirty="0" err="1"/>
              <a:t>CustomConfiguration</a:t>
            </a:r>
            <a:r>
              <a:rPr lang="en-US" b="1" dirty="0"/>
              <a:t> file</a:t>
            </a:r>
            <a:r>
              <a:rPr lang="en-US" dirty="0"/>
              <a:t>: Contains the details of the default and configurable values of the plugin.</a:t>
            </a:r>
          </a:p>
        </p:txBody>
      </p:sp>
      <p:pic>
        <p:nvPicPr>
          <p:cNvPr id="12" name="Picture 11">
            <a:extLst>
              <a:ext uri="{FF2B5EF4-FFF2-40B4-BE49-F238E27FC236}">
                <a16:creationId xmlns:a16="http://schemas.microsoft.com/office/drawing/2014/main" id="{7A5F739B-F852-4F1F-98D4-58D3DF593657}"/>
              </a:ext>
            </a:extLst>
          </p:cNvPr>
          <p:cNvPicPr>
            <a:picLocks noChangeAspect="1"/>
          </p:cNvPicPr>
          <p:nvPr/>
        </p:nvPicPr>
        <p:blipFill>
          <a:blip r:embed="rId3"/>
          <a:stretch>
            <a:fillRect/>
          </a:stretch>
        </p:blipFill>
        <p:spPr>
          <a:xfrm>
            <a:off x="4531516" y="2694281"/>
            <a:ext cx="2735164" cy="1488251"/>
          </a:xfrm>
          <a:prstGeom prst="rect">
            <a:avLst/>
          </a:prstGeom>
        </p:spPr>
      </p:pic>
      <p:pic>
        <p:nvPicPr>
          <p:cNvPr id="13" name="Picture 12">
            <a:extLst>
              <a:ext uri="{FF2B5EF4-FFF2-40B4-BE49-F238E27FC236}">
                <a16:creationId xmlns:a16="http://schemas.microsoft.com/office/drawing/2014/main" id="{87B86508-2EA4-4DD4-B837-AA9451C9B9A8}"/>
              </a:ext>
            </a:extLst>
          </p:cNvPr>
          <p:cNvPicPr>
            <a:picLocks noChangeAspect="1"/>
          </p:cNvPicPr>
          <p:nvPr/>
        </p:nvPicPr>
        <p:blipFill>
          <a:blip r:embed="rId4"/>
          <a:stretch>
            <a:fillRect/>
          </a:stretch>
        </p:blipFill>
        <p:spPr>
          <a:xfrm>
            <a:off x="4531516" y="1614293"/>
            <a:ext cx="2497012" cy="1086829"/>
          </a:xfrm>
          <a:prstGeom prst="rect">
            <a:avLst/>
          </a:prstGeom>
        </p:spPr>
      </p:pic>
      <p:sp>
        <p:nvSpPr>
          <p:cNvPr id="21" name="Rectangle 20">
            <a:extLst>
              <a:ext uri="{FF2B5EF4-FFF2-40B4-BE49-F238E27FC236}">
                <a16:creationId xmlns:a16="http://schemas.microsoft.com/office/drawing/2014/main" id="{B7AA83E1-D3B8-4E38-B972-638AFE995BDA}"/>
              </a:ext>
            </a:extLst>
          </p:cNvPr>
          <p:cNvSpPr/>
          <p:nvPr/>
        </p:nvSpPr>
        <p:spPr>
          <a:xfrm>
            <a:off x="4936056" y="2227221"/>
            <a:ext cx="1347786" cy="276306"/>
          </a:xfrm>
          <a:prstGeom prst="rect">
            <a:avLst/>
          </a:prstGeom>
          <a:noFill/>
          <a:ln w="28575">
            <a:solidFill>
              <a:srgbClr val="00BA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4AE614A-73D0-42DC-BBB3-903151D26D43}"/>
              </a:ext>
            </a:extLst>
          </p:cNvPr>
          <p:cNvSpPr/>
          <p:nvPr/>
        </p:nvSpPr>
        <p:spPr>
          <a:xfrm>
            <a:off x="4936056" y="3642957"/>
            <a:ext cx="1879414" cy="276306"/>
          </a:xfrm>
          <a:prstGeom prst="rect">
            <a:avLst/>
          </a:prstGeom>
          <a:noFill/>
          <a:ln w="28575">
            <a:solidFill>
              <a:srgbClr val="00BA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63128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DDBAB6B-D3FA-48C0-A24E-234304D11CF7}"/>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9C6E138E-1276-4AD7-9961-CC9E5361FF88}"/>
              </a:ext>
            </a:extLst>
          </p:cNvPr>
          <p:cNvSpPr>
            <a:spLocks noGrp="1"/>
          </p:cNvSpPr>
          <p:nvPr>
            <p:ph type="sldNum" sz="quarter" idx="12"/>
          </p:nvPr>
        </p:nvSpPr>
        <p:spPr/>
        <p:txBody>
          <a:bodyPr/>
          <a:lstStyle/>
          <a:p>
            <a:fld id="{CBD803B2-A378-42BD-B5EC-F7748F169FE0}" type="slidenum">
              <a:rPr lang="en-US" smtClean="0"/>
              <a:pPr/>
              <a:t>15</a:t>
            </a:fld>
            <a:endParaRPr lang="en-US" dirty="0"/>
          </a:p>
        </p:txBody>
      </p:sp>
      <p:sp>
        <p:nvSpPr>
          <p:cNvPr id="7" name="Title 6">
            <a:extLst>
              <a:ext uri="{FF2B5EF4-FFF2-40B4-BE49-F238E27FC236}">
                <a16:creationId xmlns:a16="http://schemas.microsoft.com/office/drawing/2014/main" id="{F059C16E-57C7-4C41-8E97-95EE655B9DCB}"/>
              </a:ext>
            </a:extLst>
          </p:cNvPr>
          <p:cNvSpPr>
            <a:spLocks noGrp="1"/>
          </p:cNvSpPr>
          <p:nvPr>
            <p:ph type="title"/>
          </p:nvPr>
        </p:nvSpPr>
        <p:spPr/>
        <p:txBody>
          <a:bodyPr/>
          <a:lstStyle/>
          <a:p>
            <a:r>
              <a:rPr lang="en-US" dirty="0"/>
              <a:t>Set the </a:t>
            </a:r>
            <a:r>
              <a:rPr lang="en-US" dirty="0" err="1"/>
              <a:t>plugin.properties</a:t>
            </a:r>
            <a:endParaRPr lang="en-US" dirty="0"/>
          </a:p>
        </p:txBody>
      </p:sp>
      <p:sp>
        <p:nvSpPr>
          <p:cNvPr id="8" name="Content Placeholder 7">
            <a:extLst>
              <a:ext uri="{FF2B5EF4-FFF2-40B4-BE49-F238E27FC236}">
                <a16:creationId xmlns:a16="http://schemas.microsoft.com/office/drawing/2014/main" id="{A09FD283-7DB9-4D65-BEA9-10CAD1FF691A}"/>
              </a:ext>
            </a:extLst>
          </p:cNvPr>
          <p:cNvSpPr>
            <a:spLocks noGrp="1"/>
          </p:cNvSpPr>
          <p:nvPr>
            <p:ph sz="half" idx="1"/>
          </p:nvPr>
        </p:nvSpPr>
        <p:spPr/>
        <p:txBody>
          <a:bodyPr>
            <a:normAutofit fontScale="92500" lnSpcReduction="10000"/>
          </a:bodyPr>
          <a:lstStyle/>
          <a:p>
            <a:r>
              <a:rPr lang="en-US" b="1" dirty="0">
                <a:latin typeface="+mj-lt"/>
              </a:rPr>
              <a:t>Type</a:t>
            </a:r>
            <a:r>
              <a:rPr lang="en-US" dirty="0">
                <a:latin typeface="+mj-lt"/>
              </a:rPr>
              <a:t> can be:</a:t>
            </a:r>
          </a:p>
          <a:p>
            <a:pPr marL="285750" lvl="1" indent="-285750">
              <a:buFont typeface="Wingdings" panose="05000000000000000000" pitchFamily="2" charset="2"/>
              <a:buChar char="§"/>
            </a:pPr>
            <a:r>
              <a:rPr lang="en-US" b="1" dirty="0">
                <a:latin typeface="+mj-lt"/>
              </a:rPr>
              <a:t>SLIMSGATE</a:t>
            </a:r>
            <a:r>
              <a:rPr lang="en-US" dirty="0">
                <a:latin typeface="+mj-lt"/>
              </a:rPr>
              <a:t>: </a:t>
            </a:r>
            <a:r>
              <a:rPr lang="en-US" dirty="0" err="1">
                <a:latin typeface="+mj-lt"/>
              </a:rPr>
              <a:t>SLIMSGate</a:t>
            </a:r>
            <a:r>
              <a:rPr lang="en-US" dirty="0">
                <a:latin typeface="+mj-lt"/>
              </a:rPr>
              <a:t> plugin – create your own custom instrument interface or automation.</a:t>
            </a:r>
          </a:p>
          <a:p>
            <a:pPr marL="285750" lvl="1" indent="-285750">
              <a:buFont typeface="Wingdings" panose="05000000000000000000" pitchFamily="2" charset="2"/>
              <a:buChar char="§"/>
            </a:pPr>
            <a:r>
              <a:rPr lang="en-US" b="1" dirty="0">
                <a:latin typeface="+mj-lt"/>
              </a:rPr>
              <a:t>LIBRARY</a:t>
            </a:r>
            <a:r>
              <a:rPr lang="en-US" dirty="0">
                <a:latin typeface="+mj-lt"/>
              </a:rPr>
              <a:t>: No plugin – create you own library of common functions on which other plugins can depend.</a:t>
            </a:r>
          </a:p>
          <a:p>
            <a:pPr marL="285750" lvl="1" indent="-285750">
              <a:buFont typeface="Wingdings" panose="05000000000000000000" pitchFamily="2" charset="2"/>
              <a:buChar char="§"/>
            </a:pPr>
            <a:r>
              <a:rPr lang="en-US" b="1" dirty="0">
                <a:latin typeface="+mj-lt"/>
              </a:rPr>
              <a:t>REMOTE</a:t>
            </a:r>
            <a:r>
              <a:rPr lang="en-US" dirty="0">
                <a:latin typeface="+mj-lt"/>
              </a:rPr>
              <a:t>: Remote plugin – </a:t>
            </a:r>
            <a:r>
              <a:rPr lang="en-US" i="1" dirty="0">
                <a:latin typeface="+mj-lt"/>
              </a:rPr>
              <a:t>SLIMS engineers </a:t>
            </a:r>
            <a:r>
              <a:rPr lang="en-US" dirty="0">
                <a:latin typeface="+mj-lt"/>
              </a:rPr>
              <a:t>can create plugins that talk to a local daemon.</a:t>
            </a:r>
          </a:p>
          <a:p>
            <a:pPr lvl="1"/>
            <a:endParaRPr lang="en-CH" sz="600" dirty="0">
              <a:latin typeface="+mj-lt"/>
            </a:endParaRPr>
          </a:p>
          <a:p>
            <a:pPr marL="0" lvl="1" indent="0">
              <a:buNone/>
            </a:pPr>
            <a:r>
              <a:rPr lang="en-US" b="1" dirty="0" err="1">
                <a:latin typeface="+mj-lt"/>
              </a:rPr>
              <a:t>apiVersion</a:t>
            </a:r>
            <a:r>
              <a:rPr lang="en-US" dirty="0">
                <a:latin typeface="+mj-lt"/>
              </a:rPr>
              <a:t> should match your current main SLIMS version.</a:t>
            </a:r>
            <a:endParaRPr lang="en-CH" dirty="0">
              <a:latin typeface="+mj-lt"/>
            </a:endParaRPr>
          </a:p>
          <a:p>
            <a:pPr marL="342900" lvl="1" indent="-342900"/>
            <a:endParaRPr lang="en-CH" dirty="0">
              <a:solidFill>
                <a:schemeClr val="accent4"/>
              </a:solidFill>
              <a:latin typeface="+mj-lt"/>
            </a:endParaRPr>
          </a:p>
          <a:p>
            <a:pPr marL="0" lvl="1" indent="0">
              <a:buNone/>
            </a:pPr>
            <a:r>
              <a:rPr lang="en-US" b="1" dirty="0">
                <a:latin typeface="+mj-lt"/>
              </a:rPr>
              <a:t>config-class </a:t>
            </a:r>
            <a:endParaRPr lang="en-CH" b="1" dirty="0">
              <a:latin typeface="+mj-lt"/>
            </a:endParaRPr>
          </a:p>
        </p:txBody>
      </p:sp>
      <p:pic>
        <p:nvPicPr>
          <p:cNvPr id="15" name="Picture 14">
            <a:extLst>
              <a:ext uri="{FF2B5EF4-FFF2-40B4-BE49-F238E27FC236}">
                <a16:creationId xmlns:a16="http://schemas.microsoft.com/office/drawing/2014/main" id="{BB8277B4-6B7F-4467-90CF-AEA70B4E0A9F}"/>
              </a:ext>
            </a:extLst>
          </p:cNvPr>
          <p:cNvPicPr>
            <a:picLocks noChangeAspect="1"/>
          </p:cNvPicPr>
          <p:nvPr/>
        </p:nvPicPr>
        <p:blipFill>
          <a:blip r:embed="rId3"/>
          <a:stretch>
            <a:fillRect/>
          </a:stretch>
        </p:blipFill>
        <p:spPr>
          <a:xfrm>
            <a:off x="4349721" y="2719877"/>
            <a:ext cx="2735164" cy="1488251"/>
          </a:xfrm>
          <a:prstGeom prst="rect">
            <a:avLst/>
          </a:prstGeom>
        </p:spPr>
      </p:pic>
      <p:pic>
        <p:nvPicPr>
          <p:cNvPr id="16" name="Picture 15">
            <a:extLst>
              <a:ext uri="{FF2B5EF4-FFF2-40B4-BE49-F238E27FC236}">
                <a16:creationId xmlns:a16="http://schemas.microsoft.com/office/drawing/2014/main" id="{C7907404-E529-4A46-A0AE-D360F7352889}"/>
              </a:ext>
            </a:extLst>
          </p:cNvPr>
          <p:cNvPicPr>
            <a:picLocks noChangeAspect="1"/>
          </p:cNvPicPr>
          <p:nvPr/>
        </p:nvPicPr>
        <p:blipFill>
          <a:blip r:embed="rId4"/>
          <a:stretch>
            <a:fillRect/>
          </a:stretch>
        </p:blipFill>
        <p:spPr>
          <a:xfrm>
            <a:off x="4349721" y="1639889"/>
            <a:ext cx="2497012" cy="1086829"/>
          </a:xfrm>
          <a:prstGeom prst="rect">
            <a:avLst/>
          </a:prstGeom>
        </p:spPr>
      </p:pic>
      <p:sp>
        <p:nvSpPr>
          <p:cNvPr id="26" name="Rectangle 25">
            <a:extLst>
              <a:ext uri="{FF2B5EF4-FFF2-40B4-BE49-F238E27FC236}">
                <a16:creationId xmlns:a16="http://schemas.microsoft.com/office/drawing/2014/main" id="{480208D6-FE8B-4B48-A231-4218EFA78412}"/>
              </a:ext>
            </a:extLst>
          </p:cNvPr>
          <p:cNvSpPr/>
          <p:nvPr/>
        </p:nvSpPr>
        <p:spPr>
          <a:xfrm>
            <a:off x="4778878" y="2236486"/>
            <a:ext cx="1347786" cy="276306"/>
          </a:xfrm>
          <a:prstGeom prst="rect">
            <a:avLst/>
          </a:prstGeom>
          <a:noFill/>
          <a:ln w="28575">
            <a:solidFill>
              <a:srgbClr val="00BA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feld 23">
            <a:extLst>
              <a:ext uri="{FF2B5EF4-FFF2-40B4-BE49-F238E27FC236}">
                <a16:creationId xmlns:a16="http://schemas.microsoft.com/office/drawing/2014/main" id="{C367C475-163D-426C-9E52-C3808F8907AF}"/>
              </a:ext>
            </a:extLst>
          </p:cNvPr>
          <p:cNvSpPr txBox="1"/>
          <p:nvPr/>
        </p:nvSpPr>
        <p:spPr>
          <a:xfrm>
            <a:off x="10554929" y="1962437"/>
            <a:ext cx="1442608" cy="230832"/>
          </a:xfrm>
          <a:prstGeom prst="rect">
            <a:avLst/>
          </a:prstGeom>
          <a:noFill/>
        </p:spPr>
        <p:txBody>
          <a:bodyPr wrap="square" rtlCol="0">
            <a:spAutoFit/>
          </a:bodyPr>
          <a:lstStyle/>
          <a:p>
            <a:r>
              <a:rPr lang="de-DE" sz="900" b="1" dirty="0">
                <a:solidFill>
                  <a:srgbClr val="0085D5"/>
                </a:solidFill>
              </a:rPr>
              <a:t>Example of properties</a:t>
            </a:r>
          </a:p>
        </p:txBody>
      </p:sp>
      <p:cxnSp>
        <p:nvCxnSpPr>
          <p:cNvPr id="28" name="Gerade Verbindung 15">
            <a:extLst>
              <a:ext uri="{FF2B5EF4-FFF2-40B4-BE49-F238E27FC236}">
                <a16:creationId xmlns:a16="http://schemas.microsoft.com/office/drawing/2014/main" id="{22F2DFB2-C10F-4972-A351-8A8AE670C160}"/>
              </a:ext>
            </a:extLst>
          </p:cNvPr>
          <p:cNvCxnSpPr>
            <a:cxnSpLocks/>
          </p:cNvCxnSpPr>
          <p:nvPr/>
        </p:nvCxnSpPr>
        <p:spPr>
          <a:xfrm>
            <a:off x="6068317" y="2432667"/>
            <a:ext cx="1782338" cy="0"/>
          </a:xfrm>
          <a:prstGeom prst="line">
            <a:avLst/>
          </a:prstGeom>
          <a:ln w="12700" cmpd="sng">
            <a:solidFill>
              <a:schemeClr val="accent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14BB4453-31A1-2283-805A-87107B439FD3}"/>
              </a:ext>
            </a:extLst>
          </p:cNvPr>
          <p:cNvPicPr>
            <a:picLocks noChangeAspect="1"/>
          </p:cNvPicPr>
          <p:nvPr/>
        </p:nvPicPr>
        <p:blipFill>
          <a:blip r:embed="rId5"/>
          <a:stretch>
            <a:fillRect/>
          </a:stretch>
        </p:blipFill>
        <p:spPr>
          <a:xfrm>
            <a:off x="7731760" y="2193269"/>
            <a:ext cx="4419600" cy="620560"/>
          </a:xfrm>
          <a:prstGeom prst="rect">
            <a:avLst/>
          </a:prstGeom>
          <a:ln w="38100">
            <a:solidFill>
              <a:srgbClr val="00BAB3"/>
            </a:solidFill>
          </a:ln>
        </p:spPr>
      </p:pic>
    </p:spTree>
    <p:extLst>
      <p:ext uri="{BB962C8B-B14F-4D97-AF65-F5344CB8AC3E}">
        <p14:creationId xmlns:p14="http://schemas.microsoft.com/office/powerpoint/2010/main" val="216960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DDBAB6B-D3FA-48C0-A24E-234304D11CF7}"/>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9C6E138E-1276-4AD7-9961-CC9E5361FF88}"/>
              </a:ext>
            </a:extLst>
          </p:cNvPr>
          <p:cNvSpPr>
            <a:spLocks noGrp="1"/>
          </p:cNvSpPr>
          <p:nvPr>
            <p:ph type="sldNum" sz="quarter" idx="12"/>
          </p:nvPr>
        </p:nvSpPr>
        <p:spPr/>
        <p:txBody>
          <a:bodyPr/>
          <a:lstStyle/>
          <a:p>
            <a:fld id="{CBD803B2-A378-42BD-B5EC-F7748F169FE0}" type="slidenum">
              <a:rPr lang="en-US" smtClean="0"/>
              <a:pPr/>
              <a:t>16</a:t>
            </a:fld>
            <a:endParaRPr lang="en-US" dirty="0"/>
          </a:p>
        </p:txBody>
      </p:sp>
      <p:sp>
        <p:nvSpPr>
          <p:cNvPr id="7" name="Title 6">
            <a:extLst>
              <a:ext uri="{FF2B5EF4-FFF2-40B4-BE49-F238E27FC236}">
                <a16:creationId xmlns:a16="http://schemas.microsoft.com/office/drawing/2014/main" id="{F059C16E-57C7-4C41-8E97-95EE655B9DCB}"/>
              </a:ext>
            </a:extLst>
          </p:cNvPr>
          <p:cNvSpPr>
            <a:spLocks noGrp="1"/>
          </p:cNvSpPr>
          <p:nvPr>
            <p:ph type="title"/>
          </p:nvPr>
        </p:nvSpPr>
        <p:spPr/>
        <p:txBody>
          <a:bodyPr/>
          <a:lstStyle/>
          <a:p>
            <a:r>
              <a:rPr lang="en-US" dirty="0"/>
              <a:t>Set the </a:t>
            </a:r>
            <a:r>
              <a:rPr lang="en-US" dirty="0" err="1"/>
              <a:t>CustomConfiguration</a:t>
            </a:r>
            <a:endParaRPr lang="en-US" dirty="0"/>
          </a:p>
        </p:txBody>
      </p:sp>
      <p:sp>
        <p:nvSpPr>
          <p:cNvPr id="8" name="Content Placeholder 7">
            <a:extLst>
              <a:ext uri="{FF2B5EF4-FFF2-40B4-BE49-F238E27FC236}">
                <a16:creationId xmlns:a16="http://schemas.microsoft.com/office/drawing/2014/main" id="{A09FD283-7DB9-4D65-BEA9-10CAD1FF691A}"/>
              </a:ext>
            </a:extLst>
          </p:cNvPr>
          <p:cNvSpPr>
            <a:spLocks noGrp="1"/>
          </p:cNvSpPr>
          <p:nvPr>
            <p:ph sz="half" idx="1"/>
          </p:nvPr>
        </p:nvSpPr>
        <p:spPr/>
        <p:txBody>
          <a:bodyPr>
            <a:normAutofit/>
          </a:bodyPr>
          <a:lstStyle/>
          <a:p>
            <a:pPr marL="0" lvl="1" indent="0">
              <a:buNone/>
            </a:pPr>
            <a:r>
              <a:rPr lang="en-US" dirty="0">
                <a:solidFill>
                  <a:srgbClr val="00BAB3"/>
                </a:solidFill>
                <a:latin typeface="+mj-lt"/>
              </a:rPr>
              <a:t>CustomConfiguration.java </a:t>
            </a:r>
            <a:r>
              <a:rPr lang="en-US" dirty="0">
                <a:latin typeface="+mj-lt"/>
              </a:rPr>
              <a:t>contains the details of the default and configurable values of the plugin.</a:t>
            </a:r>
          </a:p>
          <a:p>
            <a:pPr marL="0" lvl="1" indent="0">
              <a:buNone/>
            </a:pPr>
            <a:endParaRPr lang="en-US" dirty="0">
              <a:latin typeface="+mj-lt"/>
            </a:endParaRPr>
          </a:p>
          <a:p>
            <a:pPr marL="0" lvl="1" indent="0">
              <a:buNone/>
            </a:pPr>
            <a:r>
              <a:rPr lang="en-US" dirty="0">
                <a:latin typeface="+mj-lt"/>
              </a:rPr>
              <a:t>Default values can be given to the parameters which will be visible in the Plugin module in the UI of SLIMS.</a:t>
            </a:r>
          </a:p>
          <a:p>
            <a:pPr marL="0" lvl="1" indent="0">
              <a:buNone/>
            </a:pPr>
            <a:endParaRPr lang="en-US" dirty="0">
              <a:latin typeface="+mj-lt"/>
            </a:endParaRPr>
          </a:p>
          <a:p>
            <a:pPr marL="0" lvl="1" indent="0">
              <a:buNone/>
            </a:pPr>
            <a:r>
              <a:rPr lang="en-US" i="1" dirty="0">
                <a:latin typeface="+mj-lt"/>
              </a:rPr>
              <a:t>Example: Useful to indicate what kind of data should be contained in this parameter or enter a value that you already know.</a:t>
            </a:r>
          </a:p>
        </p:txBody>
      </p:sp>
      <p:pic>
        <p:nvPicPr>
          <p:cNvPr id="12" name="Picture 11">
            <a:extLst>
              <a:ext uri="{FF2B5EF4-FFF2-40B4-BE49-F238E27FC236}">
                <a16:creationId xmlns:a16="http://schemas.microsoft.com/office/drawing/2014/main" id="{BEEA2BD0-0FAF-435C-8C95-F1B86467B3F5}"/>
              </a:ext>
            </a:extLst>
          </p:cNvPr>
          <p:cNvPicPr>
            <a:picLocks noChangeAspect="1"/>
          </p:cNvPicPr>
          <p:nvPr/>
        </p:nvPicPr>
        <p:blipFill>
          <a:blip r:embed="rId3"/>
          <a:stretch>
            <a:fillRect/>
          </a:stretch>
        </p:blipFill>
        <p:spPr>
          <a:xfrm>
            <a:off x="4349721" y="2855198"/>
            <a:ext cx="2735164" cy="1488251"/>
          </a:xfrm>
          <a:prstGeom prst="rect">
            <a:avLst/>
          </a:prstGeom>
        </p:spPr>
      </p:pic>
      <p:pic>
        <p:nvPicPr>
          <p:cNvPr id="13" name="Picture 12">
            <a:extLst>
              <a:ext uri="{FF2B5EF4-FFF2-40B4-BE49-F238E27FC236}">
                <a16:creationId xmlns:a16="http://schemas.microsoft.com/office/drawing/2014/main" id="{DE94D1D2-E916-47B3-99B5-2B3266E590AB}"/>
              </a:ext>
            </a:extLst>
          </p:cNvPr>
          <p:cNvPicPr>
            <a:picLocks noChangeAspect="1"/>
          </p:cNvPicPr>
          <p:nvPr/>
        </p:nvPicPr>
        <p:blipFill>
          <a:blip r:embed="rId4"/>
          <a:stretch>
            <a:fillRect/>
          </a:stretch>
        </p:blipFill>
        <p:spPr>
          <a:xfrm>
            <a:off x="4349721" y="1775210"/>
            <a:ext cx="2497012" cy="1086829"/>
          </a:xfrm>
          <a:prstGeom prst="rect">
            <a:avLst/>
          </a:prstGeom>
        </p:spPr>
      </p:pic>
      <p:sp>
        <p:nvSpPr>
          <p:cNvPr id="28" name="Rectangle 27">
            <a:extLst>
              <a:ext uri="{FF2B5EF4-FFF2-40B4-BE49-F238E27FC236}">
                <a16:creationId xmlns:a16="http://schemas.microsoft.com/office/drawing/2014/main" id="{BBD402DC-B2A6-4843-84DE-E500DF06EF9B}"/>
              </a:ext>
            </a:extLst>
          </p:cNvPr>
          <p:cNvSpPr/>
          <p:nvPr/>
        </p:nvSpPr>
        <p:spPr>
          <a:xfrm>
            <a:off x="4765935" y="3833543"/>
            <a:ext cx="1879414" cy="276306"/>
          </a:xfrm>
          <a:prstGeom prst="rect">
            <a:avLst/>
          </a:prstGeom>
          <a:noFill/>
          <a:ln w="28575">
            <a:solidFill>
              <a:srgbClr val="00BA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feld 23">
            <a:extLst>
              <a:ext uri="{FF2B5EF4-FFF2-40B4-BE49-F238E27FC236}">
                <a16:creationId xmlns:a16="http://schemas.microsoft.com/office/drawing/2014/main" id="{F47DD7E2-F8C2-44FD-A52D-E5593E52B819}"/>
              </a:ext>
            </a:extLst>
          </p:cNvPr>
          <p:cNvSpPr txBox="1"/>
          <p:nvPr/>
        </p:nvSpPr>
        <p:spPr>
          <a:xfrm>
            <a:off x="10028871" y="1562527"/>
            <a:ext cx="1848337" cy="230832"/>
          </a:xfrm>
          <a:prstGeom prst="rect">
            <a:avLst/>
          </a:prstGeom>
          <a:noFill/>
        </p:spPr>
        <p:txBody>
          <a:bodyPr wrap="square" rtlCol="0">
            <a:spAutoFit/>
          </a:bodyPr>
          <a:lstStyle/>
          <a:p>
            <a:r>
              <a:rPr lang="de-DE" sz="900" b="1" dirty="0">
                <a:solidFill>
                  <a:srgbClr val="0085D5"/>
                </a:solidFill>
              </a:rPr>
              <a:t>Parameter details example</a:t>
            </a:r>
          </a:p>
        </p:txBody>
      </p:sp>
      <p:cxnSp>
        <p:nvCxnSpPr>
          <p:cNvPr id="30" name="Gerade Verbindung 15">
            <a:extLst>
              <a:ext uri="{FF2B5EF4-FFF2-40B4-BE49-F238E27FC236}">
                <a16:creationId xmlns:a16="http://schemas.microsoft.com/office/drawing/2014/main" id="{967449A0-7DBB-41B8-BD4E-5E93EAB777E0}"/>
              </a:ext>
            </a:extLst>
          </p:cNvPr>
          <p:cNvCxnSpPr>
            <a:cxnSpLocks/>
          </p:cNvCxnSpPr>
          <p:nvPr/>
        </p:nvCxnSpPr>
        <p:spPr>
          <a:xfrm>
            <a:off x="6578679" y="3921228"/>
            <a:ext cx="1782338" cy="0"/>
          </a:xfrm>
          <a:prstGeom prst="line">
            <a:avLst/>
          </a:prstGeom>
          <a:ln w="12700" cmpd="sng">
            <a:solidFill>
              <a:schemeClr val="accent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D2655B60-5F2D-476F-8B37-525C3430C1EA}"/>
              </a:ext>
            </a:extLst>
          </p:cNvPr>
          <p:cNvPicPr>
            <a:picLocks noChangeAspect="1"/>
          </p:cNvPicPr>
          <p:nvPr/>
        </p:nvPicPr>
        <p:blipFill>
          <a:blip r:embed="rId5"/>
          <a:stretch>
            <a:fillRect/>
          </a:stretch>
        </p:blipFill>
        <p:spPr>
          <a:xfrm>
            <a:off x="7279058" y="1880467"/>
            <a:ext cx="4598150" cy="3906151"/>
          </a:xfrm>
          <a:prstGeom prst="rect">
            <a:avLst/>
          </a:prstGeom>
          <a:noFill/>
          <a:ln w="28575">
            <a:solidFill>
              <a:srgbClr val="00BAB3"/>
            </a:solidFill>
          </a:ln>
        </p:spPr>
      </p:pic>
    </p:spTree>
    <p:extLst>
      <p:ext uri="{BB962C8B-B14F-4D97-AF65-F5344CB8AC3E}">
        <p14:creationId xmlns:p14="http://schemas.microsoft.com/office/powerpoint/2010/main" val="3522391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834D1AAD-6A12-4506-8070-98D770A7AFFD}"/>
              </a:ext>
            </a:extLst>
          </p:cNvPr>
          <p:cNvSpPr>
            <a:spLocks noGrp="1"/>
          </p:cNvSpPr>
          <p:nvPr>
            <p:ph idx="1"/>
          </p:nvPr>
        </p:nvSpPr>
        <p:spPr/>
        <p:txBody>
          <a:bodyPr>
            <a:normAutofit/>
          </a:bodyPr>
          <a:lstStyle/>
          <a:p>
            <a:pPr marL="342900" indent="-342900">
              <a:buFont typeface="Arial" panose="020B0604020202020204" pitchFamily="34" charset="0"/>
              <a:buChar char="•"/>
            </a:pPr>
            <a:r>
              <a:rPr lang="en-US" b="1" dirty="0" err="1"/>
              <a:t>plugin.properties</a:t>
            </a:r>
            <a:r>
              <a:rPr lang="en-US" b="1" dirty="0"/>
              <a:t> </a:t>
            </a:r>
            <a:r>
              <a:rPr lang="en-US" dirty="0"/>
              <a:t>within </a:t>
            </a:r>
            <a:r>
              <a:rPr lang="en-US" dirty="0">
                <a:solidFill>
                  <a:srgbClr val="00BAB3"/>
                </a:solidFill>
              </a:rPr>
              <a:t>templates/</a:t>
            </a:r>
            <a:r>
              <a:rPr lang="en-US" dirty="0" err="1">
                <a:solidFill>
                  <a:srgbClr val="00BAB3"/>
                </a:solidFill>
              </a:rPr>
              <a:t>slimsgate</a:t>
            </a:r>
            <a:r>
              <a:rPr lang="en-US" dirty="0">
                <a:solidFill>
                  <a:srgbClr val="00BAB3"/>
                </a:solidFill>
              </a:rPr>
              <a:t>-template/</a:t>
            </a:r>
            <a:r>
              <a:rPr lang="en-US" dirty="0" err="1">
                <a:solidFill>
                  <a:srgbClr val="00BAB3"/>
                </a:solidFill>
              </a:rPr>
              <a:t>src</a:t>
            </a:r>
            <a:r>
              <a:rPr lang="en-US" dirty="0">
                <a:solidFill>
                  <a:srgbClr val="00BAB3"/>
                </a:solidFill>
              </a:rPr>
              <a:t>/main/resources</a:t>
            </a:r>
          </a:p>
          <a:p>
            <a:r>
              <a:rPr lang="en-US" dirty="0">
                <a:latin typeface="Courier New" panose="02070309020205020404" pitchFamily="49" charset="0"/>
                <a:cs typeface="Courier New" panose="02070309020205020404" pitchFamily="49" charset="0"/>
              </a:rPr>
              <a:t>config-class=</a:t>
            </a:r>
            <a:r>
              <a:rPr lang="en-US" dirty="0" err="1">
                <a:latin typeface="Courier New" panose="02070309020205020404" pitchFamily="49" charset="0"/>
                <a:cs typeface="Courier New" panose="02070309020205020404" pitchFamily="49" charset="0"/>
              </a:rPr>
              <a:t>com.genohm.slims.custom.CustomConfiguration</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type=SLIMSGATE</a:t>
            </a:r>
          </a:p>
          <a:p>
            <a:r>
              <a:rPr lang="en-US" dirty="0" err="1">
                <a:latin typeface="Courier New" panose="02070309020205020404" pitchFamily="49" charset="0"/>
                <a:cs typeface="Courier New" panose="02070309020205020404" pitchFamily="49" charset="0"/>
              </a:rPr>
              <a:t>apiVersion</a:t>
            </a:r>
            <a:r>
              <a:rPr lang="en-US" dirty="0">
                <a:latin typeface="Courier New" panose="02070309020205020404" pitchFamily="49" charset="0"/>
                <a:cs typeface="Courier New" panose="02070309020205020404" pitchFamily="49" charset="0"/>
              </a:rPr>
              <a:t>=</a:t>
            </a:r>
            <a:r>
              <a:rPr lang="en-US" b="1" dirty="0">
                <a:latin typeface="Courier New" panose="02070309020205020404" pitchFamily="49" charset="0"/>
                <a:cs typeface="Courier New" panose="02070309020205020404" pitchFamily="49" charset="0"/>
              </a:rPr>
              <a:t>7.2.0</a:t>
            </a:r>
            <a:endParaRPr lang="en-US" dirty="0">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b="1" dirty="0">
                <a:latin typeface="+mj-lt"/>
                <a:cs typeface="Courier New" panose="02070309020205020404" pitchFamily="49" charset="0"/>
              </a:rPr>
              <a:t>config-class </a:t>
            </a:r>
            <a:r>
              <a:rPr lang="en-US" dirty="0">
                <a:solidFill>
                  <a:srgbClr val="00BAB3"/>
                </a:solidFill>
                <a:latin typeface="+mj-lt"/>
                <a:cs typeface="Courier New" panose="02070309020205020404" pitchFamily="49" charset="0"/>
              </a:rPr>
              <a:t>CustomConfiguration.java </a:t>
            </a:r>
            <a:r>
              <a:rPr lang="en-US" dirty="0">
                <a:latin typeface="+mj-lt"/>
                <a:cs typeface="Courier New" panose="02070309020205020404" pitchFamily="49" charset="0"/>
              </a:rPr>
              <a:t>contains the details of the default and configurable values of the plugin.</a:t>
            </a:r>
          </a:p>
          <a:p>
            <a:pPr marL="342900" indent="-342900">
              <a:buFont typeface="Arial" panose="020B0604020202020204" pitchFamily="34" charset="0"/>
              <a:buChar char="•"/>
            </a:pPr>
            <a:r>
              <a:rPr lang="en-US" dirty="0">
                <a:latin typeface="+mj-lt"/>
                <a:cs typeface="Courier New" panose="02070309020205020404" pitchFamily="49" charset="0"/>
              </a:rPr>
              <a:t>Type can be:</a:t>
            </a:r>
          </a:p>
          <a:p>
            <a:pPr marL="525780" lvl="1" indent="-342900"/>
            <a:r>
              <a:rPr lang="en-US" b="1" dirty="0">
                <a:latin typeface="+mj-lt"/>
                <a:cs typeface="Courier New" panose="02070309020205020404" pitchFamily="49" charset="0"/>
              </a:rPr>
              <a:t>SLIMSGATE</a:t>
            </a:r>
            <a:r>
              <a:rPr lang="en-US" dirty="0">
                <a:latin typeface="+mj-lt"/>
                <a:cs typeface="Courier New" panose="02070309020205020404" pitchFamily="49" charset="0"/>
              </a:rPr>
              <a:t>: SLIMS GATE plugin – create your own custom instrument interface or automation.</a:t>
            </a:r>
          </a:p>
          <a:p>
            <a:pPr marL="525780" lvl="1" indent="-342900"/>
            <a:r>
              <a:rPr lang="en-US" b="1" dirty="0">
                <a:latin typeface="+mj-lt"/>
                <a:cs typeface="Courier New" panose="02070309020205020404" pitchFamily="49" charset="0"/>
              </a:rPr>
              <a:t>LIBRARY</a:t>
            </a:r>
            <a:r>
              <a:rPr lang="en-US" dirty="0">
                <a:latin typeface="+mj-lt"/>
                <a:cs typeface="Courier New" panose="02070309020205020404" pitchFamily="49" charset="0"/>
              </a:rPr>
              <a:t>: No plugin – create your own library of common functions on which other plugins can depend.</a:t>
            </a:r>
          </a:p>
          <a:p>
            <a:pPr marL="525780" lvl="1" indent="-342900"/>
            <a:r>
              <a:rPr lang="en-US" b="1" dirty="0">
                <a:latin typeface="+mj-lt"/>
                <a:cs typeface="Courier New" panose="02070309020205020404" pitchFamily="49" charset="0"/>
              </a:rPr>
              <a:t>REMOTE</a:t>
            </a:r>
            <a:r>
              <a:rPr lang="en-US" dirty="0">
                <a:latin typeface="+mj-lt"/>
                <a:cs typeface="Courier New" panose="02070309020205020404" pitchFamily="49" charset="0"/>
              </a:rPr>
              <a:t>: Remote plugin – </a:t>
            </a:r>
            <a:r>
              <a:rPr lang="en-US" i="1" dirty="0">
                <a:latin typeface="+mj-lt"/>
                <a:cs typeface="Courier New" panose="02070309020205020404" pitchFamily="49" charset="0"/>
              </a:rPr>
              <a:t>SLIMS engineers </a:t>
            </a:r>
            <a:r>
              <a:rPr lang="en-US" dirty="0">
                <a:latin typeface="+mj-lt"/>
                <a:cs typeface="Courier New" panose="02070309020205020404" pitchFamily="49" charset="0"/>
              </a:rPr>
              <a:t>can create plugins that talk to a local daemon.</a:t>
            </a:r>
          </a:p>
          <a:p>
            <a:pPr marL="342900" indent="-342900">
              <a:buFont typeface="Arial" panose="020B0604020202020204" pitchFamily="34" charset="0"/>
              <a:buChar char="•"/>
            </a:pPr>
            <a:r>
              <a:rPr lang="en-US" b="1" dirty="0" err="1">
                <a:latin typeface="+mj-lt"/>
                <a:cs typeface="Courier New" panose="02070309020205020404" pitchFamily="49" charset="0"/>
              </a:rPr>
              <a:t>apiVersion</a:t>
            </a:r>
            <a:r>
              <a:rPr lang="en-US" dirty="0">
                <a:latin typeface="+mj-lt"/>
                <a:cs typeface="Courier New" panose="02070309020205020404" pitchFamily="49" charset="0"/>
              </a:rPr>
              <a:t> needs to match your current main SLIMS version.</a:t>
            </a:r>
          </a:p>
        </p:txBody>
      </p:sp>
      <p:sp>
        <p:nvSpPr>
          <p:cNvPr id="2" name="Footer Placeholder 1">
            <a:extLst>
              <a:ext uri="{FF2B5EF4-FFF2-40B4-BE49-F238E27FC236}">
                <a16:creationId xmlns:a16="http://schemas.microsoft.com/office/drawing/2014/main" id="{04933D75-3E05-452C-9DB4-47809DBF678F}"/>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3" name="Slide Number Placeholder 2">
            <a:extLst>
              <a:ext uri="{FF2B5EF4-FFF2-40B4-BE49-F238E27FC236}">
                <a16:creationId xmlns:a16="http://schemas.microsoft.com/office/drawing/2014/main" id="{4A5F71B7-A944-40FE-8E85-7CA2801E7DEE}"/>
              </a:ext>
            </a:extLst>
          </p:cNvPr>
          <p:cNvSpPr>
            <a:spLocks noGrp="1"/>
          </p:cNvSpPr>
          <p:nvPr>
            <p:ph type="sldNum" sz="quarter" idx="12"/>
          </p:nvPr>
        </p:nvSpPr>
        <p:spPr/>
        <p:txBody>
          <a:bodyPr/>
          <a:lstStyle/>
          <a:p>
            <a:fld id="{CBD803B2-A378-42BD-B5EC-F7748F169FE0}" type="slidenum">
              <a:rPr lang="en-US" smtClean="0"/>
              <a:pPr/>
              <a:t>17</a:t>
            </a:fld>
            <a:endParaRPr lang="en-US" dirty="0"/>
          </a:p>
        </p:txBody>
      </p:sp>
      <p:sp>
        <p:nvSpPr>
          <p:cNvPr id="10" name="Text Placeholder 9">
            <a:extLst>
              <a:ext uri="{FF2B5EF4-FFF2-40B4-BE49-F238E27FC236}">
                <a16:creationId xmlns:a16="http://schemas.microsoft.com/office/drawing/2014/main" id="{DF2B880E-EDA4-44E1-853C-2FB76293D803}"/>
              </a:ext>
            </a:extLst>
          </p:cNvPr>
          <p:cNvSpPr>
            <a:spLocks noGrp="1"/>
          </p:cNvSpPr>
          <p:nvPr>
            <p:ph type="body" sz="quarter" idx="13"/>
          </p:nvPr>
        </p:nvSpPr>
        <p:spPr/>
        <p:txBody>
          <a:bodyPr>
            <a:normAutofit lnSpcReduction="10000"/>
          </a:bodyPr>
          <a:lstStyle/>
          <a:p>
            <a:r>
              <a:rPr lang="en-US" dirty="0"/>
              <a:t>Important Takeaways</a:t>
            </a:r>
          </a:p>
        </p:txBody>
      </p:sp>
      <p:sp>
        <p:nvSpPr>
          <p:cNvPr id="8" name="Title 7">
            <a:extLst>
              <a:ext uri="{FF2B5EF4-FFF2-40B4-BE49-F238E27FC236}">
                <a16:creationId xmlns:a16="http://schemas.microsoft.com/office/drawing/2014/main" id="{E02E22E2-D130-4DFD-88C9-EC79206F2433}"/>
              </a:ext>
            </a:extLst>
          </p:cNvPr>
          <p:cNvSpPr>
            <a:spLocks noGrp="1"/>
          </p:cNvSpPr>
          <p:nvPr>
            <p:ph type="title"/>
          </p:nvPr>
        </p:nvSpPr>
        <p:spPr/>
        <p:txBody>
          <a:bodyPr/>
          <a:lstStyle/>
          <a:p>
            <a:r>
              <a:rPr lang="en-US" dirty="0" err="1"/>
              <a:t>plugin.properties</a:t>
            </a:r>
            <a:endParaRPr lang="en-US" dirty="0"/>
          </a:p>
        </p:txBody>
      </p:sp>
    </p:spTree>
    <p:extLst>
      <p:ext uri="{BB962C8B-B14F-4D97-AF65-F5344CB8AC3E}">
        <p14:creationId xmlns:p14="http://schemas.microsoft.com/office/powerpoint/2010/main" val="3359779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0DBBDF2-7F11-4E88-BD52-486DEC88EBFB}"/>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5" name="Slide Number Placeholder 4">
            <a:extLst>
              <a:ext uri="{FF2B5EF4-FFF2-40B4-BE49-F238E27FC236}">
                <a16:creationId xmlns:a16="http://schemas.microsoft.com/office/drawing/2014/main" id="{EEF0E4D1-B3DF-42BA-87C3-59D941B01866}"/>
              </a:ext>
            </a:extLst>
          </p:cNvPr>
          <p:cNvSpPr>
            <a:spLocks noGrp="1"/>
          </p:cNvSpPr>
          <p:nvPr>
            <p:ph type="sldNum" sz="quarter" idx="12"/>
          </p:nvPr>
        </p:nvSpPr>
        <p:spPr/>
        <p:txBody>
          <a:bodyPr/>
          <a:lstStyle/>
          <a:p>
            <a:fld id="{CBD803B2-A378-42BD-B5EC-F7748F169FE0}" type="slidenum">
              <a:rPr lang="en-US" smtClean="0"/>
              <a:pPr/>
              <a:t>18</a:t>
            </a:fld>
            <a:endParaRPr lang="en-US" dirty="0"/>
          </a:p>
        </p:txBody>
      </p:sp>
      <p:sp>
        <p:nvSpPr>
          <p:cNvPr id="8" name="Text Placeholder 7">
            <a:extLst>
              <a:ext uri="{FF2B5EF4-FFF2-40B4-BE49-F238E27FC236}">
                <a16:creationId xmlns:a16="http://schemas.microsoft.com/office/drawing/2014/main" id="{8670D26B-3BA5-4F6F-8AFC-EDCA857AD019}"/>
              </a:ext>
            </a:extLst>
          </p:cNvPr>
          <p:cNvSpPr>
            <a:spLocks noGrp="1"/>
          </p:cNvSpPr>
          <p:nvPr>
            <p:ph type="body" sz="quarter" idx="13"/>
          </p:nvPr>
        </p:nvSpPr>
        <p:spPr/>
        <p:txBody>
          <a:bodyPr>
            <a:normAutofit lnSpcReduction="10000"/>
          </a:bodyPr>
          <a:lstStyle/>
          <a:p>
            <a:r>
              <a:rPr lang="en-US" dirty="0"/>
              <a:t>Anatomy</a:t>
            </a:r>
          </a:p>
        </p:txBody>
      </p:sp>
      <p:sp>
        <p:nvSpPr>
          <p:cNvPr id="6" name="Title 5">
            <a:extLst>
              <a:ext uri="{FF2B5EF4-FFF2-40B4-BE49-F238E27FC236}">
                <a16:creationId xmlns:a16="http://schemas.microsoft.com/office/drawing/2014/main" id="{0569CAB7-575A-4C08-8E90-508C59027446}"/>
              </a:ext>
            </a:extLst>
          </p:cNvPr>
          <p:cNvSpPr>
            <a:spLocks noGrp="1"/>
          </p:cNvSpPr>
          <p:nvPr>
            <p:ph type="title"/>
          </p:nvPr>
        </p:nvSpPr>
        <p:spPr/>
        <p:txBody>
          <a:bodyPr/>
          <a:lstStyle/>
          <a:p>
            <a:r>
              <a:rPr lang="en-US" dirty="0"/>
              <a:t>Say Hello Example</a:t>
            </a:r>
          </a:p>
        </p:txBody>
      </p:sp>
      <p:sp>
        <p:nvSpPr>
          <p:cNvPr id="12" name="Rectangle: Rounded Corners 11">
            <a:extLst>
              <a:ext uri="{FF2B5EF4-FFF2-40B4-BE49-F238E27FC236}">
                <a16:creationId xmlns:a16="http://schemas.microsoft.com/office/drawing/2014/main" id="{D8EE6B56-FE9B-4A5F-B624-E9647A615F55}"/>
              </a:ext>
            </a:extLst>
          </p:cNvPr>
          <p:cNvSpPr/>
          <p:nvPr/>
        </p:nvSpPr>
        <p:spPr>
          <a:xfrm>
            <a:off x="1274656" y="3340948"/>
            <a:ext cx="2681056" cy="1251752"/>
          </a:xfrm>
          <a:prstGeom prst="roundRect">
            <a:avLst/>
          </a:prstGeom>
          <a:noFill/>
          <a:ln w="28575">
            <a:solidFill>
              <a:schemeClr val="accent1"/>
            </a:solidFill>
            <a:prstDash val="dash"/>
          </a:ln>
        </p:spPr>
        <p:style>
          <a:lnRef idx="2">
            <a:schemeClr val="accent2">
              <a:shade val="50000"/>
            </a:schemeClr>
          </a:lnRef>
          <a:fillRef idx="1">
            <a:schemeClr val="accent2"/>
          </a:fillRef>
          <a:effectRef idx="0">
            <a:schemeClr val="accent2"/>
          </a:effectRef>
          <a:fontRef idx="minor">
            <a:schemeClr val="lt1"/>
          </a:fontRef>
        </p:style>
        <p:txBody>
          <a:bodyPr rtlCol="0" anchor="t"/>
          <a:lstStyle/>
          <a:p>
            <a:r>
              <a:rPr lang="en-US" sz="1200" dirty="0">
                <a:solidFill>
                  <a:schemeClr val="tx1"/>
                </a:solidFill>
                <a:latin typeface="Courier New" panose="02070309020205020404" pitchFamily="49" charset="0"/>
                <a:cs typeface="Courier New" panose="02070309020205020404" pitchFamily="49" charset="0"/>
              </a:rPr>
              <a:t>SayHelloBuilder.java</a:t>
            </a:r>
          </a:p>
          <a:p>
            <a:endParaRPr lang="en-US" sz="1200" dirty="0">
              <a:solidFill>
                <a:schemeClr val="tx1"/>
              </a:solidFill>
              <a:latin typeface="Courier New" panose="02070309020205020404" pitchFamily="49" charset="0"/>
              <a:cs typeface="Courier New" panose="02070309020205020404" pitchFamily="49" charset="0"/>
            </a:endParaRPr>
          </a:p>
          <a:p>
            <a:r>
              <a:rPr lang="en-US" sz="1200" dirty="0">
                <a:solidFill>
                  <a:schemeClr val="tx1"/>
                </a:solidFill>
                <a:latin typeface="Courier New" panose="02070309020205020404" pitchFamily="49" charset="0"/>
                <a:cs typeface="Courier New" panose="02070309020205020404" pitchFamily="49" charset="0"/>
              </a:rPr>
              <a:t>.to(“</a:t>
            </a:r>
            <a:r>
              <a:rPr lang="en-US" sz="1200" dirty="0" err="1">
                <a:solidFill>
                  <a:schemeClr val="tx1"/>
                </a:solidFill>
                <a:latin typeface="Courier New" panose="02070309020205020404" pitchFamily="49" charset="0"/>
                <a:cs typeface="Courier New" panose="02070309020205020404" pitchFamily="49" charset="0"/>
              </a:rPr>
              <a:t>bean:sayHello</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a:t>
            </a:r>
            <a:r>
              <a:rPr lang="en-US" sz="1200" dirty="0" err="1">
                <a:solidFill>
                  <a:schemeClr val="tx1"/>
                </a:solidFill>
                <a:latin typeface="Courier New" panose="02070309020205020404" pitchFamily="49" charset="0"/>
                <a:cs typeface="Courier New" panose="02070309020205020404" pitchFamily="49" charset="0"/>
              </a:rPr>
              <a:t>routeId</a:t>
            </a:r>
            <a:r>
              <a:rPr lang="en-US" sz="1200" dirty="0">
                <a:solidFill>
                  <a:schemeClr val="tx1"/>
                </a:solidFill>
                <a:latin typeface="Courier New" panose="02070309020205020404" pitchFamily="49" charset="0"/>
                <a:cs typeface="Courier New" panose="02070309020205020404" pitchFamily="49" charset="0"/>
              </a:rPr>
              <a:t>(“</a:t>
            </a:r>
            <a:r>
              <a:rPr lang="en-US" sz="1200" dirty="0" err="1">
                <a:solidFill>
                  <a:schemeClr val="tx1"/>
                </a:solidFill>
                <a:latin typeface="Courier New" panose="02070309020205020404" pitchFamily="49" charset="0"/>
                <a:cs typeface="Courier New" panose="02070309020205020404" pitchFamily="49" charset="0"/>
              </a:rPr>
              <a:t>sayHello</a:t>
            </a:r>
            <a:r>
              <a:rPr lang="en-US" sz="1200" dirty="0">
                <a:solidFill>
                  <a:schemeClr val="tx1"/>
                </a:solidFill>
                <a:latin typeface="Courier New" panose="02070309020205020404" pitchFamily="49" charset="0"/>
                <a:cs typeface="Courier New" panose="02070309020205020404" pitchFamily="49" charset="0"/>
              </a:rPr>
              <a:t>”)</a:t>
            </a:r>
          </a:p>
        </p:txBody>
      </p:sp>
      <p:sp>
        <p:nvSpPr>
          <p:cNvPr id="13" name="Rectangle: Rounded Corners 12">
            <a:extLst>
              <a:ext uri="{FF2B5EF4-FFF2-40B4-BE49-F238E27FC236}">
                <a16:creationId xmlns:a16="http://schemas.microsoft.com/office/drawing/2014/main" id="{9F2E4400-1779-4349-9389-416EF470ABBD}"/>
              </a:ext>
            </a:extLst>
          </p:cNvPr>
          <p:cNvSpPr/>
          <p:nvPr/>
        </p:nvSpPr>
        <p:spPr>
          <a:xfrm>
            <a:off x="5296240" y="2803575"/>
            <a:ext cx="5544470" cy="2326498"/>
          </a:xfrm>
          <a:prstGeom prst="roundRect">
            <a:avLst/>
          </a:prstGeom>
          <a:noFill/>
          <a:ln w="28575">
            <a:solidFill>
              <a:schemeClr val="accent4"/>
            </a:solidFill>
            <a:prstDash val="dash"/>
          </a:ln>
        </p:spPr>
        <p:style>
          <a:lnRef idx="2">
            <a:schemeClr val="accent4">
              <a:shade val="50000"/>
            </a:schemeClr>
          </a:lnRef>
          <a:fillRef idx="1">
            <a:schemeClr val="accent4"/>
          </a:fillRef>
          <a:effectRef idx="0">
            <a:schemeClr val="accent4"/>
          </a:effectRef>
          <a:fontRef idx="minor">
            <a:schemeClr val="lt1"/>
          </a:fontRef>
        </p:style>
        <p:txBody>
          <a:bodyPr rtlCol="0" anchor="t"/>
          <a:lstStyle/>
          <a:p>
            <a:r>
              <a:rPr lang="en-US" sz="1200" dirty="0">
                <a:solidFill>
                  <a:schemeClr val="tx1"/>
                </a:solidFill>
                <a:latin typeface="Courier New" panose="02070309020205020404" pitchFamily="49" charset="0"/>
                <a:cs typeface="Courier New" panose="02070309020205020404" pitchFamily="49" charset="0"/>
              </a:rPr>
              <a:t>SayHello.java</a:t>
            </a:r>
          </a:p>
          <a:p>
            <a:endParaRPr lang="en-US" sz="1200" dirty="0">
              <a:solidFill>
                <a:schemeClr val="tx1"/>
              </a:solidFill>
              <a:latin typeface="Courier New" panose="02070309020205020404" pitchFamily="49" charset="0"/>
              <a:cs typeface="Courier New" panose="02070309020205020404" pitchFamily="49" charset="0"/>
            </a:endParaRPr>
          </a:p>
          <a:p>
            <a:endParaRPr lang="en-US" sz="1200" dirty="0">
              <a:solidFill>
                <a:schemeClr val="tx1"/>
              </a:solidFill>
              <a:latin typeface="Courier New" panose="02070309020205020404" pitchFamily="49" charset="0"/>
              <a:cs typeface="Courier New" panose="02070309020205020404" pitchFamily="49" charset="0"/>
            </a:endParaRPr>
          </a:p>
          <a:p>
            <a:r>
              <a:rPr lang="en-US" sz="1200" dirty="0">
                <a:solidFill>
                  <a:schemeClr val="tx1"/>
                </a:solidFill>
                <a:latin typeface="Courier New" panose="02070309020205020404" pitchFamily="49" charset="0"/>
                <a:cs typeface="Courier New" panose="02070309020205020404" pitchFamily="49" charset="0"/>
              </a:rPr>
              <a:t>@Component</a:t>
            </a:r>
          </a:p>
          <a:p>
            <a:r>
              <a:rPr lang="en-US" sz="1200" dirty="0">
                <a:solidFill>
                  <a:schemeClr val="tx1"/>
                </a:solidFill>
                <a:latin typeface="Courier New" panose="02070309020205020404" pitchFamily="49" charset="0"/>
                <a:cs typeface="Courier New" panose="02070309020205020404" pitchFamily="49" charset="0"/>
              </a:rPr>
              <a:t>Public class </a:t>
            </a:r>
            <a:r>
              <a:rPr lang="en-US" sz="1200" dirty="0" err="1">
                <a:solidFill>
                  <a:schemeClr val="tx1"/>
                </a:solidFill>
                <a:latin typeface="Courier New" panose="02070309020205020404" pitchFamily="49" charset="0"/>
                <a:cs typeface="Courier New" panose="02070309020205020404" pitchFamily="49" charset="0"/>
              </a:rPr>
              <a:t>SayHello</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dirty="0" err="1">
                <a:solidFill>
                  <a:schemeClr val="tx1"/>
                </a:solidFill>
                <a:latin typeface="Courier New" panose="02070309020205020404" pitchFamily="49" charset="0"/>
                <a:cs typeface="Courier New" panose="02070309020205020404" pitchFamily="49" charset="0"/>
              </a:rPr>
              <a:t>Autowired</a:t>
            </a:r>
            <a:r>
              <a:rPr lang="en-US" sz="1200" dirty="0">
                <a:solidFill>
                  <a:schemeClr val="tx1"/>
                </a:solidFill>
                <a:latin typeface="Courier New" panose="02070309020205020404" pitchFamily="49" charset="0"/>
                <a:cs typeface="Courier New" panose="02070309020205020404" pitchFamily="49" charset="0"/>
              </a:rPr>
              <a:t> </a:t>
            </a:r>
            <a:br>
              <a:rPr lang="en-US" sz="1200" dirty="0">
                <a:solidFill>
                  <a:schemeClr val="tx1"/>
                </a:solidFill>
                <a:latin typeface="Courier New" panose="02070309020205020404" pitchFamily="49" charset="0"/>
                <a:cs typeface="Courier New" panose="02070309020205020404" pitchFamily="49" charset="0"/>
              </a:rPr>
            </a:br>
            <a:r>
              <a:rPr lang="en-US" sz="1200" dirty="0">
                <a:solidFill>
                  <a:schemeClr val="tx1"/>
                </a:solidFill>
                <a:latin typeface="Courier New" panose="02070309020205020404" pitchFamily="49" charset="0"/>
                <a:cs typeface="Courier New" panose="02070309020205020404" pitchFamily="49" charset="0"/>
              </a:rPr>
              <a:t>     private </a:t>
            </a:r>
            <a:r>
              <a:rPr lang="en-US" sz="1200" dirty="0" err="1">
                <a:solidFill>
                  <a:schemeClr val="tx1"/>
                </a:solidFill>
                <a:latin typeface="Courier New" panose="02070309020205020404" pitchFamily="49" charset="0"/>
                <a:cs typeface="Courier New" panose="02070309020205020404" pitchFamily="49" charset="0"/>
              </a:rPr>
              <a:t>CustomConfiguration</a:t>
            </a:r>
            <a:r>
              <a:rPr lang="en-US" sz="1200" dirty="0">
                <a:solidFill>
                  <a:schemeClr val="tx1"/>
                </a:solidFill>
                <a:latin typeface="Courier New" panose="02070309020205020404" pitchFamily="49" charset="0"/>
                <a:cs typeface="Courier New" panose="02070309020205020404" pitchFamily="49" charset="0"/>
              </a:rPr>
              <a:t> </a:t>
            </a:r>
            <a:r>
              <a:rPr lang="en-US" sz="1200" dirty="0" err="1">
                <a:solidFill>
                  <a:schemeClr val="tx1"/>
                </a:solidFill>
                <a:latin typeface="Courier New" panose="02070309020205020404" pitchFamily="49" charset="0"/>
                <a:cs typeface="Courier New" panose="02070309020205020404" pitchFamily="49" charset="0"/>
              </a:rPr>
              <a:t>customConfiguration</a:t>
            </a:r>
            <a:r>
              <a:rPr lang="en-US" sz="1200" dirty="0">
                <a:solidFill>
                  <a:schemeClr val="tx1"/>
                </a:solidFill>
                <a:latin typeface="Courier New" panose="02070309020205020404" pitchFamily="49" charset="0"/>
                <a:cs typeface="Courier New" panose="02070309020205020404" pitchFamily="49" charset="0"/>
              </a:rPr>
              <a:t> </a:t>
            </a:r>
          </a:p>
          <a:p>
            <a:endParaRPr lang="en-US" sz="1200" dirty="0">
              <a:solidFill>
                <a:schemeClr val="tx1"/>
              </a:solidFill>
              <a:latin typeface="Courier New" panose="02070309020205020404" pitchFamily="49" charset="0"/>
              <a:cs typeface="Courier New" panose="02070309020205020404" pitchFamily="49" charset="0"/>
            </a:endParaRPr>
          </a:p>
          <a:p>
            <a:r>
              <a:rPr lang="en-US" sz="1200" dirty="0">
                <a:solidFill>
                  <a:schemeClr val="tx1"/>
                </a:solidFill>
                <a:latin typeface="Courier New" panose="02070309020205020404" pitchFamily="49" charset="0"/>
                <a:cs typeface="Courier New" panose="02070309020205020404" pitchFamily="49" charset="0"/>
              </a:rPr>
              <a:t>}</a:t>
            </a:r>
          </a:p>
        </p:txBody>
      </p:sp>
      <p:sp>
        <p:nvSpPr>
          <p:cNvPr id="14" name="Rectangle: Rounded Corners 13">
            <a:extLst>
              <a:ext uri="{FF2B5EF4-FFF2-40B4-BE49-F238E27FC236}">
                <a16:creationId xmlns:a16="http://schemas.microsoft.com/office/drawing/2014/main" id="{C6F46C94-9740-4933-B2A3-84B6A6A39BF4}"/>
              </a:ext>
            </a:extLst>
          </p:cNvPr>
          <p:cNvSpPr/>
          <p:nvPr/>
        </p:nvSpPr>
        <p:spPr>
          <a:xfrm>
            <a:off x="1274657" y="5008224"/>
            <a:ext cx="2681056" cy="1103657"/>
          </a:xfrm>
          <a:prstGeom prst="roundRect">
            <a:avLst/>
          </a:prstGeom>
          <a:noFill/>
          <a:ln w="28575">
            <a:solidFill>
              <a:srgbClr val="00BAB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latin typeface="Courier New" panose="02070309020205020404" pitchFamily="49" charset="0"/>
                <a:cs typeface="Courier New" panose="02070309020205020404" pitchFamily="49" charset="0"/>
              </a:rPr>
              <a:t>slimsgate.xml</a:t>
            </a:r>
          </a:p>
          <a:p>
            <a:endParaRPr lang="en-US" sz="1200" dirty="0">
              <a:solidFill>
                <a:schemeClr val="tx1"/>
              </a:solidFill>
              <a:latin typeface="Courier New" panose="02070309020205020404" pitchFamily="49" charset="0"/>
              <a:cs typeface="Courier New" panose="02070309020205020404" pitchFamily="49" charset="0"/>
            </a:endParaRPr>
          </a:p>
          <a:p>
            <a:r>
              <a:rPr lang="en-US" sz="1200" dirty="0">
                <a:solidFill>
                  <a:schemeClr val="tx1"/>
                </a:solidFill>
                <a:latin typeface="Courier New" panose="02070309020205020404" pitchFamily="49" charset="0"/>
                <a:cs typeface="Courier New" panose="02070309020205020404" pitchFamily="49" charset="0"/>
              </a:rPr>
              <a:t>&lt;route&gt;</a:t>
            </a:r>
            <a:r>
              <a:rPr lang="en-US" sz="1200" dirty="0" err="1">
                <a:solidFill>
                  <a:schemeClr val="tx1"/>
                </a:solidFill>
                <a:latin typeface="Courier New" panose="02070309020205020404" pitchFamily="49" charset="0"/>
                <a:cs typeface="Courier New" panose="02070309020205020404" pitchFamily="49" charset="0"/>
              </a:rPr>
              <a:t>sayHello</a:t>
            </a:r>
            <a:r>
              <a:rPr lang="en-US" sz="1200" dirty="0">
                <a:solidFill>
                  <a:schemeClr val="tx1"/>
                </a:solidFill>
                <a:latin typeface="Courier New" panose="02070309020205020404" pitchFamily="49" charset="0"/>
                <a:cs typeface="Courier New" panose="02070309020205020404" pitchFamily="49" charset="0"/>
              </a:rPr>
              <a:t>&lt;/route&gt;</a:t>
            </a:r>
          </a:p>
        </p:txBody>
      </p:sp>
      <p:cxnSp>
        <p:nvCxnSpPr>
          <p:cNvPr id="15" name="Straight Arrow Connector 14">
            <a:extLst>
              <a:ext uri="{FF2B5EF4-FFF2-40B4-BE49-F238E27FC236}">
                <a16:creationId xmlns:a16="http://schemas.microsoft.com/office/drawing/2014/main" id="{ECF3B6AF-9B53-4940-AAB2-9C7C19ECEE3C}"/>
              </a:ext>
            </a:extLst>
          </p:cNvPr>
          <p:cNvCxnSpPr>
            <a:cxnSpLocks/>
            <a:stCxn id="14" idx="0"/>
            <a:endCxn id="12" idx="2"/>
          </p:cNvCxnSpPr>
          <p:nvPr/>
        </p:nvCxnSpPr>
        <p:spPr>
          <a:xfrm flipH="1" flipV="1">
            <a:off x="2615184" y="4592700"/>
            <a:ext cx="1" cy="415524"/>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6E5DAAD5-C7A1-40E4-972E-B08A1617478D}"/>
              </a:ext>
            </a:extLst>
          </p:cNvPr>
          <p:cNvSpPr/>
          <p:nvPr/>
        </p:nvSpPr>
        <p:spPr>
          <a:xfrm>
            <a:off x="1274656" y="1525814"/>
            <a:ext cx="2681056" cy="1203355"/>
          </a:xfrm>
          <a:prstGeom prst="roundRect">
            <a:avLst/>
          </a:prstGeom>
          <a:noFill/>
          <a:ln w="28575">
            <a:solidFill>
              <a:schemeClr val="tx1"/>
            </a:solidFill>
            <a:prstDash val="dash"/>
          </a:ln>
        </p:spPr>
        <p:style>
          <a:lnRef idx="2">
            <a:schemeClr val="dk1">
              <a:shade val="50000"/>
            </a:schemeClr>
          </a:lnRef>
          <a:fillRef idx="1">
            <a:schemeClr val="dk1"/>
          </a:fillRef>
          <a:effectRef idx="0">
            <a:schemeClr val="dk1"/>
          </a:effectRef>
          <a:fontRef idx="minor">
            <a:schemeClr val="lt1"/>
          </a:fontRef>
        </p:style>
        <p:txBody>
          <a:bodyPr rtlCol="0" anchor="t"/>
          <a:lstStyle/>
          <a:p>
            <a:r>
              <a:rPr lang="en-US" sz="1200" dirty="0">
                <a:solidFill>
                  <a:schemeClr val="tx1"/>
                </a:solidFill>
                <a:latin typeface="Courier New" panose="02070309020205020404" pitchFamily="49" charset="0"/>
                <a:cs typeface="Courier New" panose="02070309020205020404" pitchFamily="49" charset="0"/>
              </a:rPr>
              <a:t>camel-context.xml</a:t>
            </a:r>
          </a:p>
          <a:p>
            <a:endParaRPr lang="en-US" sz="1200" dirty="0">
              <a:solidFill>
                <a:schemeClr val="tx1"/>
              </a:solidFill>
              <a:latin typeface="Courier New" panose="02070309020205020404" pitchFamily="49" charset="0"/>
              <a:cs typeface="Courier New" panose="02070309020205020404" pitchFamily="49" charset="0"/>
            </a:endParaRPr>
          </a:p>
          <a:p>
            <a:r>
              <a:rPr lang="en-US" sz="1200" dirty="0">
                <a:solidFill>
                  <a:schemeClr val="tx1"/>
                </a:solidFill>
                <a:latin typeface="Courier New" panose="02070309020205020404" pitchFamily="49" charset="0"/>
                <a:cs typeface="Courier New" panose="02070309020205020404" pitchFamily="49" charset="0"/>
              </a:rPr>
              <a:t>&lt;</a:t>
            </a:r>
            <a:r>
              <a:rPr lang="en-US" sz="1200" dirty="0" err="1">
                <a:solidFill>
                  <a:schemeClr val="tx1"/>
                </a:solidFill>
                <a:latin typeface="Courier New" panose="02070309020205020404" pitchFamily="49" charset="0"/>
                <a:cs typeface="Courier New" panose="02070309020205020404" pitchFamily="49" charset="0"/>
              </a:rPr>
              <a:t>routeBuilder</a:t>
            </a:r>
            <a:r>
              <a:rPr lang="en-US" sz="1200" dirty="0">
                <a:solidFill>
                  <a:schemeClr val="tx1"/>
                </a:solidFill>
                <a:latin typeface="Courier New" panose="02070309020205020404" pitchFamily="49" charset="0"/>
                <a:cs typeface="Courier New" panose="02070309020205020404" pitchFamily="49" charset="0"/>
              </a:rPr>
              <a:t> ref=“</a:t>
            </a:r>
            <a:r>
              <a:rPr lang="en-US" sz="1200" dirty="0" err="1">
                <a:solidFill>
                  <a:schemeClr val="tx1"/>
                </a:solidFill>
                <a:latin typeface="Courier New" panose="02070309020205020404" pitchFamily="49" charset="0"/>
                <a:cs typeface="Courier New" panose="02070309020205020404" pitchFamily="49" charset="0"/>
              </a:rPr>
              <a:t>sayHelloBuilder</a:t>
            </a:r>
            <a:r>
              <a:rPr lang="en-US" sz="1200" dirty="0">
                <a:solidFill>
                  <a:schemeClr val="tx1"/>
                </a:solidFill>
                <a:latin typeface="Courier New" panose="02070309020205020404" pitchFamily="49" charset="0"/>
                <a:cs typeface="Courier New" panose="02070309020205020404" pitchFamily="49" charset="0"/>
              </a:rPr>
              <a:t>”&gt;</a:t>
            </a:r>
          </a:p>
        </p:txBody>
      </p:sp>
      <p:cxnSp>
        <p:nvCxnSpPr>
          <p:cNvPr id="17" name="Straight Arrow Connector 16">
            <a:extLst>
              <a:ext uri="{FF2B5EF4-FFF2-40B4-BE49-F238E27FC236}">
                <a16:creationId xmlns:a16="http://schemas.microsoft.com/office/drawing/2014/main" id="{F7ED5BFD-4ECB-4A30-8E2C-B276934C967A}"/>
              </a:ext>
            </a:extLst>
          </p:cNvPr>
          <p:cNvCxnSpPr>
            <a:cxnSpLocks/>
            <a:stCxn id="16" idx="2"/>
            <a:endCxn id="12" idx="0"/>
          </p:cNvCxnSpPr>
          <p:nvPr/>
        </p:nvCxnSpPr>
        <p:spPr>
          <a:xfrm>
            <a:off x="2615184" y="2729169"/>
            <a:ext cx="0" cy="61177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263D6E6-65CD-4861-8276-F1EC4B30E720}"/>
              </a:ext>
            </a:extLst>
          </p:cNvPr>
          <p:cNvCxnSpPr>
            <a:cxnSpLocks/>
            <a:stCxn id="12" idx="3"/>
            <a:endCxn id="13" idx="1"/>
          </p:cNvCxnSpPr>
          <p:nvPr/>
        </p:nvCxnSpPr>
        <p:spPr>
          <a:xfrm>
            <a:off x="3955712" y="3966824"/>
            <a:ext cx="1340528" cy="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14017632-619B-462B-948F-9BCB603CCF99}"/>
              </a:ext>
            </a:extLst>
          </p:cNvPr>
          <p:cNvSpPr/>
          <p:nvPr/>
        </p:nvSpPr>
        <p:spPr>
          <a:xfrm>
            <a:off x="6467353" y="1678971"/>
            <a:ext cx="2681056" cy="448520"/>
          </a:xfrm>
          <a:prstGeom prst="roundRect">
            <a:avLst/>
          </a:prstGeom>
          <a:noFill/>
          <a:ln w="28575">
            <a:solidFill>
              <a:srgbClr val="00BAB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latin typeface="Courier New" panose="02070309020205020404" pitchFamily="49" charset="0"/>
                <a:cs typeface="Courier New" panose="02070309020205020404" pitchFamily="49" charset="0"/>
              </a:rPr>
              <a:t>CustomConfiguration.java</a:t>
            </a:r>
          </a:p>
        </p:txBody>
      </p:sp>
      <p:cxnSp>
        <p:nvCxnSpPr>
          <p:cNvPr id="20" name="Straight Arrow Connector 19">
            <a:extLst>
              <a:ext uri="{FF2B5EF4-FFF2-40B4-BE49-F238E27FC236}">
                <a16:creationId xmlns:a16="http://schemas.microsoft.com/office/drawing/2014/main" id="{176B8C0A-489D-448A-B519-0B4633F5954C}"/>
              </a:ext>
            </a:extLst>
          </p:cNvPr>
          <p:cNvCxnSpPr>
            <a:cxnSpLocks/>
            <a:stCxn id="13" idx="0"/>
            <a:endCxn id="19" idx="2"/>
          </p:cNvCxnSpPr>
          <p:nvPr/>
        </p:nvCxnSpPr>
        <p:spPr>
          <a:xfrm flipH="1" flipV="1">
            <a:off x="7807881" y="2127491"/>
            <a:ext cx="260594" cy="676084"/>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74074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BDA425F-96A4-4EEE-9435-C570D66F0926}"/>
              </a:ext>
            </a:extLst>
          </p:cNvPr>
          <p:cNvSpPr>
            <a:spLocks noGrp="1"/>
          </p:cNvSpPr>
          <p:nvPr>
            <p:ph type="title"/>
          </p:nvPr>
        </p:nvSpPr>
        <p:spPr/>
        <p:txBody>
          <a:bodyPr/>
          <a:lstStyle/>
          <a:p>
            <a:r>
              <a:rPr lang="en-US" dirty="0"/>
              <a:t>SpringConfig.java</a:t>
            </a:r>
          </a:p>
        </p:txBody>
      </p:sp>
      <p:sp>
        <p:nvSpPr>
          <p:cNvPr id="8" name="Content Placeholder 7">
            <a:extLst>
              <a:ext uri="{FF2B5EF4-FFF2-40B4-BE49-F238E27FC236}">
                <a16:creationId xmlns:a16="http://schemas.microsoft.com/office/drawing/2014/main" id="{DEEB727B-7AC0-4BF9-9906-2B4EDA5A52A3}"/>
              </a:ext>
            </a:extLst>
          </p:cNvPr>
          <p:cNvSpPr>
            <a:spLocks noGrp="1"/>
          </p:cNvSpPr>
          <p:nvPr>
            <p:ph idx="1"/>
          </p:nvPr>
        </p:nvSpPr>
        <p:spPr/>
        <p:txBody>
          <a:bodyPr/>
          <a:lstStyle/>
          <a:p>
            <a:r>
              <a:rPr lang="en-US" dirty="0"/>
              <a:t>Will never change.</a:t>
            </a:r>
          </a:p>
        </p:txBody>
      </p:sp>
      <p:sp>
        <p:nvSpPr>
          <p:cNvPr id="3" name="Footer Placeholder 2">
            <a:extLst>
              <a:ext uri="{FF2B5EF4-FFF2-40B4-BE49-F238E27FC236}">
                <a16:creationId xmlns:a16="http://schemas.microsoft.com/office/drawing/2014/main" id="{3E7A9C0B-1017-493B-8772-BCA909484D25}"/>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70E9D948-9D3F-4FC5-B554-B921EE9FEA7C}"/>
              </a:ext>
            </a:extLst>
          </p:cNvPr>
          <p:cNvSpPr>
            <a:spLocks noGrp="1"/>
          </p:cNvSpPr>
          <p:nvPr>
            <p:ph type="sldNum" sz="quarter" idx="12"/>
          </p:nvPr>
        </p:nvSpPr>
        <p:spPr/>
        <p:txBody>
          <a:bodyPr/>
          <a:lstStyle/>
          <a:p>
            <a:fld id="{CBD803B2-A378-42BD-B5EC-F7748F169FE0}" type="slidenum">
              <a:rPr lang="en-US" smtClean="0"/>
              <a:pPr/>
              <a:t>19</a:t>
            </a:fld>
            <a:endParaRPr lang="en-US" dirty="0"/>
          </a:p>
        </p:txBody>
      </p:sp>
      <p:pic>
        <p:nvPicPr>
          <p:cNvPr id="5" name="Picture 4">
            <a:extLst>
              <a:ext uri="{FF2B5EF4-FFF2-40B4-BE49-F238E27FC236}">
                <a16:creationId xmlns:a16="http://schemas.microsoft.com/office/drawing/2014/main" id="{55D6A1C2-43E4-4A8C-B2C0-6AF75A7422B3}"/>
              </a:ext>
            </a:extLst>
          </p:cNvPr>
          <p:cNvPicPr>
            <a:picLocks noChangeAspect="1"/>
          </p:cNvPicPr>
          <p:nvPr/>
        </p:nvPicPr>
        <p:blipFill>
          <a:blip r:embed="rId3"/>
          <a:stretch>
            <a:fillRect/>
          </a:stretch>
        </p:blipFill>
        <p:spPr>
          <a:xfrm>
            <a:off x="502920" y="2377821"/>
            <a:ext cx="4371975" cy="1247775"/>
          </a:xfrm>
          <a:prstGeom prst="rect">
            <a:avLst/>
          </a:prstGeom>
        </p:spPr>
      </p:pic>
    </p:spTree>
    <p:extLst>
      <p:ext uri="{BB962C8B-B14F-4D97-AF65-F5344CB8AC3E}">
        <p14:creationId xmlns:p14="http://schemas.microsoft.com/office/powerpoint/2010/main" val="1686016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55DF31B-5A4C-40BF-8501-59346B08D190}"/>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5" name="Slide Number Placeholder 4">
            <a:extLst>
              <a:ext uri="{FF2B5EF4-FFF2-40B4-BE49-F238E27FC236}">
                <a16:creationId xmlns:a16="http://schemas.microsoft.com/office/drawing/2014/main" id="{168E4629-B741-419F-91B0-6915E57AFF36}"/>
              </a:ext>
            </a:extLst>
          </p:cNvPr>
          <p:cNvSpPr>
            <a:spLocks noGrp="1"/>
          </p:cNvSpPr>
          <p:nvPr>
            <p:ph type="sldNum" sz="quarter" idx="12"/>
          </p:nvPr>
        </p:nvSpPr>
        <p:spPr/>
        <p:txBody>
          <a:bodyPr/>
          <a:lstStyle/>
          <a:p>
            <a:fld id="{CBD803B2-A378-42BD-B5EC-F7748F169FE0}" type="slidenum">
              <a:rPr lang="en-US" smtClean="0"/>
              <a:pPr/>
              <a:t>20</a:t>
            </a:fld>
            <a:endParaRPr lang="en-US" dirty="0"/>
          </a:p>
        </p:txBody>
      </p:sp>
      <p:sp>
        <p:nvSpPr>
          <p:cNvPr id="6" name="Title 5">
            <a:extLst>
              <a:ext uri="{FF2B5EF4-FFF2-40B4-BE49-F238E27FC236}">
                <a16:creationId xmlns:a16="http://schemas.microsoft.com/office/drawing/2014/main" id="{9136FF98-3488-4822-9C09-F42B8404A2FA}"/>
              </a:ext>
            </a:extLst>
          </p:cNvPr>
          <p:cNvSpPr>
            <a:spLocks noGrp="1"/>
          </p:cNvSpPr>
          <p:nvPr>
            <p:ph type="title"/>
          </p:nvPr>
        </p:nvSpPr>
        <p:spPr/>
        <p:txBody>
          <a:bodyPr/>
          <a:lstStyle/>
          <a:p>
            <a:r>
              <a:rPr lang="en-US" dirty="0"/>
              <a:t>slimsgate.xml</a:t>
            </a:r>
          </a:p>
        </p:txBody>
      </p:sp>
      <p:sp>
        <p:nvSpPr>
          <p:cNvPr id="7" name="Content Placeholder 6">
            <a:extLst>
              <a:ext uri="{FF2B5EF4-FFF2-40B4-BE49-F238E27FC236}">
                <a16:creationId xmlns:a16="http://schemas.microsoft.com/office/drawing/2014/main" id="{6A2F58A0-1E8A-4366-BF72-76884B2B9A74}"/>
              </a:ext>
            </a:extLst>
          </p:cNvPr>
          <p:cNvSpPr>
            <a:spLocks noGrp="1"/>
          </p:cNvSpPr>
          <p:nvPr>
            <p:ph sz="half" idx="1"/>
          </p:nvPr>
        </p:nvSpPr>
        <p:spPr/>
        <p:txBody>
          <a:bodyPr/>
          <a:lstStyle/>
          <a:p>
            <a:r>
              <a:rPr lang="en-US" dirty="0"/>
              <a:t>Defines what input is required from the user. Can be selection of a record (content, order, attachment) or a manual input.</a:t>
            </a:r>
          </a:p>
        </p:txBody>
      </p:sp>
      <p:pic>
        <p:nvPicPr>
          <p:cNvPr id="10" name="Picture 9">
            <a:extLst>
              <a:ext uri="{FF2B5EF4-FFF2-40B4-BE49-F238E27FC236}">
                <a16:creationId xmlns:a16="http://schemas.microsoft.com/office/drawing/2014/main" id="{0BD65CC4-0B2F-4D49-B43E-DB979DE892F8}"/>
              </a:ext>
            </a:extLst>
          </p:cNvPr>
          <p:cNvPicPr>
            <a:picLocks noChangeAspect="1"/>
          </p:cNvPicPr>
          <p:nvPr/>
        </p:nvPicPr>
        <p:blipFill>
          <a:blip r:embed="rId3"/>
          <a:stretch>
            <a:fillRect/>
          </a:stretch>
        </p:blipFill>
        <p:spPr>
          <a:xfrm>
            <a:off x="4442488" y="2556114"/>
            <a:ext cx="2497012" cy="1086829"/>
          </a:xfrm>
          <a:prstGeom prst="rect">
            <a:avLst/>
          </a:prstGeom>
        </p:spPr>
      </p:pic>
      <p:sp>
        <p:nvSpPr>
          <p:cNvPr id="15" name="Rectangle 14">
            <a:extLst>
              <a:ext uri="{FF2B5EF4-FFF2-40B4-BE49-F238E27FC236}">
                <a16:creationId xmlns:a16="http://schemas.microsoft.com/office/drawing/2014/main" id="{FCEE80D4-DFA6-4FE4-B793-9411A7DA979A}"/>
              </a:ext>
            </a:extLst>
          </p:cNvPr>
          <p:cNvSpPr/>
          <p:nvPr/>
        </p:nvSpPr>
        <p:spPr>
          <a:xfrm>
            <a:off x="4751287" y="3409558"/>
            <a:ext cx="1456980" cy="233385"/>
          </a:xfrm>
          <a:prstGeom prst="rect">
            <a:avLst/>
          </a:prstGeom>
          <a:noFill/>
          <a:ln w="28575">
            <a:solidFill>
              <a:srgbClr val="00BA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feld 23">
            <a:extLst>
              <a:ext uri="{FF2B5EF4-FFF2-40B4-BE49-F238E27FC236}">
                <a16:creationId xmlns:a16="http://schemas.microsoft.com/office/drawing/2014/main" id="{9072CA27-5775-493B-9570-AAB256866B83}"/>
              </a:ext>
            </a:extLst>
          </p:cNvPr>
          <p:cNvSpPr txBox="1"/>
          <p:nvPr/>
        </p:nvSpPr>
        <p:spPr>
          <a:xfrm>
            <a:off x="9154633" y="1614982"/>
            <a:ext cx="2534447" cy="230832"/>
          </a:xfrm>
          <a:prstGeom prst="rect">
            <a:avLst/>
          </a:prstGeom>
          <a:noFill/>
        </p:spPr>
        <p:txBody>
          <a:bodyPr wrap="square" rtlCol="0">
            <a:spAutoFit/>
          </a:bodyPr>
          <a:lstStyle/>
          <a:p>
            <a:r>
              <a:rPr lang="de-DE" sz="900" b="1" dirty="0">
                <a:solidFill>
                  <a:srgbClr val="0085D5"/>
                </a:solidFill>
              </a:rPr>
              <a:t>Zoom of slimsgate.xml file content</a:t>
            </a:r>
          </a:p>
        </p:txBody>
      </p:sp>
      <p:cxnSp>
        <p:nvCxnSpPr>
          <p:cNvPr id="17" name="Gerade Verbindung 15">
            <a:extLst>
              <a:ext uri="{FF2B5EF4-FFF2-40B4-BE49-F238E27FC236}">
                <a16:creationId xmlns:a16="http://schemas.microsoft.com/office/drawing/2014/main" id="{B852147C-7192-4E6A-A8EB-FF5C7D758D63}"/>
              </a:ext>
            </a:extLst>
          </p:cNvPr>
          <p:cNvCxnSpPr>
            <a:cxnSpLocks/>
          </p:cNvCxnSpPr>
          <p:nvPr/>
        </p:nvCxnSpPr>
        <p:spPr>
          <a:xfrm>
            <a:off x="6153283" y="3527300"/>
            <a:ext cx="1782338" cy="0"/>
          </a:xfrm>
          <a:prstGeom prst="line">
            <a:avLst/>
          </a:prstGeom>
          <a:ln w="12700" cmpd="sng">
            <a:solidFill>
              <a:schemeClr val="accent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0BC7A55C-6B93-47A4-90C7-C10CEA3EEB6E}"/>
              </a:ext>
            </a:extLst>
          </p:cNvPr>
          <p:cNvPicPr>
            <a:picLocks noChangeAspect="1"/>
          </p:cNvPicPr>
          <p:nvPr/>
        </p:nvPicPr>
        <p:blipFill>
          <a:blip r:embed="rId4"/>
          <a:stretch>
            <a:fillRect/>
          </a:stretch>
        </p:blipFill>
        <p:spPr>
          <a:xfrm>
            <a:off x="7350831" y="1947873"/>
            <a:ext cx="4170450" cy="3453467"/>
          </a:xfrm>
          <a:prstGeom prst="rect">
            <a:avLst/>
          </a:prstGeom>
          <a:noFill/>
          <a:ln w="28575">
            <a:solidFill>
              <a:srgbClr val="00BAB3"/>
            </a:solidFill>
          </a:ln>
        </p:spPr>
      </p:pic>
    </p:spTree>
    <p:extLst>
      <p:ext uri="{BB962C8B-B14F-4D97-AF65-F5344CB8AC3E}">
        <p14:creationId xmlns:p14="http://schemas.microsoft.com/office/powerpoint/2010/main" val="4075941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BDA425F-96A4-4EEE-9435-C570D66F0926}"/>
              </a:ext>
            </a:extLst>
          </p:cNvPr>
          <p:cNvSpPr>
            <a:spLocks noGrp="1"/>
          </p:cNvSpPr>
          <p:nvPr>
            <p:ph type="title"/>
          </p:nvPr>
        </p:nvSpPr>
        <p:spPr/>
        <p:txBody>
          <a:bodyPr/>
          <a:lstStyle/>
          <a:p>
            <a:r>
              <a:rPr lang="en-US" dirty="0"/>
              <a:t>slimsgate.xml - Parameters</a:t>
            </a:r>
          </a:p>
        </p:txBody>
      </p:sp>
      <p:sp>
        <p:nvSpPr>
          <p:cNvPr id="8" name="Content Placeholder 7">
            <a:extLst>
              <a:ext uri="{FF2B5EF4-FFF2-40B4-BE49-F238E27FC236}">
                <a16:creationId xmlns:a16="http://schemas.microsoft.com/office/drawing/2014/main" id="{DEEB727B-7AC0-4BF9-9906-2B4EDA5A52A3}"/>
              </a:ext>
            </a:extLst>
          </p:cNvPr>
          <p:cNvSpPr>
            <a:spLocks noGrp="1"/>
          </p:cNvSpPr>
          <p:nvPr>
            <p:ph idx="1"/>
          </p:nvPr>
        </p:nvSpPr>
        <p:spPr/>
        <p:txBody>
          <a:bodyPr>
            <a:normAutofit fontScale="92500" lnSpcReduction="20000"/>
          </a:bodyPr>
          <a:lstStyle/>
          <a:p>
            <a:pPr marL="342900" indent="-342900">
              <a:buFont typeface="Arial" panose="020B0604020202020204" pitchFamily="34" charset="0"/>
              <a:buChar char="•"/>
            </a:pPr>
            <a:r>
              <a:rPr lang="en-US" b="1" dirty="0"/>
              <a:t>id</a:t>
            </a:r>
            <a:r>
              <a:rPr lang="en-US" dirty="0"/>
              <a:t>: The unique id</a:t>
            </a:r>
          </a:p>
          <a:p>
            <a:pPr marL="342900" indent="-342900">
              <a:buFont typeface="Arial" panose="020B0604020202020204" pitchFamily="34" charset="0"/>
              <a:buChar char="•"/>
            </a:pPr>
            <a:r>
              <a:rPr lang="en-US" b="1" dirty="0"/>
              <a:t>name</a:t>
            </a:r>
            <a:r>
              <a:rPr lang="en-US" dirty="0"/>
              <a:t>: The display name in SLIMS</a:t>
            </a:r>
          </a:p>
          <a:p>
            <a:pPr marL="342900" indent="-342900">
              <a:buFont typeface="Arial" panose="020B0604020202020204" pitchFamily="34" charset="0"/>
              <a:buChar char="•"/>
            </a:pPr>
            <a:r>
              <a:rPr lang="en-US" b="1" dirty="0"/>
              <a:t>usage</a:t>
            </a:r>
            <a:r>
              <a:rPr lang="en-US" dirty="0"/>
              <a:t>: Which part of SLIMS it is displayed in:</a:t>
            </a:r>
          </a:p>
          <a:p>
            <a:pPr marL="525463" lvl="1" indent="-342900"/>
            <a:r>
              <a:rPr lang="en-US" b="1" dirty="0" err="1"/>
              <a:t>contentmanagement</a:t>
            </a:r>
            <a:r>
              <a:rPr lang="en-US" dirty="0"/>
              <a:t> → At the top of the Content module</a:t>
            </a:r>
          </a:p>
          <a:p>
            <a:pPr marL="525463" lvl="1" indent="-342900"/>
            <a:r>
              <a:rPr lang="en-US" b="1" dirty="0" err="1"/>
              <a:t>eln</a:t>
            </a:r>
            <a:r>
              <a:rPr lang="en-US" dirty="0"/>
              <a:t> → To be selected within a protocol step (from the ELN or a Workflow)</a:t>
            </a:r>
          </a:p>
          <a:p>
            <a:pPr marL="525463" lvl="1" indent="-342900"/>
            <a:r>
              <a:rPr lang="en-US" b="1" dirty="0" err="1"/>
              <a:t>elntree</a:t>
            </a:r>
            <a:r>
              <a:rPr lang="en-US" dirty="0"/>
              <a:t> → On the left of the ELN module</a:t>
            </a:r>
          </a:p>
          <a:p>
            <a:pPr marL="525463" lvl="1" indent="-342900"/>
            <a:r>
              <a:rPr lang="en-US" b="1" dirty="0" err="1"/>
              <a:t>ordermanagement</a:t>
            </a:r>
            <a:r>
              <a:rPr lang="en-US" dirty="0"/>
              <a:t> → At the top of the Orders module</a:t>
            </a:r>
          </a:p>
          <a:p>
            <a:pPr marL="525463" lvl="1" indent="-342900"/>
            <a:r>
              <a:rPr lang="en-US" b="1" dirty="0"/>
              <a:t>attachment</a:t>
            </a:r>
            <a:r>
              <a:rPr lang="en-US" dirty="0"/>
              <a:t> → In the Attachments module</a:t>
            </a:r>
          </a:p>
          <a:p>
            <a:pPr marL="525463" lvl="1" indent="-342900"/>
            <a:r>
              <a:rPr lang="en-US" b="1" dirty="0"/>
              <a:t>macro</a:t>
            </a:r>
            <a:r>
              <a:rPr lang="en-US" dirty="0"/>
              <a:t> → Within a step of type SLIMS GATE 	 → 	</a:t>
            </a:r>
            <a:r>
              <a:rPr lang="en-US" dirty="0">
                <a:latin typeface="Segoe UI Emoji" panose="020B0502040204020203" pitchFamily="34" charset="0"/>
                <a:ea typeface="Segoe UI Emoji" panose="020B0502040204020203" pitchFamily="34" charset="0"/>
              </a:rPr>
              <a:t>⚠suitable for plugin with only one step </a:t>
            </a:r>
            <a:endParaRPr lang="en-US" dirty="0"/>
          </a:p>
          <a:p>
            <a:pPr marL="525463" lvl="1" indent="-342900"/>
            <a:r>
              <a:rPr lang="en-US" b="1" dirty="0"/>
              <a:t>dashboard</a:t>
            </a:r>
            <a:r>
              <a:rPr lang="en-US" dirty="0"/>
              <a:t> → As a widget in the Dashboard module</a:t>
            </a:r>
          </a:p>
          <a:p>
            <a:pPr marL="525463" lvl="1" indent="-342900"/>
            <a:r>
              <a:rPr lang="en-US" b="1" dirty="0"/>
              <a:t>simplified</a:t>
            </a:r>
            <a:r>
              <a:rPr lang="en-US" dirty="0"/>
              <a:t> → At the top of a simplified protocol run</a:t>
            </a:r>
          </a:p>
          <a:p>
            <a:pPr marL="525463" lvl="1" indent="-342900"/>
            <a:r>
              <a:rPr lang="en-US" b="1" dirty="0"/>
              <a:t>workflow</a:t>
            </a:r>
            <a:r>
              <a:rPr lang="en-US" dirty="0"/>
              <a:t> → At the top of the Workflows module</a:t>
            </a:r>
          </a:p>
          <a:p>
            <a:pPr marL="525463" lvl="1" indent="-342900"/>
            <a:r>
              <a:rPr lang="en-US" b="1" dirty="0" err="1"/>
              <a:t>resultmeasurement</a:t>
            </a:r>
            <a:r>
              <a:rPr lang="en-US" dirty="0"/>
              <a:t> → Needs to be specified at the test level</a:t>
            </a:r>
          </a:p>
          <a:p>
            <a:pPr marL="525463" lvl="1" indent="-342900"/>
            <a:r>
              <a:rPr lang="en-US" b="1" dirty="0"/>
              <a:t>internal</a:t>
            </a:r>
            <a:r>
              <a:rPr lang="en-US" dirty="0"/>
              <a:t> → Won’t appear in SLIMS, more advanced, start non-direct route defined with </a:t>
            </a:r>
            <a:r>
              <a:rPr lang="en-US" dirty="0">
                <a:hlinkClick r:id="rId3"/>
              </a:rPr>
              <a:t>camel</a:t>
            </a:r>
            <a:endParaRPr lang="en-US" dirty="0"/>
          </a:p>
          <a:p>
            <a:pPr marL="342900" indent="-342900">
              <a:buFont typeface="Arial" panose="020B0604020202020204" pitchFamily="34" charset="0"/>
              <a:buChar char="•"/>
            </a:pPr>
            <a:r>
              <a:rPr lang="en-US" b="1" dirty="0"/>
              <a:t>Step</a:t>
            </a:r>
            <a:r>
              <a:rPr lang="en-US" dirty="0"/>
              <a:t>: List of parameters (on the next slide)</a:t>
            </a:r>
          </a:p>
        </p:txBody>
      </p:sp>
      <p:sp>
        <p:nvSpPr>
          <p:cNvPr id="3" name="Footer Placeholder 2">
            <a:extLst>
              <a:ext uri="{FF2B5EF4-FFF2-40B4-BE49-F238E27FC236}">
                <a16:creationId xmlns:a16="http://schemas.microsoft.com/office/drawing/2014/main" id="{3E7A9C0B-1017-493B-8772-BCA909484D25}"/>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70E9D948-9D3F-4FC5-B554-B921EE9FEA7C}"/>
              </a:ext>
            </a:extLst>
          </p:cNvPr>
          <p:cNvSpPr>
            <a:spLocks noGrp="1"/>
          </p:cNvSpPr>
          <p:nvPr>
            <p:ph type="sldNum" sz="quarter" idx="12"/>
          </p:nvPr>
        </p:nvSpPr>
        <p:spPr/>
        <p:txBody>
          <a:bodyPr/>
          <a:lstStyle/>
          <a:p>
            <a:fld id="{CBD803B2-A378-42BD-B5EC-F7748F169FE0}" type="slidenum">
              <a:rPr lang="en-US" smtClean="0"/>
              <a:pPr/>
              <a:t>21</a:t>
            </a:fld>
            <a:endParaRPr lang="en-US" dirty="0"/>
          </a:p>
        </p:txBody>
      </p:sp>
    </p:spTree>
    <p:extLst>
      <p:ext uri="{BB962C8B-B14F-4D97-AF65-F5344CB8AC3E}">
        <p14:creationId xmlns:p14="http://schemas.microsoft.com/office/powerpoint/2010/main" val="31458382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BDA425F-96A4-4EEE-9435-C570D66F0926}"/>
              </a:ext>
            </a:extLst>
          </p:cNvPr>
          <p:cNvSpPr>
            <a:spLocks noGrp="1"/>
          </p:cNvSpPr>
          <p:nvPr>
            <p:ph type="title"/>
          </p:nvPr>
        </p:nvSpPr>
        <p:spPr/>
        <p:txBody>
          <a:bodyPr/>
          <a:lstStyle/>
          <a:p>
            <a:r>
              <a:rPr lang="en-US" dirty="0"/>
              <a:t>slimsgate.xml – Step Parameters</a:t>
            </a:r>
          </a:p>
        </p:txBody>
      </p:sp>
      <p:sp>
        <p:nvSpPr>
          <p:cNvPr id="8" name="Content Placeholder 7">
            <a:extLst>
              <a:ext uri="{FF2B5EF4-FFF2-40B4-BE49-F238E27FC236}">
                <a16:creationId xmlns:a16="http://schemas.microsoft.com/office/drawing/2014/main" id="{DEEB727B-7AC0-4BF9-9906-2B4EDA5A52A3}"/>
              </a:ext>
            </a:extLst>
          </p:cNvPr>
          <p:cNvSpPr>
            <a:spLocks noGrp="1"/>
          </p:cNvSpPr>
          <p:nvPr>
            <p:ph idx="1"/>
          </p:nvPr>
        </p:nvSpPr>
        <p:spPr/>
        <p:txBody>
          <a:bodyPr>
            <a:normAutofit/>
          </a:bodyPr>
          <a:lstStyle/>
          <a:p>
            <a:pPr marL="342900" indent="-342900">
              <a:buFont typeface="Arial" panose="020B0604020202020204" pitchFamily="34" charset="0"/>
              <a:buChar char="•"/>
            </a:pPr>
            <a:r>
              <a:rPr lang="en-US" b="1" dirty="0"/>
              <a:t>name</a:t>
            </a:r>
            <a:r>
              <a:rPr lang="en-US" dirty="0"/>
              <a:t>: Name of step displayed on top of the input window</a:t>
            </a:r>
          </a:p>
          <a:p>
            <a:pPr marL="342900" indent="-342900">
              <a:buFont typeface="Arial" panose="020B0604020202020204" pitchFamily="34" charset="0"/>
              <a:buChar char="•"/>
            </a:pPr>
            <a:r>
              <a:rPr lang="en-US" b="1" dirty="0"/>
              <a:t>hidden</a:t>
            </a:r>
            <a:r>
              <a:rPr lang="en-US" dirty="0"/>
              <a:t>: True/false, controls whether the input window is displayed or not</a:t>
            </a:r>
          </a:p>
          <a:p>
            <a:pPr marL="342900" indent="-342900">
              <a:buFont typeface="Arial" panose="020B0604020202020204" pitchFamily="34" charset="0"/>
              <a:buChar char="•"/>
            </a:pPr>
            <a:r>
              <a:rPr lang="en-US" b="1" dirty="0"/>
              <a:t>input</a:t>
            </a:r>
            <a:r>
              <a:rPr lang="en-US" dirty="0"/>
              <a:t>: List of input parameters</a:t>
            </a:r>
          </a:p>
          <a:p>
            <a:pPr marL="342900" indent="-342900">
              <a:buFont typeface="Arial" panose="020B0604020202020204" pitchFamily="34" charset="0"/>
              <a:buChar char="•"/>
            </a:pPr>
            <a:r>
              <a:rPr lang="en-US" b="1" dirty="0"/>
              <a:t>process</a:t>
            </a:r>
            <a:r>
              <a:rPr lang="en-US" dirty="0"/>
              <a:t>: Contains route parameter that redirects to the route</a:t>
            </a:r>
          </a:p>
          <a:p>
            <a:pPr lvl="1" indent="0">
              <a:buNone/>
            </a:pPr>
            <a:r>
              <a:rPr lang="en-US" dirty="0"/>
              <a:t>(</a:t>
            </a:r>
            <a:r>
              <a:rPr lang="en-US" dirty="0" err="1"/>
              <a:t>routeId</a:t>
            </a:r>
            <a:r>
              <a:rPr lang="en-US" dirty="0"/>
              <a:t> is used within the Builder in the example </a:t>
            </a:r>
            <a:r>
              <a:rPr lang="en-US" dirty="0">
                <a:solidFill>
                  <a:srgbClr val="00BAB3"/>
                </a:solidFill>
              </a:rPr>
              <a:t>SayHelloBuilder.java</a:t>
            </a:r>
            <a:r>
              <a:rPr lang="en-US" dirty="0"/>
              <a:t>)</a:t>
            </a:r>
          </a:p>
          <a:p>
            <a:pPr marL="342900" indent="-342900">
              <a:buFont typeface="Arial" panose="020B0604020202020204" pitchFamily="34" charset="0"/>
              <a:buChar char="•"/>
            </a:pPr>
            <a:r>
              <a:rPr lang="en-US" b="1" dirty="0"/>
              <a:t>output</a:t>
            </a:r>
            <a:r>
              <a:rPr lang="en-US" dirty="0"/>
              <a:t>: List of output parameters</a:t>
            </a:r>
          </a:p>
        </p:txBody>
      </p:sp>
      <p:sp>
        <p:nvSpPr>
          <p:cNvPr id="3" name="Footer Placeholder 2">
            <a:extLst>
              <a:ext uri="{FF2B5EF4-FFF2-40B4-BE49-F238E27FC236}">
                <a16:creationId xmlns:a16="http://schemas.microsoft.com/office/drawing/2014/main" id="{3E7A9C0B-1017-493B-8772-BCA909484D25}"/>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70E9D948-9D3F-4FC5-B554-B921EE9FEA7C}"/>
              </a:ext>
            </a:extLst>
          </p:cNvPr>
          <p:cNvSpPr>
            <a:spLocks noGrp="1"/>
          </p:cNvSpPr>
          <p:nvPr>
            <p:ph type="sldNum" sz="quarter" idx="12"/>
          </p:nvPr>
        </p:nvSpPr>
        <p:spPr/>
        <p:txBody>
          <a:bodyPr/>
          <a:lstStyle/>
          <a:p>
            <a:fld id="{CBD803B2-A378-42BD-B5EC-F7748F169FE0}" type="slidenum">
              <a:rPr lang="en-US" smtClean="0"/>
              <a:pPr/>
              <a:t>22</a:t>
            </a:fld>
            <a:endParaRPr lang="en-US" dirty="0"/>
          </a:p>
        </p:txBody>
      </p:sp>
    </p:spTree>
    <p:extLst>
      <p:ext uri="{BB962C8B-B14F-4D97-AF65-F5344CB8AC3E}">
        <p14:creationId xmlns:p14="http://schemas.microsoft.com/office/powerpoint/2010/main" val="147906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BDA425F-96A4-4EEE-9435-C570D66F0926}"/>
              </a:ext>
            </a:extLst>
          </p:cNvPr>
          <p:cNvSpPr>
            <a:spLocks noGrp="1"/>
          </p:cNvSpPr>
          <p:nvPr>
            <p:ph type="title"/>
          </p:nvPr>
        </p:nvSpPr>
        <p:spPr/>
        <p:txBody>
          <a:bodyPr/>
          <a:lstStyle/>
          <a:p>
            <a:r>
              <a:rPr lang="en-US" dirty="0"/>
              <a:t>slimsgate.xml – Input Parameters</a:t>
            </a:r>
          </a:p>
        </p:txBody>
      </p:sp>
      <p:sp>
        <p:nvSpPr>
          <p:cNvPr id="8" name="Content Placeholder 7">
            <a:extLst>
              <a:ext uri="{FF2B5EF4-FFF2-40B4-BE49-F238E27FC236}">
                <a16:creationId xmlns:a16="http://schemas.microsoft.com/office/drawing/2014/main" id="{DEEB727B-7AC0-4BF9-9906-2B4EDA5A52A3}"/>
              </a:ext>
            </a:extLst>
          </p:cNvPr>
          <p:cNvSpPr>
            <a:spLocks noGrp="1"/>
          </p:cNvSpPr>
          <p:nvPr>
            <p:ph idx="1"/>
          </p:nvPr>
        </p:nvSpPr>
        <p:spPr/>
        <p:txBody>
          <a:bodyPr>
            <a:normAutofit/>
          </a:bodyPr>
          <a:lstStyle/>
          <a:p>
            <a:pPr marL="342900" indent="-342900">
              <a:buFont typeface="Arial" panose="020B0604020202020204" pitchFamily="34" charset="0"/>
              <a:buChar char="•"/>
            </a:pPr>
            <a:r>
              <a:rPr lang="en-US" b="1" dirty="0"/>
              <a:t>label</a:t>
            </a:r>
            <a:r>
              <a:rPr lang="en-US" dirty="0"/>
              <a:t>: The display name in the window</a:t>
            </a:r>
          </a:p>
          <a:p>
            <a:pPr marL="342900" indent="-342900">
              <a:buFont typeface="Arial" panose="020B0604020202020204" pitchFamily="34" charset="0"/>
              <a:buChar char="•"/>
            </a:pPr>
            <a:r>
              <a:rPr lang="en-US" b="1" dirty="0"/>
              <a:t>name</a:t>
            </a:r>
            <a:r>
              <a:rPr lang="en-US" dirty="0"/>
              <a:t>: The name used in the bean to get the value</a:t>
            </a:r>
          </a:p>
          <a:p>
            <a:pPr marL="342900" indent="-342900">
              <a:buFont typeface="Arial" panose="020B0604020202020204" pitchFamily="34" charset="0"/>
              <a:buChar char="•"/>
            </a:pPr>
            <a:r>
              <a:rPr lang="en-US" b="1" dirty="0"/>
              <a:t>type</a:t>
            </a:r>
            <a:r>
              <a:rPr lang="en-US" dirty="0"/>
              <a:t>: String, Text, </a:t>
            </a:r>
            <a:r>
              <a:rPr lang="en-US" dirty="0" err="1"/>
              <a:t>RichText</a:t>
            </a:r>
            <a:r>
              <a:rPr lang="en-US" dirty="0"/>
              <a:t>, Feedback, Integer, Float, Boolean, Date, </a:t>
            </a:r>
            <a:r>
              <a:rPr lang="en-US" dirty="0" err="1"/>
              <a:t>DateTime</a:t>
            </a:r>
            <a:r>
              <a:rPr lang="en-US" dirty="0"/>
              <a:t>, Time, </a:t>
            </a:r>
            <a:r>
              <a:rPr lang="en-US" dirty="0" err="1"/>
              <a:t>StringArray</a:t>
            </a:r>
            <a:r>
              <a:rPr lang="en-US" dirty="0"/>
              <a:t>, </a:t>
            </a:r>
            <a:r>
              <a:rPr lang="en-US" dirty="0" err="1"/>
              <a:t>ValueMap</a:t>
            </a:r>
            <a:r>
              <a:rPr lang="en-US" dirty="0"/>
              <a:t>, </a:t>
            </a:r>
            <a:r>
              <a:rPr lang="en-US" dirty="0" err="1"/>
              <a:t>SingleChoice</a:t>
            </a:r>
            <a:r>
              <a:rPr lang="en-US" dirty="0"/>
              <a:t>, </a:t>
            </a:r>
            <a:r>
              <a:rPr lang="en-US" dirty="0" err="1"/>
              <a:t>MultipleChoice</a:t>
            </a:r>
            <a:r>
              <a:rPr lang="en-US" dirty="0"/>
              <a:t>, Configuration, File, Table, Attachment, </a:t>
            </a:r>
            <a:r>
              <a:rPr lang="en-US" dirty="0" err="1"/>
              <a:t>MultipleChoiceGrid</a:t>
            </a:r>
            <a:r>
              <a:rPr lang="en-US" dirty="0"/>
              <a:t>, </a:t>
            </a:r>
            <a:r>
              <a:rPr lang="en-US" dirty="0" err="1"/>
              <a:t>SingleChoiceGrid</a:t>
            </a:r>
            <a:r>
              <a:rPr lang="en-US" dirty="0"/>
              <a:t> and some others</a:t>
            </a:r>
          </a:p>
          <a:p>
            <a:pPr marL="285750" lvl="1" indent="-285750"/>
            <a:r>
              <a:rPr lang="en-US" sz="2100" b="1" dirty="0"/>
              <a:t>required</a:t>
            </a:r>
            <a:r>
              <a:rPr lang="en-US" sz="2100" dirty="0"/>
              <a:t>: Controls whether the value is mandatory or not</a:t>
            </a:r>
          </a:p>
          <a:p>
            <a:pPr marL="285750" lvl="1" indent="-285750"/>
            <a:r>
              <a:rPr lang="en-US" sz="2100" b="1" dirty="0" err="1"/>
              <a:t>defaultValue</a:t>
            </a:r>
            <a:r>
              <a:rPr lang="en-US" sz="2100" dirty="0"/>
              <a:t>: A default value that will be filled</a:t>
            </a:r>
          </a:p>
          <a:p>
            <a:pPr marL="285750" lvl="1" indent="-285750"/>
            <a:r>
              <a:rPr lang="en-US" sz="2100" b="1" dirty="0"/>
              <a:t>persistent</a:t>
            </a:r>
            <a:r>
              <a:rPr lang="en-US" sz="2100" dirty="0"/>
              <a:t>: Whether this parameter will be passed to all the following steps</a:t>
            </a:r>
          </a:p>
          <a:p>
            <a:pPr marL="285750" lvl="1" indent="-285750"/>
            <a:r>
              <a:rPr lang="en-US" sz="2100" b="1" dirty="0"/>
              <a:t>width</a:t>
            </a:r>
            <a:r>
              <a:rPr lang="en-US" sz="2100" dirty="0"/>
              <a:t>: The width of the parameter</a:t>
            </a:r>
          </a:p>
          <a:p>
            <a:pPr marL="285750" lvl="1" indent="-285750"/>
            <a:r>
              <a:rPr lang="en-US" sz="2100" b="1" dirty="0"/>
              <a:t>height</a:t>
            </a:r>
            <a:r>
              <a:rPr lang="en-US" sz="2100" dirty="0"/>
              <a:t>: The height of the parameter</a:t>
            </a:r>
          </a:p>
          <a:p>
            <a:pPr marL="285750" lvl="1" indent="-285750"/>
            <a:r>
              <a:rPr lang="en-US" sz="2100" b="1" dirty="0" err="1"/>
              <a:t>sameRowAsPrevious</a:t>
            </a:r>
            <a:r>
              <a:rPr lang="en-US" sz="2100" dirty="0"/>
              <a:t>: True/false, controls whether this parameter will be display on the same line as previous parameter</a:t>
            </a:r>
            <a:endParaRPr lang="en-US" dirty="0"/>
          </a:p>
        </p:txBody>
      </p:sp>
      <p:sp>
        <p:nvSpPr>
          <p:cNvPr id="3" name="Footer Placeholder 2">
            <a:extLst>
              <a:ext uri="{FF2B5EF4-FFF2-40B4-BE49-F238E27FC236}">
                <a16:creationId xmlns:a16="http://schemas.microsoft.com/office/drawing/2014/main" id="{3E7A9C0B-1017-493B-8772-BCA909484D25}"/>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70E9D948-9D3F-4FC5-B554-B921EE9FEA7C}"/>
              </a:ext>
            </a:extLst>
          </p:cNvPr>
          <p:cNvSpPr>
            <a:spLocks noGrp="1"/>
          </p:cNvSpPr>
          <p:nvPr>
            <p:ph type="sldNum" sz="quarter" idx="12"/>
          </p:nvPr>
        </p:nvSpPr>
        <p:spPr/>
        <p:txBody>
          <a:bodyPr/>
          <a:lstStyle/>
          <a:p>
            <a:fld id="{CBD803B2-A378-42BD-B5EC-F7748F169FE0}" type="slidenum">
              <a:rPr lang="en-US" smtClean="0"/>
              <a:pPr/>
              <a:t>23</a:t>
            </a:fld>
            <a:endParaRPr lang="en-US" dirty="0"/>
          </a:p>
        </p:txBody>
      </p:sp>
    </p:spTree>
    <p:extLst>
      <p:ext uri="{BB962C8B-B14F-4D97-AF65-F5344CB8AC3E}">
        <p14:creationId xmlns:p14="http://schemas.microsoft.com/office/powerpoint/2010/main" val="3692746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BDA425F-96A4-4EEE-9435-C570D66F0926}"/>
              </a:ext>
            </a:extLst>
          </p:cNvPr>
          <p:cNvSpPr>
            <a:spLocks noGrp="1"/>
          </p:cNvSpPr>
          <p:nvPr>
            <p:ph type="title"/>
          </p:nvPr>
        </p:nvSpPr>
        <p:spPr/>
        <p:txBody>
          <a:bodyPr/>
          <a:lstStyle/>
          <a:p>
            <a:r>
              <a:rPr lang="en-US" dirty="0"/>
              <a:t>slimsgate.xml – Output Parameters</a:t>
            </a:r>
          </a:p>
        </p:txBody>
      </p:sp>
      <p:sp>
        <p:nvSpPr>
          <p:cNvPr id="8" name="Content Placeholder 7">
            <a:extLst>
              <a:ext uri="{FF2B5EF4-FFF2-40B4-BE49-F238E27FC236}">
                <a16:creationId xmlns:a16="http://schemas.microsoft.com/office/drawing/2014/main" id="{DEEB727B-7AC0-4BF9-9906-2B4EDA5A52A3}"/>
              </a:ext>
            </a:extLst>
          </p:cNvPr>
          <p:cNvSpPr>
            <a:spLocks noGrp="1"/>
          </p:cNvSpPr>
          <p:nvPr>
            <p:ph idx="1"/>
          </p:nvPr>
        </p:nvSpPr>
        <p:spPr/>
        <p:txBody>
          <a:bodyPr>
            <a:normAutofit/>
          </a:bodyPr>
          <a:lstStyle/>
          <a:p>
            <a:r>
              <a:rPr lang="en-US" dirty="0"/>
              <a:t>Output parameters are used to transfer the output of a computation/fetch to the following step to be able to use it as an input.</a:t>
            </a:r>
          </a:p>
          <a:p>
            <a:endParaRPr lang="en-US" dirty="0"/>
          </a:p>
          <a:p>
            <a:pPr marL="342900" indent="-342900">
              <a:buFont typeface="Arial" panose="020B0604020202020204" pitchFamily="34" charset="0"/>
              <a:buChar char="•"/>
            </a:pPr>
            <a:r>
              <a:rPr lang="en-US" b="1" dirty="0"/>
              <a:t>name</a:t>
            </a:r>
            <a:r>
              <a:rPr lang="en-US" dirty="0"/>
              <a:t>: The name of the parameter</a:t>
            </a:r>
          </a:p>
          <a:p>
            <a:pPr marL="342900" indent="-342900">
              <a:buFont typeface="Arial" panose="020B0604020202020204" pitchFamily="34" charset="0"/>
              <a:buChar char="•"/>
            </a:pPr>
            <a:r>
              <a:rPr lang="en-US" b="1" dirty="0"/>
              <a:t>type</a:t>
            </a:r>
            <a:r>
              <a:rPr lang="en-US" dirty="0"/>
              <a:t>: </a:t>
            </a:r>
            <a:r>
              <a:rPr lang="en-US" dirty="0" err="1"/>
              <a:t>ValueMap</a:t>
            </a:r>
            <a:r>
              <a:rPr lang="en-US" dirty="0"/>
              <a:t> (the only possible value)</a:t>
            </a:r>
          </a:p>
          <a:p>
            <a:pPr marL="285750" lvl="1" indent="-285750"/>
            <a:r>
              <a:rPr lang="en-US" sz="2100" b="1" dirty="0" err="1"/>
              <a:t>dataSource</a:t>
            </a:r>
            <a:r>
              <a:rPr lang="en-US" sz="2100" dirty="0"/>
              <a:t>: (use when needed, refers to one table)</a:t>
            </a:r>
          </a:p>
          <a:p>
            <a:pPr marL="0" lvl="1" indent="0">
              <a:buNone/>
            </a:pPr>
            <a:endParaRPr lang="en-US" sz="2100" dirty="0">
              <a:solidFill>
                <a:srgbClr val="00BAB3"/>
              </a:solidFill>
            </a:endParaRPr>
          </a:p>
          <a:p>
            <a:pPr marL="0" lvl="1" indent="0">
              <a:buNone/>
            </a:pPr>
            <a:r>
              <a:rPr lang="en-US" sz="2100" i="1" dirty="0"/>
              <a:t>Example: You fetch the contents that are ready to be processed and then let the user choose which ones to actually process.</a:t>
            </a:r>
          </a:p>
        </p:txBody>
      </p:sp>
      <p:sp>
        <p:nvSpPr>
          <p:cNvPr id="3" name="Footer Placeholder 2">
            <a:extLst>
              <a:ext uri="{FF2B5EF4-FFF2-40B4-BE49-F238E27FC236}">
                <a16:creationId xmlns:a16="http://schemas.microsoft.com/office/drawing/2014/main" id="{3E7A9C0B-1017-493B-8772-BCA909484D25}"/>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70E9D948-9D3F-4FC5-B554-B921EE9FEA7C}"/>
              </a:ext>
            </a:extLst>
          </p:cNvPr>
          <p:cNvSpPr>
            <a:spLocks noGrp="1"/>
          </p:cNvSpPr>
          <p:nvPr>
            <p:ph type="sldNum" sz="quarter" idx="12"/>
          </p:nvPr>
        </p:nvSpPr>
        <p:spPr/>
        <p:txBody>
          <a:bodyPr/>
          <a:lstStyle/>
          <a:p>
            <a:fld id="{CBD803B2-A378-42BD-B5EC-F7748F169FE0}" type="slidenum">
              <a:rPr lang="en-US" smtClean="0"/>
              <a:pPr/>
              <a:t>24</a:t>
            </a:fld>
            <a:endParaRPr lang="en-US" dirty="0"/>
          </a:p>
        </p:txBody>
      </p:sp>
    </p:spTree>
    <p:extLst>
      <p:ext uri="{BB962C8B-B14F-4D97-AF65-F5344CB8AC3E}">
        <p14:creationId xmlns:p14="http://schemas.microsoft.com/office/powerpoint/2010/main" val="4242290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DA9AD90-D369-47C4-B556-82E521282EA1}"/>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5" name="Slide Number Placeholder 4">
            <a:extLst>
              <a:ext uri="{FF2B5EF4-FFF2-40B4-BE49-F238E27FC236}">
                <a16:creationId xmlns:a16="http://schemas.microsoft.com/office/drawing/2014/main" id="{F93F0DBB-8FED-4979-BB38-6A2D8F41A887}"/>
              </a:ext>
            </a:extLst>
          </p:cNvPr>
          <p:cNvSpPr>
            <a:spLocks noGrp="1"/>
          </p:cNvSpPr>
          <p:nvPr>
            <p:ph type="sldNum" sz="quarter" idx="12"/>
          </p:nvPr>
        </p:nvSpPr>
        <p:spPr/>
        <p:txBody>
          <a:bodyPr/>
          <a:lstStyle/>
          <a:p>
            <a:fld id="{CBD803B2-A378-42BD-B5EC-F7748F169FE0}" type="slidenum">
              <a:rPr lang="en-US" smtClean="0"/>
              <a:pPr/>
              <a:t>25</a:t>
            </a:fld>
            <a:endParaRPr lang="en-US" dirty="0"/>
          </a:p>
        </p:txBody>
      </p:sp>
      <p:sp>
        <p:nvSpPr>
          <p:cNvPr id="6" name="Title 5">
            <a:extLst>
              <a:ext uri="{FF2B5EF4-FFF2-40B4-BE49-F238E27FC236}">
                <a16:creationId xmlns:a16="http://schemas.microsoft.com/office/drawing/2014/main" id="{ADAE8A0B-C02B-4794-B053-5629569192BF}"/>
              </a:ext>
            </a:extLst>
          </p:cNvPr>
          <p:cNvSpPr>
            <a:spLocks noGrp="1"/>
          </p:cNvSpPr>
          <p:nvPr>
            <p:ph type="title"/>
          </p:nvPr>
        </p:nvSpPr>
        <p:spPr/>
        <p:txBody>
          <a:bodyPr/>
          <a:lstStyle/>
          <a:p>
            <a:r>
              <a:rPr lang="en-US" dirty="0"/>
              <a:t>Camel-context.xml</a:t>
            </a:r>
          </a:p>
        </p:txBody>
      </p:sp>
      <p:sp>
        <p:nvSpPr>
          <p:cNvPr id="7" name="Content Placeholder 6">
            <a:extLst>
              <a:ext uri="{FF2B5EF4-FFF2-40B4-BE49-F238E27FC236}">
                <a16:creationId xmlns:a16="http://schemas.microsoft.com/office/drawing/2014/main" id="{2EFD2BB0-268B-4A35-8F32-857D07F3995C}"/>
              </a:ext>
            </a:extLst>
          </p:cNvPr>
          <p:cNvSpPr>
            <a:spLocks noGrp="1"/>
          </p:cNvSpPr>
          <p:nvPr>
            <p:ph sz="half" idx="1"/>
          </p:nvPr>
        </p:nvSpPr>
        <p:spPr/>
        <p:txBody>
          <a:bodyPr/>
          <a:lstStyle/>
          <a:p>
            <a:r>
              <a:rPr lang="en-US" dirty="0"/>
              <a:t>Reference to the different routes</a:t>
            </a:r>
          </a:p>
          <a:p>
            <a:r>
              <a:rPr lang="en-US" dirty="0"/>
              <a:t>List the </a:t>
            </a:r>
            <a:r>
              <a:rPr lang="en-US" dirty="0" err="1"/>
              <a:t>routeBuilder</a:t>
            </a:r>
            <a:r>
              <a:rPr lang="en-US" dirty="0"/>
              <a:t> beans</a:t>
            </a:r>
          </a:p>
          <a:p>
            <a:endParaRPr lang="en-US" dirty="0"/>
          </a:p>
          <a:p>
            <a:r>
              <a:rPr lang="en-US" i="1" dirty="0"/>
              <a:t>Remember: use </a:t>
            </a:r>
            <a:r>
              <a:rPr lang="en-US" i="1" dirty="0" err="1"/>
              <a:t>lowerCamelCase</a:t>
            </a:r>
            <a:r>
              <a:rPr lang="en-US" i="1" dirty="0"/>
              <a:t>.</a:t>
            </a:r>
          </a:p>
        </p:txBody>
      </p:sp>
      <p:pic>
        <p:nvPicPr>
          <p:cNvPr id="10" name="Picture 9">
            <a:extLst>
              <a:ext uri="{FF2B5EF4-FFF2-40B4-BE49-F238E27FC236}">
                <a16:creationId xmlns:a16="http://schemas.microsoft.com/office/drawing/2014/main" id="{D4B2376D-31CD-4BF9-A47A-5D6D2D64FBBF}"/>
              </a:ext>
            </a:extLst>
          </p:cNvPr>
          <p:cNvPicPr>
            <a:picLocks noChangeAspect="1"/>
          </p:cNvPicPr>
          <p:nvPr/>
        </p:nvPicPr>
        <p:blipFill>
          <a:blip r:embed="rId3"/>
          <a:stretch>
            <a:fillRect/>
          </a:stretch>
        </p:blipFill>
        <p:spPr>
          <a:xfrm>
            <a:off x="4400381" y="1477789"/>
            <a:ext cx="2497012" cy="1086829"/>
          </a:xfrm>
          <a:prstGeom prst="rect">
            <a:avLst/>
          </a:prstGeom>
        </p:spPr>
      </p:pic>
      <p:sp>
        <p:nvSpPr>
          <p:cNvPr id="15" name="Rectangle 14">
            <a:extLst>
              <a:ext uri="{FF2B5EF4-FFF2-40B4-BE49-F238E27FC236}">
                <a16:creationId xmlns:a16="http://schemas.microsoft.com/office/drawing/2014/main" id="{A2517661-BC1B-488E-9971-6106C5E377BC}"/>
              </a:ext>
            </a:extLst>
          </p:cNvPr>
          <p:cNvSpPr/>
          <p:nvPr/>
        </p:nvSpPr>
        <p:spPr>
          <a:xfrm>
            <a:off x="5017979" y="1883050"/>
            <a:ext cx="1595472" cy="276306"/>
          </a:xfrm>
          <a:prstGeom prst="rect">
            <a:avLst/>
          </a:prstGeom>
          <a:noFill/>
          <a:ln w="28575">
            <a:solidFill>
              <a:srgbClr val="00BA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feld 23">
            <a:extLst>
              <a:ext uri="{FF2B5EF4-FFF2-40B4-BE49-F238E27FC236}">
                <a16:creationId xmlns:a16="http://schemas.microsoft.com/office/drawing/2014/main" id="{37A81394-781B-471C-9757-D76DC2F590ED}"/>
              </a:ext>
            </a:extLst>
          </p:cNvPr>
          <p:cNvSpPr txBox="1"/>
          <p:nvPr/>
        </p:nvSpPr>
        <p:spPr>
          <a:xfrm>
            <a:off x="9437148" y="2660829"/>
            <a:ext cx="2572712" cy="230832"/>
          </a:xfrm>
          <a:prstGeom prst="rect">
            <a:avLst/>
          </a:prstGeom>
          <a:noFill/>
        </p:spPr>
        <p:txBody>
          <a:bodyPr wrap="square" rtlCol="0">
            <a:spAutoFit/>
          </a:bodyPr>
          <a:lstStyle/>
          <a:p>
            <a:r>
              <a:rPr lang="de-DE" sz="900" b="1" dirty="0">
                <a:solidFill>
                  <a:srgbClr val="0085D5"/>
                </a:solidFill>
              </a:rPr>
              <a:t>Zoom of camel-context.xml file‘s content</a:t>
            </a:r>
          </a:p>
        </p:txBody>
      </p:sp>
      <p:cxnSp>
        <p:nvCxnSpPr>
          <p:cNvPr id="17" name="Gerade Verbindung 15">
            <a:extLst>
              <a:ext uri="{FF2B5EF4-FFF2-40B4-BE49-F238E27FC236}">
                <a16:creationId xmlns:a16="http://schemas.microsoft.com/office/drawing/2014/main" id="{B1769B4D-A929-4895-A70A-E1EF4CA93657}"/>
              </a:ext>
            </a:extLst>
          </p:cNvPr>
          <p:cNvCxnSpPr>
            <a:cxnSpLocks/>
          </p:cNvCxnSpPr>
          <p:nvPr/>
        </p:nvCxnSpPr>
        <p:spPr>
          <a:xfrm>
            <a:off x="6522444" y="2073350"/>
            <a:ext cx="0" cy="1730398"/>
          </a:xfrm>
          <a:prstGeom prst="line">
            <a:avLst/>
          </a:prstGeom>
          <a:ln w="12700" cmpd="sng">
            <a:solidFill>
              <a:schemeClr val="accent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5518FCC2-D0F7-4B26-8A8C-3DA1A5F19BBB}"/>
              </a:ext>
            </a:extLst>
          </p:cNvPr>
          <p:cNvPicPr>
            <a:picLocks noChangeAspect="1"/>
          </p:cNvPicPr>
          <p:nvPr/>
        </p:nvPicPr>
        <p:blipFill>
          <a:blip r:embed="rId4"/>
          <a:stretch>
            <a:fillRect/>
          </a:stretch>
        </p:blipFill>
        <p:spPr>
          <a:xfrm>
            <a:off x="5648887" y="2987871"/>
            <a:ext cx="6360973" cy="3207304"/>
          </a:xfrm>
          <a:prstGeom prst="rect">
            <a:avLst/>
          </a:prstGeom>
          <a:noFill/>
          <a:ln w="28575">
            <a:solidFill>
              <a:srgbClr val="00BAB3"/>
            </a:solidFill>
          </a:ln>
        </p:spPr>
      </p:pic>
    </p:spTree>
    <p:extLst>
      <p:ext uri="{BB962C8B-B14F-4D97-AF65-F5344CB8AC3E}">
        <p14:creationId xmlns:p14="http://schemas.microsoft.com/office/powerpoint/2010/main" val="9021315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76B20A4-461E-4C31-AF53-EB379098A1D0}"/>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3" name="Slide Number Placeholder 2">
            <a:extLst>
              <a:ext uri="{FF2B5EF4-FFF2-40B4-BE49-F238E27FC236}">
                <a16:creationId xmlns:a16="http://schemas.microsoft.com/office/drawing/2014/main" id="{929CBA2E-AF6B-4149-B14B-5908AE899D15}"/>
              </a:ext>
            </a:extLst>
          </p:cNvPr>
          <p:cNvSpPr>
            <a:spLocks noGrp="1"/>
          </p:cNvSpPr>
          <p:nvPr>
            <p:ph type="sldNum" sz="quarter" idx="12"/>
          </p:nvPr>
        </p:nvSpPr>
        <p:spPr/>
        <p:txBody>
          <a:bodyPr/>
          <a:lstStyle/>
          <a:p>
            <a:fld id="{CBD803B2-A378-42BD-B5EC-F7748F169FE0}" type="slidenum">
              <a:rPr lang="en-US" smtClean="0"/>
              <a:pPr/>
              <a:t>26</a:t>
            </a:fld>
            <a:endParaRPr lang="en-US" dirty="0"/>
          </a:p>
        </p:txBody>
      </p:sp>
      <p:sp>
        <p:nvSpPr>
          <p:cNvPr id="6" name="Title 5">
            <a:extLst>
              <a:ext uri="{FF2B5EF4-FFF2-40B4-BE49-F238E27FC236}">
                <a16:creationId xmlns:a16="http://schemas.microsoft.com/office/drawing/2014/main" id="{B9B9FCF7-2276-4B46-9C9E-E5E4C9F6D69C}"/>
              </a:ext>
            </a:extLst>
          </p:cNvPr>
          <p:cNvSpPr>
            <a:spLocks noGrp="1"/>
          </p:cNvSpPr>
          <p:nvPr>
            <p:ph type="title"/>
          </p:nvPr>
        </p:nvSpPr>
        <p:spPr/>
        <p:txBody>
          <a:bodyPr/>
          <a:lstStyle/>
          <a:p>
            <a:r>
              <a:rPr lang="en-US" dirty="0"/>
              <a:t>SayHelloBuilder.xml</a:t>
            </a:r>
          </a:p>
        </p:txBody>
      </p:sp>
      <p:sp>
        <p:nvSpPr>
          <p:cNvPr id="7" name="Content Placeholder 6">
            <a:extLst>
              <a:ext uri="{FF2B5EF4-FFF2-40B4-BE49-F238E27FC236}">
                <a16:creationId xmlns:a16="http://schemas.microsoft.com/office/drawing/2014/main" id="{F12744EA-0A5B-4261-9C67-319741F4507D}"/>
              </a:ext>
            </a:extLst>
          </p:cNvPr>
          <p:cNvSpPr>
            <a:spLocks noGrp="1"/>
          </p:cNvSpPr>
          <p:nvPr>
            <p:ph sz="half" idx="1"/>
          </p:nvPr>
        </p:nvSpPr>
        <p:spPr/>
        <p:txBody>
          <a:bodyPr/>
          <a:lstStyle/>
          <a:p>
            <a:r>
              <a:rPr lang="en-US" b="1" dirty="0"/>
              <a:t>from</a:t>
            </a:r>
            <a:r>
              <a:rPr lang="en-US" dirty="0"/>
              <a:t>: ‘Direct’ most of the time, sometimes from camel components</a:t>
            </a:r>
          </a:p>
          <a:p>
            <a:r>
              <a:rPr lang="en-US" b="1" dirty="0"/>
              <a:t>to</a:t>
            </a:r>
            <a:r>
              <a:rPr lang="en-US" dirty="0"/>
              <a:t>: path to the bean</a:t>
            </a:r>
          </a:p>
          <a:p>
            <a:r>
              <a:rPr lang="en-US" b="1" dirty="0" err="1"/>
              <a:t>routeId</a:t>
            </a:r>
            <a:r>
              <a:rPr lang="en-US" dirty="0"/>
              <a:t>: from </a:t>
            </a:r>
            <a:r>
              <a:rPr lang="en-US" dirty="0">
                <a:solidFill>
                  <a:srgbClr val="00BAB3"/>
                </a:solidFill>
                <a:latin typeface="+mj-lt"/>
                <a:cs typeface="Courier New" panose="02070309020205020404" pitchFamily="49" charset="0"/>
              </a:rPr>
              <a:t>slimsgate.xml</a:t>
            </a:r>
            <a:endParaRPr lang="en-US" b="1" dirty="0">
              <a:solidFill>
                <a:srgbClr val="00BAB3"/>
              </a:solidFill>
              <a:latin typeface="+mj-lt"/>
              <a:cs typeface="Courier New" panose="02070309020205020404" pitchFamily="49" charset="0"/>
            </a:endParaRPr>
          </a:p>
        </p:txBody>
      </p:sp>
      <p:pic>
        <p:nvPicPr>
          <p:cNvPr id="8" name="Picture 7">
            <a:extLst>
              <a:ext uri="{FF2B5EF4-FFF2-40B4-BE49-F238E27FC236}">
                <a16:creationId xmlns:a16="http://schemas.microsoft.com/office/drawing/2014/main" id="{ACE4A623-834D-4AFC-8155-BA85C612B1C4}"/>
              </a:ext>
            </a:extLst>
          </p:cNvPr>
          <p:cNvPicPr>
            <a:picLocks noChangeAspect="1"/>
          </p:cNvPicPr>
          <p:nvPr/>
        </p:nvPicPr>
        <p:blipFill>
          <a:blip r:embed="rId3"/>
          <a:stretch>
            <a:fillRect/>
          </a:stretch>
        </p:blipFill>
        <p:spPr>
          <a:xfrm>
            <a:off x="4149660" y="1940749"/>
            <a:ext cx="2735164" cy="1488251"/>
          </a:xfrm>
          <a:prstGeom prst="rect">
            <a:avLst/>
          </a:prstGeom>
        </p:spPr>
      </p:pic>
      <p:sp>
        <p:nvSpPr>
          <p:cNvPr id="13" name="Rectangle 12">
            <a:extLst>
              <a:ext uri="{FF2B5EF4-FFF2-40B4-BE49-F238E27FC236}">
                <a16:creationId xmlns:a16="http://schemas.microsoft.com/office/drawing/2014/main" id="{E4856342-A641-4DE8-8D63-0583E58EBFCC}"/>
              </a:ext>
            </a:extLst>
          </p:cNvPr>
          <p:cNvSpPr/>
          <p:nvPr/>
        </p:nvSpPr>
        <p:spPr>
          <a:xfrm>
            <a:off x="4605030" y="2668908"/>
            <a:ext cx="1879414" cy="276306"/>
          </a:xfrm>
          <a:prstGeom prst="rect">
            <a:avLst/>
          </a:prstGeom>
          <a:noFill/>
          <a:ln w="28575">
            <a:solidFill>
              <a:srgbClr val="00BA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feld 23">
            <a:extLst>
              <a:ext uri="{FF2B5EF4-FFF2-40B4-BE49-F238E27FC236}">
                <a16:creationId xmlns:a16="http://schemas.microsoft.com/office/drawing/2014/main" id="{A0B62FC6-0C64-4905-A33B-D7BAF72DF4EA}"/>
              </a:ext>
            </a:extLst>
          </p:cNvPr>
          <p:cNvSpPr txBox="1"/>
          <p:nvPr/>
        </p:nvSpPr>
        <p:spPr>
          <a:xfrm>
            <a:off x="9853179" y="1687485"/>
            <a:ext cx="1848337" cy="230832"/>
          </a:xfrm>
          <a:prstGeom prst="rect">
            <a:avLst/>
          </a:prstGeom>
          <a:noFill/>
        </p:spPr>
        <p:txBody>
          <a:bodyPr wrap="square" rtlCol="0">
            <a:spAutoFit/>
          </a:bodyPr>
          <a:lstStyle/>
          <a:p>
            <a:r>
              <a:rPr lang="de-DE" sz="900" b="1" dirty="0">
                <a:solidFill>
                  <a:srgbClr val="0085D5"/>
                </a:solidFill>
              </a:rPr>
              <a:t>Zoom of SayHelloBuilder</a:t>
            </a:r>
          </a:p>
        </p:txBody>
      </p:sp>
      <p:cxnSp>
        <p:nvCxnSpPr>
          <p:cNvPr id="15" name="Gerade Verbindung 15">
            <a:extLst>
              <a:ext uri="{FF2B5EF4-FFF2-40B4-BE49-F238E27FC236}">
                <a16:creationId xmlns:a16="http://schemas.microsoft.com/office/drawing/2014/main" id="{DF7E31DF-EC44-4687-B943-974EAE47C617}"/>
              </a:ext>
            </a:extLst>
          </p:cNvPr>
          <p:cNvCxnSpPr>
            <a:cxnSpLocks/>
          </p:cNvCxnSpPr>
          <p:nvPr/>
        </p:nvCxnSpPr>
        <p:spPr>
          <a:xfrm>
            <a:off x="6398785" y="2807061"/>
            <a:ext cx="1782338" cy="0"/>
          </a:xfrm>
          <a:prstGeom prst="line">
            <a:avLst/>
          </a:prstGeom>
          <a:ln w="12700" cmpd="sng">
            <a:solidFill>
              <a:schemeClr val="accent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8B77C2AE-1624-4A04-9182-7056A1B0C0B5}"/>
              </a:ext>
            </a:extLst>
          </p:cNvPr>
          <p:cNvPicPr>
            <a:picLocks noChangeAspect="1"/>
          </p:cNvPicPr>
          <p:nvPr/>
        </p:nvPicPr>
        <p:blipFill rotWithShape="1">
          <a:blip r:embed="rId4"/>
          <a:srcRect l="1081" r="4065"/>
          <a:stretch/>
        </p:blipFill>
        <p:spPr>
          <a:xfrm>
            <a:off x="7340193" y="1995100"/>
            <a:ext cx="4345057" cy="3754398"/>
          </a:xfrm>
          <a:prstGeom prst="rect">
            <a:avLst/>
          </a:prstGeom>
          <a:noFill/>
          <a:ln w="28575">
            <a:solidFill>
              <a:srgbClr val="00BAB3"/>
            </a:solidFill>
          </a:ln>
        </p:spPr>
      </p:pic>
    </p:spTree>
    <p:extLst>
      <p:ext uri="{BB962C8B-B14F-4D97-AF65-F5344CB8AC3E}">
        <p14:creationId xmlns:p14="http://schemas.microsoft.com/office/powerpoint/2010/main" val="32030547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6D33ED8-D745-44A8-8F90-DCAD54365355}"/>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3" name="Slide Number Placeholder 2">
            <a:extLst>
              <a:ext uri="{FF2B5EF4-FFF2-40B4-BE49-F238E27FC236}">
                <a16:creationId xmlns:a16="http://schemas.microsoft.com/office/drawing/2014/main" id="{8ECD841A-8A3A-46BC-9055-BA082B0310BB}"/>
              </a:ext>
            </a:extLst>
          </p:cNvPr>
          <p:cNvSpPr>
            <a:spLocks noGrp="1"/>
          </p:cNvSpPr>
          <p:nvPr>
            <p:ph type="sldNum" sz="quarter" idx="12"/>
          </p:nvPr>
        </p:nvSpPr>
        <p:spPr/>
        <p:txBody>
          <a:bodyPr/>
          <a:lstStyle/>
          <a:p>
            <a:fld id="{CBD803B2-A378-42BD-B5EC-F7748F169FE0}" type="slidenum">
              <a:rPr lang="en-US" smtClean="0"/>
              <a:pPr/>
              <a:t>27</a:t>
            </a:fld>
            <a:endParaRPr lang="en-US" dirty="0"/>
          </a:p>
        </p:txBody>
      </p:sp>
      <p:sp>
        <p:nvSpPr>
          <p:cNvPr id="6" name="Title 5">
            <a:extLst>
              <a:ext uri="{FF2B5EF4-FFF2-40B4-BE49-F238E27FC236}">
                <a16:creationId xmlns:a16="http://schemas.microsoft.com/office/drawing/2014/main" id="{BE21A2A9-4AB5-452D-BA54-2CA476CAE53A}"/>
              </a:ext>
            </a:extLst>
          </p:cNvPr>
          <p:cNvSpPr>
            <a:spLocks noGrp="1"/>
          </p:cNvSpPr>
          <p:nvPr>
            <p:ph type="title"/>
          </p:nvPr>
        </p:nvSpPr>
        <p:spPr/>
        <p:txBody>
          <a:bodyPr/>
          <a:lstStyle/>
          <a:p>
            <a:r>
              <a:rPr lang="en-US" dirty="0"/>
              <a:t>SayHello.java</a:t>
            </a:r>
          </a:p>
        </p:txBody>
      </p:sp>
      <p:sp>
        <p:nvSpPr>
          <p:cNvPr id="7" name="Content Placeholder 6">
            <a:extLst>
              <a:ext uri="{FF2B5EF4-FFF2-40B4-BE49-F238E27FC236}">
                <a16:creationId xmlns:a16="http://schemas.microsoft.com/office/drawing/2014/main" id="{D6E59F9B-CFCD-407F-AFEB-099B6299AACE}"/>
              </a:ext>
            </a:extLst>
          </p:cNvPr>
          <p:cNvSpPr>
            <a:spLocks noGrp="1"/>
          </p:cNvSpPr>
          <p:nvPr>
            <p:ph sz="half" idx="1"/>
          </p:nvPr>
        </p:nvSpPr>
        <p:spPr/>
        <p:txBody>
          <a:bodyPr/>
          <a:lstStyle/>
          <a:p>
            <a:r>
              <a:rPr lang="en-US" dirty="0">
                <a:latin typeface="+mj-lt"/>
              </a:rPr>
              <a:t>The core of the code with methods.</a:t>
            </a:r>
          </a:p>
          <a:p>
            <a:r>
              <a:rPr lang="en-US" dirty="0">
                <a:latin typeface="+mj-lt"/>
              </a:rPr>
              <a:t>Executing action required.</a:t>
            </a:r>
          </a:p>
          <a:p>
            <a:r>
              <a:rPr lang="en-US" dirty="0">
                <a:latin typeface="+mj-lt"/>
              </a:rPr>
              <a:t>It is possible to fetch, add/update, and connect to external instruments.</a:t>
            </a:r>
          </a:p>
          <a:p>
            <a:r>
              <a:rPr lang="en-US" dirty="0">
                <a:latin typeface="+mj-lt"/>
              </a:rPr>
              <a:t>Default values are defined in </a:t>
            </a:r>
            <a:r>
              <a:rPr lang="en-US" dirty="0">
                <a:solidFill>
                  <a:srgbClr val="00BAB3"/>
                </a:solidFill>
                <a:latin typeface="+mj-lt"/>
                <a:cs typeface="Courier New" panose="02070309020205020404" pitchFamily="49" charset="0"/>
              </a:rPr>
              <a:t>CustomConfiguration.java</a:t>
            </a:r>
            <a:r>
              <a:rPr lang="en-US" dirty="0">
                <a:solidFill>
                  <a:srgbClr val="00BAB3"/>
                </a:solidFill>
                <a:latin typeface="+mj-lt"/>
              </a:rPr>
              <a:t> </a:t>
            </a:r>
            <a:r>
              <a:rPr lang="en-US" dirty="0">
                <a:latin typeface="+mj-lt"/>
              </a:rPr>
              <a:t>and input parameters are defined in </a:t>
            </a:r>
            <a:r>
              <a:rPr lang="en-US" dirty="0">
                <a:solidFill>
                  <a:srgbClr val="00BAB3"/>
                </a:solidFill>
                <a:latin typeface="+mj-lt"/>
                <a:cs typeface="Courier New" panose="02070309020205020404" pitchFamily="49" charset="0"/>
              </a:rPr>
              <a:t>slimsgate.xml</a:t>
            </a:r>
            <a:r>
              <a:rPr lang="en-US" dirty="0">
                <a:latin typeface="+mj-lt"/>
              </a:rPr>
              <a:t>.</a:t>
            </a:r>
          </a:p>
        </p:txBody>
      </p:sp>
      <p:pic>
        <p:nvPicPr>
          <p:cNvPr id="8" name="Picture 7">
            <a:extLst>
              <a:ext uri="{FF2B5EF4-FFF2-40B4-BE49-F238E27FC236}">
                <a16:creationId xmlns:a16="http://schemas.microsoft.com/office/drawing/2014/main" id="{C50AB6B0-8646-41E1-977F-6AB3FC281125}"/>
              </a:ext>
            </a:extLst>
          </p:cNvPr>
          <p:cNvPicPr>
            <a:picLocks noChangeAspect="1"/>
          </p:cNvPicPr>
          <p:nvPr/>
        </p:nvPicPr>
        <p:blipFill>
          <a:blip r:embed="rId3"/>
          <a:stretch>
            <a:fillRect/>
          </a:stretch>
        </p:blipFill>
        <p:spPr>
          <a:xfrm>
            <a:off x="4134354" y="1803392"/>
            <a:ext cx="2735164" cy="1488251"/>
          </a:xfrm>
          <a:prstGeom prst="rect">
            <a:avLst/>
          </a:prstGeom>
        </p:spPr>
      </p:pic>
      <p:sp>
        <p:nvSpPr>
          <p:cNvPr id="13" name="Rectangle 12">
            <a:extLst>
              <a:ext uri="{FF2B5EF4-FFF2-40B4-BE49-F238E27FC236}">
                <a16:creationId xmlns:a16="http://schemas.microsoft.com/office/drawing/2014/main" id="{95A860D0-13BD-4FA7-8CB9-EAA927517854}"/>
              </a:ext>
            </a:extLst>
          </p:cNvPr>
          <p:cNvSpPr/>
          <p:nvPr/>
        </p:nvSpPr>
        <p:spPr>
          <a:xfrm>
            <a:off x="4752256" y="2285005"/>
            <a:ext cx="1106284" cy="276306"/>
          </a:xfrm>
          <a:prstGeom prst="rect">
            <a:avLst/>
          </a:prstGeom>
          <a:noFill/>
          <a:ln w="28575">
            <a:solidFill>
              <a:srgbClr val="00BA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feld 23">
            <a:extLst>
              <a:ext uri="{FF2B5EF4-FFF2-40B4-BE49-F238E27FC236}">
                <a16:creationId xmlns:a16="http://schemas.microsoft.com/office/drawing/2014/main" id="{A7A02796-57E0-41EC-9AD8-1DEC7F73C7C0}"/>
              </a:ext>
            </a:extLst>
          </p:cNvPr>
          <p:cNvSpPr txBox="1"/>
          <p:nvPr/>
        </p:nvSpPr>
        <p:spPr>
          <a:xfrm>
            <a:off x="10436223" y="1461023"/>
            <a:ext cx="1397429" cy="230832"/>
          </a:xfrm>
          <a:prstGeom prst="rect">
            <a:avLst/>
          </a:prstGeom>
          <a:noFill/>
        </p:spPr>
        <p:txBody>
          <a:bodyPr wrap="square" rtlCol="0">
            <a:spAutoFit/>
          </a:bodyPr>
          <a:lstStyle/>
          <a:p>
            <a:r>
              <a:rPr lang="de-DE" sz="900" b="1" dirty="0">
                <a:solidFill>
                  <a:srgbClr val="0085D5"/>
                </a:solidFill>
              </a:rPr>
              <a:t>Zoom of SayHello file</a:t>
            </a:r>
          </a:p>
        </p:txBody>
      </p:sp>
      <p:cxnSp>
        <p:nvCxnSpPr>
          <p:cNvPr id="15" name="Gerade Verbindung 15">
            <a:extLst>
              <a:ext uri="{FF2B5EF4-FFF2-40B4-BE49-F238E27FC236}">
                <a16:creationId xmlns:a16="http://schemas.microsoft.com/office/drawing/2014/main" id="{7B842F64-6CB9-43DE-9863-EAD1A208B2E6}"/>
              </a:ext>
            </a:extLst>
          </p:cNvPr>
          <p:cNvCxnSpPr>
            <a:cxnSpLocks/>
          </p:cNvCxnSpPr>
          <p:nvPr/>
        </p:nvCxnSpPr>
        <p:spPr>
          <a:xfrm>
            <a:off x="5782097" y="2429336"/>
            <a:ext cx="1782338" cy="0"/>
          </a:xfrm>
          <a:prstGeom prst="line">
            <a:avLst/>
          </a:prstGeom>
          <a:ln w="12700" cmpd="sng">
            <a:solidFill>
              <a:schemeClr val="accent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29E5ABC9-340F-4394-8EEE-9BAB65496587}"/>
              </a:ext>
            </a:extLst>
          </p:cNvPr>
          <p:cNvPicPr>
            <a:picLocks noChangeAspect="1"/>
          </p:cNvPicPr>
          <p:nvPr/>
        </p:nvPicPr>
        <p:blipFill>
          <a:blip r:embed="rId4"/>
          <a:stretch>
            <a:fillRect/>
          </a:stretch>
        </p:blipFill>
        <p:spPr>
          <a:xfrm>
            <a:off x="7052621" y="1751832"/>
            <a:ext cx="4781031" cy="4148464"/>
          </a:xfrm>
          <a:prstGeom prst="rect">
            <a:avLst/>
          </a:prstGeom>
          <a:noFill/>
          <a:ln w="28575">
            <a:solidFill>
              <a:srgbClr val="00BAB3"/>
            </a:solidFill>
          </a:ln>
        </p:spPr>
      </p:pic>
    </p:spTree>
    <p:extLst>
      <p:ext uri="{BB962C8B-B14F-4D97-AF65-F5344CB8AC3E}">
        <p14:creationId xmlns:p14="http://schemas.microsoft.com/office/powerpoint/2010/main" val="3232252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83F08C9-2D5F-4208-A0F8-78DF07AC1105}"/>
              </a:ext>
            </a:extLst>
          </p:cNvPr>
          <p:cNvSpPr>
            <a:spLocks noGrp="1"/>
          </p:cNvSpPr>
          <p:nvPr>
            <p:ph type="title"/>
          </p:nvPr>
        </p:nvSpPr>
        <p:spPr/>
        <p:txBody>
          <a:bodyPr/>
          <a:lstStyle/>
          <a:p>
            <a:r>
              <a:rPr lang="en-US" dirty="0"/>
              <a:t>SayHello.java</a:t>
            </a:r>
          </a:p>
        </p:txBody>
      </p:sp>
      <p:sp>
        <p:nvSpPr>
          <p:cNvPr id="2" name="Footer Placeholder 1">
            <a:extLst>
              <a:ext uri="{FF2B5EF4-FFF2-40B4-BE49-F238E27FC236}">
                <a16:creationId xmlns:a16="http://schemas.microsoft.com/office/drawing/2014/main" id="{A960FFD3-AF24-417D-AE22-2C911EC47976}"/>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3" name="Slide Number Placeholder 2">
            <a:extLst>
              <a:ext uri="{FF2B5EF4-FFF2-40B4-BE49-F238E27FC236}">
                <a16:creationId xmlns:a16="http://schemas.microsoft.com/office/drawing/2014/main" id="{22ECF653-3E3B-416A-85FB-2265EC8F0D4B}"/>
              </a:ext>
            </a:extLst>
          </p:cNvPr>
          <p:cNvSpPr>
            <a:spLocks noGrp="1"/>
          </p:cNvSpPr>
          <p:nvPr>
            <p:ph type="sldNum" sz="quarter" idx="12"/>
          </p:nvPr>
        </p:nvSpPr>
        <p:spPr/>
        <p:txBody>
          <a:bodyPr/>
          <a:lstStyle/>
          <a:p>
            <a:fld id="{CBD803B2-A378-42BD-B5EC-F7748F169FE0}" type="slidenum">
              <a:rPr lang="en-US" smtClean="0"/>
              <a:pPr/>
              <a:t>28</a:t>
            </a:fld>
            <a:endParaRPr lang="en-US" dirty="0"/>
          </a:p>
        </p:txBody>
      </p:sp>
      <p:pic>
        <p:nvPicPr>
          <p:cNvPr id="10" name="Picture 9">
            <a:extLst>
              <a:ext uri="{FF2B5EF4-FFF2-40B4-BE49-F238E27FC236}">
                <a16:creationId xmlns:a16="http://schemas.microsoft.com/office/drawing/2014/main" id="{B41F62DD-50AB-47C3-A361-4867AD2BDAB3}"/>
              </a:ext>
            </a:extLst>
          </p:cNvPr>
          <p:cNvPicPr>
            <a:picLocks noChangeAspect="1"/>
          </p:cNvPicPr>
          <p:nvPr/>
        </p:nvPicPr>
        <p:blipFill>
          <a:blip r:embed="rId3"/>
          <a:stretch>
            <a:fillRect/>
          </a:stretch>
        </p:blipFill>
        <p:spPr>
          <a:xfrm>
            <a:off x="1659832" y="859944"/>
            <a:ext cx="6350312" cy="5583529"/>
          </a:xfrm>
          <a:prstGeom prst="rect">
            <a:avLst/>
          </a:prstGeom>
        </p:spPr>
      </p:pic>
      <p:grpSp>
        <p:nvGrpSpPr>
          <p:cNvPr id="11" name="Group 10">
            <a:extLst>
              <a:ext uri="{FF2B5EF4-FFF2-40B4-BE49-F238E27FC236}">
                <a16:creationId xmlns:a16="http://schemas.microsoft.com/office/drawing/2014/main" id="{337C9514-8ADF-455B-B52E-9472353EB34A}"/>
              </a:ext>
            </a:extLst>
          </p:cNvPr>
          <p:cNvGrpSpPr/>
          <p:nvPr/>
        </p:nvGrpSpPr>
        <p:grpSpPr>
          <a:xfrm>
            <a:off x="8039852" y="1294670"/>
            <a:ext cx="1562974" cy="1815353"/>
            <a:chOff x="7528264" y="2086253"/>
            <a:chExt cx="3026911" cy="2503503"/>
          </a:xfrm>
        </p:grpSpPr>
        <p:sp>
          <p:nvSpPr>
            <p:cNvPr id="12" name="Right Brace 11">
              <a:extLst>
                <a:ext uri="{FF2B5EF4-FFF2-40B4-BE49-F238E27FC236}">
                  <a16:creationId xmlns:a16="http://schemas.microsoft.com/office/drawing/2014/main" id="{FB1E6C1F-894D-4C16-BFAE-1224CA2E01F8}"/>
                </a:ext>
              </a:extLst>
            </p:cNvPr>
            <p:cNvSpPr/>
            <p:nvPr/>
          </p:nvSpPr>
          <p:spPr>
            <a:xfrm>
              <a:off x="7528264" y="2086253"/>
              <a:ext cx="1216241" cy="2503503"/>
            </a:xfrm>
            <a:prstGeom prst="rightBrace">
              <a:avLst>
                <a:gd name="adj1" fmla="val 35340"/>
                <a:gd name="adj2" fmla="val 5071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TextBox 12">
              <a:extLst>
                <a:ext uri="{FF2B5EF4-FFF2-40B4-BE49-F238E27FC236}">
                  <a16:creationId xmlns:a16="http://schemas.microsoft.com/office/drawing/2014/main" id="{8D0CCEA3-C7F5-49A4-865A-772F0724A3AE}"/>
                </a:ext>
              </a:extLst>
            </p:cNvPr>
            <p:cNvSpPr txBox="1"/>
            <p:nvPr/>
          </p:nvSpPr>
          <p:spPr>
            <a:xfrm>
              <a:off x="8930936" y="3191094"/>
              <a:ext cx="1624239" cy="509336"/>
            </a:xfrm>
            <a:prstGeom prst="rect">
              <a:avLst/>
            </a:prstGeom>
            <a:noFill/>
          </p:spPr>
          <p:txBody>
            <a:bodyPr wrap="none" rtlCol="0">
              <a:spAutoFit/>
            </a:bodyPr>
            <a:lstStyle/>
            <a:p>
              <a:r>
                <a:rPr lang="en-US" sz="1800" dirty="0">
                  <a:solidFill>
                    <a:schemeClr val="accent1"/>
                  </a:solidFill>
                  <a:latin typeface="+mj-lt"/>
                </a:rPr>
                <a:t>Import</a:t>
              </a:r>
            </a:p>
          </p:txBody>
        </p:sp>
      </p:grpSp>
      <p:grpSp>
        <p:nvGrpSpPr>
          <p:cNvPr id="14" name="Group 13">
            <a:extLst>
              <a:ext uri="{FF2B5EF4-FFF2-40B4-BE49-F238E27FC236}">
                <a16:creationId xmlns:a16="http://schemas.microsoft.com/office/drawing/2014/main" id="{FBE1DE89-5AF1-4AFD-A33F-DB89D799083F}"/>
              </a:ext>
            </a:extLst>
          </p:cNvPr>
          <p:cNvGrpSpPr/>
          <p:nvPr/>
        </p:nvGrpSpPr>
        <p:grpSpPr>
          <a:xfrm>
            <a:off x="8039853" y="3110023"/>
            <a:ext cx="2761813" cy="1365837"/>
            <a:chOff x="7528264" y="2086253"/>
            <a:chExt cx="5037859" cy="2503503"/>
          </a:xfrm>
        </p:grpSpPr>
        <p:sp>
          <p:nvSpPr>
            <p:cNvPr id="15" name="Right Brace 14">
              <a:extLst>
                <a:ext uri="{FF2B5EF4-FFF2-40B4-BE49-F238E27FC236}">
                  <a16:creationId xmlns:a16="http://schemas.microsoft.com/office/drawing/2014/main" id="{76FD3187-BC0C-4DB9-9047-1A5EF968FB91}"/>
                </a:ext>
              </a:extLst>
            </p:cNvPr>
            <p:cNvSpPr/>
            <p:nvPr/>
          </p:nvSpPr>
          <p:spPr>
            <a:xfrm>
              <a:off x="7528264" y="2086253"/>
              <a:ext cx="1216241" cy="2503503"/>
            </a:xfrm>
            <a:prstGeom prst="rightBrace">
              <a:avLst>
                <a:gd name="adj1" fmla="val 35340"/>
                <a:gd name="adj2" fmla="val 5071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6" name="TextBox 15">
              <a:extLst>
                <a:ext uri="{FF2B5EF4-FFF2-40B4-BE49-F238E27FC236}">
                  <a16:creationId xmlns:a16="http://schemas.microsoft.com/office/drawing/2014/main" id="{8C0DC4F6-B6C9-4DC6-86F6-FE999B675A0C}"/>
                </a:ext>
              </a:extLst>
            </p:cNvPr>
            <p:cNvSpPr txBox="1"/>
            <p:nvPr/>
          </p:nvSpPr>
          <p:spPr>
            <a:xfrm>
              <a:off x="8930934" y="3191093"/>
              <a:ext cx="3635189" cy="676965"/>
            </a:xfrm>
            <a:prstGeom prst="rect">
              <a:avLst/>
            </a:prstGeom>
            <a:noFill/>
          </p:spPr>
          <p:txBody>
            <a:bodyPr wrap="none" rtlCol="0">
              <a:spAutoFit/>
            </a:bodyPr>
            <a:lstStyle/>
            <a:p>
              <a:r>
                <a:rPr lang="en-US" sz="1800" dirty="0">
                  <a:solidFill>
                    <a:schemeClr val="accent1"/>
                  </a:solidFill>
                  <a:latin typeface="+mj-lt"/>
                </a:rPr>
                <a:t>Definition of class</a:t>
              </a:r>
            </a:p>
          </p:txBody>
        </p:sp>
      </p:grpSp>
      <p:grpSp>
        <p:nvGrpSpPr>
          <p:cNvPr id="17" name="Group 16">
            <a:extLst>
              <a:ext uri="{FF2B5EF4-FFF2-40B4-BE49-F238E27FC236}">
                <a16:creationId xmlns:a16="http://schemas.microsoft.com/office/drawing/2014/main" id="{E4BDA647-1826-4D60-9660-D04830BF4F1C}"/>
              </a:ext>
            </a:extLst>
          </p:cNvPr>
          <p:cNvGrpSpPr/>
          <p:nvPr/>
        </p:nvGrpSpPr>
        <p:grpSpPr>
          <a:xfrm>
            <a:off x="8061245" y="4478984"/>
            <a:ext cx="2383613" cy="1868940"/>
            <a:chOff x="7528264" y="2086253"/>
            <a:chExt cx="4813714" cy="2503503"/>
          </a:xfrm>
        </p:grpSpPr>
        <p:sp>
          <p:nvSpPr>
            <p:cNvPr id="18" name="Right Brace 17">
              <a:extLst>
                <a:ext uri="{FF2B5EF4-FFF2-40B4-BE49-F238E27FC236}">
                  <a16:creationId xmlns:a16="http://schemas.microsoft.com/office/drawing/2014/main" id="{EEA01ABB-D42D-4F80-8505-A8EC83DD86AF}"/>
                </a:ext>
              </a:extLst>
            </p:cNvPr>
            <p:cNvSpPr/>
            <p:nvPr/>
          </p:nvSpPr>
          <p:spPr>
            <a:xfrm>
              <a:off x="7528264" y="2086253"/>
              <a:ext cx="1216241" cy="2503503"/>
            </a:xfrm>
            <a:prstGeom prst="rightBrace">
              <a:avLst>
                <a:gd name="adj1" fmla="val 35340"/>
                <a:gd name="adj2" fmla="val 5071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9" name="TextBox 18">
              <a:extLst>
                <a:ext uri="{FF2B5EF4-FFF2-40B4-BE49-F238E27FC236}">
                  <a16:creationId xmlns:a16="http://schemas.microsoft.com/office/drawing/2014/main" id="{09ED2801-0A10-4A0B-A895-655A76645B12}"/>
                </a:ext>
              </a:extLst>
            </p:cNvPr>
            <p:cNvSpPr txBox="1"/>
            <p:nvPr/>
          </p:nvSpPr>
          <p:spPr>
            <a:xfrm>
              <a:off x="8930936" y="3191094"/>
              <a:ext cx="3411042" cy="494732"/>
            </a:xfrm>
            <a:prstGeom prst="rect">
              <a:avLst/>
            </a:prstGeom>
            <a:noFill/>
          </p:spPr>
          <p:txBody>
            <a:bodyPr wrap="square" rtlCol="0">
              <a:spAutoFit/>
            </a:bodyPr>
            <a:lstStyle/>
            <a:p>
              <a:r>
                <a:rPr lang="en-US" sz="1800" dirty="0">
                  <a:solidFill>
                    <a:schemeClr val="accent1"/>
                  </a:solidFill>
                  <a:latin typeface="+mj-lt"/>
                </a:rPr>
                <a:t>Core</a:t>
              </a:r>
              <a:r>
                <a:rPr lang="en-CH" sz="1800" dirty="0">
                  <a:solidFill>
                    <a:schemeClr val="accent1"/>
                  </a:solidFill>
                  <a:latin typeface="+mj-lt"/>
                </a:rPr>
                <a:t> </a:t>
              </a:r>
              <a:r>
                <a:rPr lang="en-US" sz="1800" dirty="0">
                  <a:solidFill>
                    <a:schemeClr val="accent1"/>
                  </a:solidFill>
                  <a:latin typeface="+mj-lt"/>
                </a:rPr>
                <a:t>of Code</a:t>
              </a:r>
            </a:p>
          </p:txBody>
        </p:sp>
      </p:grpSp>
      <p:cxnSp>
        <p:nvCxnSpPr>
          <p:cNvPr id="20" name="Straight Connector 19">
            <a:extLst>
              <a:ext uri="{FF2B5EF4-FFF2-40B4-BE49-F238E27FC236}">
                <a16:creationId xmlns:a16="http://schemas.microsoft.com/office/drawing/2014/main" id="{B55E6A73-4438-41B9-84D0-5281A18A3922}"/>
              </a:ext>
            </a:extLst>
          </p:cNvPr>
          <p:cNvCxnSpPr>
            <a:cxnSpLocks/>
            <a:stCxn id="12" idx="2"/>
          </p:cNvCxnSpPr>
          <p:nvPr/>
        </p:nvCxnSpPr>
        <p:spPr>
          <a:xfrm flipH="1">
            <a:off x="1659832" y="3110023"/>
            <a:ext cx="6380021"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A9B0BC5-24D4-4F39-A3A7-4FFDDB672710}"/>
              </a:ext>
            </a:extLst>
          </p:cNvPr>
          <p:cNvCxnSpPr>
            <a:cxnSpLocks/>
          </p:cNvCxnSpPr>
          <p:nvPr/>
        </p:nvCxnSpPr>
        <p:spPr>
          <a:xfrm flipH="1">
            <a:off x="1659832" y="4475860"/>
            <a:ext cx="638002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6076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CADB997-8020-4813-B1E9-84C2E31D75C0}"/>
              </a:ext>
            </a:extLst>
          </p:cNvPr>
          <p:cNvSpPr>
            <a:spLocks noGrp="1"/>
          </p:cNvSpPr>
          <p:nvPr>
            <p:ph idx="1"/>
          </p:nvPr>
        </p:nvSpPr>
        <p:spPr/>
        <p:txBody>
          <a:bodyPr>
            <a:normAutofit fontScale="92500" lnSpcReduction="10000"/>
          </a:bodyPr>
          <a:lstStyle/>
          <a:p>
            <a:r>
              <a:rPr lang="en-US" dirty="0"/>
              <a:t>Manually add the plugin in SLIMS.</a:t>
            </a:r>
          </a:p>
          <a:p>
            <a:pPr marL="342900" indent="-342900">
              <a:buFont typeface="Arial" panose="020B0604020202020204" pitchFamily="34" charset="0"/>
              <a:buChar char="•"/>
            </a:pPr>
            <a:r>
              <a:rPr lang="en-US" dirty="0"/>
              <a:t>Run the command in the plugin folder:</a:t>
            </a:r>
          </a:p>
          <a:p>
            <a:pPr lvl="1" indent="0">
              <a:buNone/>
            </a:pP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gradlew</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templates:slimsgate-template:fatjar</a:t>
            </a:r>
            <a:endParaRPr lang="en-US" dirty="0">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dirty="0">
                <a:latin typeface="+mj-lt"/>
                <a:cs typeface="Courier New" panose="02070309020205020404" pitchFamily="49" charset="0"/>
              </a:rPr>
              <a:t>From the SLIMS Plugins module, create a new plugin with the file that ends with </a:t>
            </a:r>
            <a:r>
              <a:rPr lang="en-US" dirty="0">
                <a:solidFill>
                  <a:srgbClr val="00BAB3"/>
                </a:solidFill>
                <a:latin typeface="+mj-lt"/>
                <a:cs typeface="Courier New" panose="02070309020205020404" pitchFamily="49" charset="0"/>
              </a:rPr>
              <a:t>*-fat.jar </a:t>
            </a:r>
            <a:r>
              <a:rPr lang="en-US" dirty="0">
                <a:latin typeface="+mj-lt"/>
                <a:cs typeface="Courier New" panose="02070309020205020404" pitchFamily="49" charset="0"/>
              </a:rPr>
              <a:t>in the </a:t>
            </a:r>
            <a:r>
              <a:rPr lang="en-US" dirty="0">
                <a:solidFill>
                  <a:srgbClr val="00BAB3"/>
                </a:solidFill>
                <a:latin typeface="+mj-lt"/>
                <a:cs typeface="Courier New" panose="02070309020205020404" pitchFamily="49" charset="0"/>
              </a:rPr>
              <a:t>folder templates/</a:t>
            </a:r>
            <a:r>
              <a:rPr lang="en-US" dirty="0" err="1">
                <a:solidFill>
                  <a:srgbClr val="00BAB3"/>
                </a:solidFill>
                <a:latin typeface="+mj-lt"/>
                <a:cs typeface="Courier New" panose="02070309020205020404" pitchFamily="49" charset="0"/>
              </a:rPr>
              <a:t>slimsgate</a:t>
            </a:r>
            <a:r>
              <a:rPr lang="en-US" dirty="0">
                <a:solidFill>
                  <a:srgbClr val="00BAB3"/>
                </a:solidFill>
                <a:latin typeface="+mj-lt"/>
                <a:cs typeface="Courier New" panose="02070309020205020404" pitchFamily="49" charset="0"/>
              </a:rPr>
              <a:t>-template/build/libs</a:t>
            </a:r>
            <a:r>
              <a:rPr lang="en-US" dirty="0">
                <a:latin typeface="+mj-lt"/>
                <a:cs typeface="Courier New" panose="02070309020205020404" pitchFamily="49" charset="0"/>
              </a:rPr>
              <a:t>.</a:t>
            </a:r>
          </a:p>
          <a:p>
            <a:pPr marL="525780" lvl="1" indent="-342900"/>
            <a:endParaRPr lang="en-US" dirty="0">
              <a:latin typeface="+mj-lt"/>
              <a:cs typeface="Courier New" panose="02070309020205020404" pitchFamily="49" charset="0"/>
            </a:endParaRPr>
          </a:p>
          <a:p>
            <a:pPr marL="342900" indent="-342900">
              <a:buFont typeface="Arial" panose="020B0604020202020204" pitchFamily="34" charset="0"/>
              <a:buChar char="•"/>
            </a:pPr>
            <a:r>
              <a:rPr lang="en-US" dirty="0">
                <a:latin typeface="+mj-lt"/>
                <a:cs typeface="Courier New" panose="02070309020205020404" pitchFamily="49" charset="0"/>
              </a:rPr>
              <a:t>Alternatively, run this command within the plugin folder to automatically add the plugin to SLIMS:</a:t>
            </a:r>
          </a:p>
          <a:p>
            <a:pPr lvl="1" indent="0">
              <a:buNone/>
            </a:pP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gradlew</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templates:slimsgate-template:uploadToSlims</a:t>
            </a:r>
            <a:endParaRPr lang="en-US" dirty="0">
              <a:latin typeface="Courier New" panose="02070309020205020404" pitchFamily="49" charset="0"/>
              <a:cs typeface="Courier New" panose="02070309020205020404" pitchFamily="49" charset="0"/>
            </a:endParaRPr>
          </a:p>
          <a:p>
            <a:pPr lvl="1" indent="0">
              <a:buNone/>
            </a:pPr>
            <a:endParaRPr lang="en-US" dirty="0">
              <a:latin typeface="+mj-lt"/>
              <a:cs typeface="Courier New" panose="02070309020205020404" pitchFamily="49" charset="0"/>
            </a:endParaRPr>
          </a:p>
          <a:p>
            <a:r>
              <a:rPr lang="en-US" dirty="0">
                <a:latin typeface="+mj-lt"/>
                <a:cs typeface="Courier New" panose="02070309020205020404" pitchFamily="49" charset="0"/>
              </a:rPr>
              <a:t>Test your plugin in SLIMS:</a:t>
            </a:r>
          </a:p>
          <a:p>
            <a:pPr marL="525780" lvl="1" indent="-342900"/>
            <a:r>
              <a:rPr lang="en-US" i="1" dirty="0">
                <a:latin typeface="+mj-lt"/>
                <a:cs typeface="Courier New" panose="02070309020205020404" pitchFamily="49" charset="0"/>
              </a:rPr>
              <a:t>Use the SLIMS GATE flow button that is created by the plugin.</a:t>
            </a:r>
          </a:p>
          <a:p>
            <a:pPr marL="342900" indent="-342900">
              <a:buFont typeface="Arial" panose="020B0604020202020204" pitchFamily="34" charset="0"/>
              <a:buChar char="•"/>
            </a:pPr>
            <a:r>
              <a:rPr lang="en-US" dirty="0">
                <a:latin typeface="+mj-lt"/>
                <a:cs typeface="Courier New" panose="02070309020205020404" pitchFamily="49" charset="0"/>
              </a:rPr>
              <a:t>Check the SLIMS GATE logs within the UI.</a:t>
            </a:r>
          </a:p>
          <a:p>
            <a:pPr marL="342900" indent="-342900">
              <a:buFont typeface="Arial" panose="020B0604020202020204" pitchFamily="34" charset="0"/>
              <a:buChar char="•"/>
            </a:pPr>
            <a:r>
              <a:rPr lang="en-US" dirty="0">
                <a:latin typeface="+mj-lt"/>
                <a:cs typeface="Courier New" panose="02070309020205020404" pitchFamily="49" charset="0"/>
              </a:rPr>
              <a:t>Optional: Check the logs within the server to be sure you captured everything.</a:t>
            </a:r>
          </a:p>
        </p:txBody>
      </p:sp>
      <p:sp>
        <p:nvSpPr>
          <p:cNvPr id="3" name="Footer Placeholder 2">
            <a:extLst>
              <a:ext uri="{FF2B5EF4-FFF2-40B4-BE49-F238E27FC236}">
                <a16:creationId xmlns:a16="http://schemas.microsoft.com/office/drawing/2014/main" id="{6F73656B-96A0-4C95-86AF-402EA76FF6A8}"/>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CB7BB1F8-5125-421F-93E6-C467882D911A}"/>
              </a:ext>
            </a:extLst>
          </p:cNvPr>
          <p:cNvSpPr>
            <a:spLocks noGrp="1"/>
          </p:cNvSpPr>
          <p:nvPr>
            <p:ph type="sldNum" sz="quarter" idx="12"/>
          </p:nvPr>
        </p:nvSpPr>
        <p:spPr/>
        <p:txBody>
          <a:bodyPr/>
          <a:lstStyle/>
          <a:p>
            <a:fld id="{CBD803B2-A378-42BD-B5EC-F7748F169FE0}" type="slidenum">
              <a:rPr lang="en-US" smtClean="0"/>
              <a:pPr/>
              <a:t>29</a:t>
            </a:fld>
            <a:endParaRPr lang="en-US" dirty="0"/>
          </a:p>
        </p:txBody>
      </p:sp>
      <p:sp>
        <p:nvSpPr>
          <p:cNvPr id="9" name="Title 8">
            <a:extLst>
              <a:ext uri="{FF2B5EF4-FFF2-40B4-BE49-F238E27FC236}">
                <a16:creationId xmlns:a16="http://schemas.microsoft.com/office/drawing/2014/main" id="{A87EC58A-9F9E-47DC-9789-EA4F87E99EA1}"/>
              </a:ext>
            </a:extLst>
          </p:cNvPr>
          <p:cNvSpPr>
            <a:spLocks noGrp="1"/>
          </p:cNvSpPr>
          <p:nvPr>
            <p:ph type="title"/>
          </p:nvPr>
        </p:nvSpPr>
        <p:spPr/>
        <p:txBody>
          <a:bodyPr/>
          <a:lstStyle/>
          <a:p>
            <a:r>
              <a:rPr lang="en-US" dirty="0"/>
              <a:t>1. Test the Example</a:t>
            </a:r>
          </a:p>
        </p:txBody>
      </p:sp>
    </p:spTree>
    <p:extLst>
      <p:ext uri="{BB962C8B-B14F-4D97-AF65-F5344CB8AC3E}">
        <p14:creationId xmlns:p14="http://schemas.microsoft.com/office/powerpoint/2010/main" val="22382658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2041B5-7132-4EA7-93AF-36D72CA8AF6A}"/>
              </a:ext>
            </a:extLst>
          </p:cNvPr>
          <p:cNvSpPr>
            <a:spLocks noGrp="1"/>
          </p:cNvSpPr>
          <p:nvPr>
            <p:ph idx="1"/>
          </p:nvPr>
        </p:nvSpPr>
        <p:spPr/>
        <p:txBody>
          <a:bodyPr/>
          <a:lstStyle/>
          <a:p>
            <a:r>
              <a:rPr lang="en-US" dirty="0"/>
              <a:t>Have a look at the file in </a:t>
            </a:r>
            <a:r>
              <a:rPr lang="en-US" dirty="0" err="1">
                <a:solidFill>
                  <a:srgbClr val="00BAB3"/>
                </a:solidFill>
              </a:rPr>
              <a:t>slimsgate</a:t>
            </a:r>
            <a:r>
              <a:rPr lang="en-US" dirty="0">
                <a:solidFill>
                  <a:srgbClr val="00BAB3"/>
                </a:solidFill>
              </a:rPr>
              <a:t>-template</a:t>
            </a:r>
            <a:r>
              <a:rPr lang="en-US" dirty="0"/>
              <a:t> called:</a:t>
            </a:r>
          </a:p>
          <a:p>
            <a:r>
              <a:rPr lang="en-US" dirty="0">
                <a:solidFill>
                  <a:srgbClr val="00BAB3"/>
                </a:solidFill>
              </a:rPr>
              <a:t>	HowToUseThisTemplate.md</a:t>
            </a:r>
          </a:p>
          <a:p>
            <a:r>
              <a:rPr lang="en-US" dirty="0"/>
              <a:t>Follow the guidelines in this file, including:</a:t>
            </a:r>
          </a:p>
          <a:p>
            <a:pPr marL="342900" indent="-342900">
              <a:buFont typeface="Arial" panose="020B0604020202020204" pitchFamily="34" charset="0"/>
              <a:buChar char="•"/>
            </a:pPr>
            <a:r>
              <a:rPr lang="en-US" dirty="0"/>
              <a:t>Copying the </a:t>
            </a:r>
            <a:r>
              <a:rPr lang="en-US" dirty="0" err="1">
                <a:solidFill>
                  <a:srgbClr val="00BAB3"/>
                </a:solidFill>
              </a:rPr>
              <a:t>slimsgate</a:t>
            </a:r>
            <a:r>
              <a:rPr lang="en-US" dirty="0">
                <a:solidFill>
                  <a:srgbClr val="00BAB3"/>
                </a:solidFill>
              </a:rPr>
              <a:t>-template folder</a:t>
            </a:r>
          </a:p>
          <a:p>
            <a:pPr marL="342900" indent="-342900">
              <a:buFont typeface="Arial" panose="020B0604020202020204" pitchFamily="34" charset="0"/>
              <a:buChar char="•"/>
            </a:pPr>
            <a:r>
              <a:rPr lang="en-US" dirty="0"/>
              <a:t>Renaming the folder</a:t>
            </a:r>
          </a:p>
          <a:p>
            <a:pPr marL="342900" indent="-342900">
              <a:buFont typeface="Arial" panose="020B0604020202020204" pitchFamily="34" charset="0"/>
              <a:buChar char="•"/>
            </a:pPr>
            <a:r>
              <a:rPr lang="en-US" dirty="0"/>
              <a:t>Adding a new line in </a:t>
            </a:r>
            <a:r>
              <a:rPr lang="en-US" dirty="0" err="1">
                <a:solidFill>
                  <a:srgbClr val="00BAB3"/>
                </a:solidFill>
              </a:rPr>
              <a:t>settings.gradle</a:t>
            </a:r>
            <a:r>
              <a:rPr lang="en-US" dirty="0">
                <a:solidFill>
                  <a:srgbClr val="00BAB3"/>
                </a:solidFill>
              </a:rPr>
              <a:t> </a:t>
            </a:r>
            <a:r>
              <a:rPr lang="en-US" dirty="0"/>
              <a:t>with the new name.</a:t>
            </a:r>
          </a:p>
          <a:p>
            <a:pPr marL="525780" lvl="1" indent="-342900"/>
            <a:endParaRPr lang="en-US" dirty="0"/>
          </a:p>
          <a:p>
            <a:pPr lvl="1" indent="0">
              <a:buNone/>
            </a:pPr>
            <a:r>
              <a:rPr lang="en-US" b="1" dirty="0">
                <a:solidFill>
                  <a:schemeClr val="accent4"/>
                </a:solidFill>
              </a:rPr>
              <a:t>Hint</a:t>
            </a:r>
            <a:r>
              <a:rPr lang="en-US" dirty="0">
                <a:solidFill>
                  <a:schemeClr val="accent4"/>
                </a:solidFill>
              </a:rPr>
              <a:t>: </a:t>
            </a:r>
            <a:r>
              <a:rPr lang="en-US" dirty="0"/>
              <a:t>Be cautious about capitalization, especially in the </a:t>
            </a:r>
            <a:r>
              <a:rPr lang="en-US" b="1" dirty="0" err="1"/>
              <a:t>routeId</a:t>
            </a:r>
            <a:r>
              <a:rPr lang="en-US" dirty="0"/>
              <a:t>, </a:t>
            </a:r>
            <a:r>
              <a:rPr lang="en-US" b="1" dirty="0"/>
              <a:t>to</a:t>
            </a:r>
            <a:r>
              <a:rPr lang="en-US" dirty="0"/>
              <a:t>, and </a:t>
            </a:r>
            <a:r>
              <a:rPr lang="en-US" b="1" dirty="0" err="1"/>
              <a:t>routeBuilder</a:t>
            </a:r>
            <a:r>
              <a:rPr lang="en-US" dirty="0"/>
              <a:t> definition. The first letter is in small case.</a:t>
            </a:r>
          </a:p>
          <a:p>
            <a:pPr lvl="1" indent="0">
              <a:buNone/>
            </a:pPr>
            <a:endParaRPr lang="en-US" dirty="0"/>
          </a:p>
          <a:p>
            <a:pPr lvl="1" indent="0">
              <a:buNone/>
            </a:pPr>
            <a:r>
              <a:rPr lang="en-US" b="1" dirty="0">
                <a:solidFill>
                  <a:schemeClr val="accent6"/>
                </a:solidFill>
              </a:rPr>
              <a:t>Important</a:t>
            </a:r>
            <a:r>
              <a:rPr lang="en-US" dirty="0">
                <a:solidFill>
                  <a:schemeClr val="accent6"/>
                </a:solidFill>
              </a:rPr>
              <a:t>:</a:t>
            </a:r>
            <a:r>
              <a:rPr lang="en-US" dirty="0"/>
              <a:t> You must have an </a:t>
            </a:r>
            <a:r>
              <a:rPr lang="en-US" b="1" dirty="0"/>
              <a:t>@Handler method </a:t>
            </a:r>
            <a:r>
              <a:rPr lang="en-US" dirty="0"/>
              <a:t>(Camel will search for one).</a:t>
            </a:r>
          </a:p>
        </p:txBody>
      </p:sp>
      <p:sp>
        <p:nvSpPr>
          <p:cNvPr id="3" name="Footer Placeholder 2">
            <a:extLst>
              <a:ext uri="{FF2B5EF4-FFF2-40B4-BE49-F238E27FC236}">
                <a16:creationId xmlns:a16="http://schemas.microsoft.com/office/drawing/2014/main" id="{49447453-AC69-490C-8B61-9023AF504F65}"/>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1F1F3D01-2A11-4A22-A805-B1647AA5B66D}"/>
              </a:ext>
            </a:extLst>
          </p:cNvPr>
          <p:cNvSpPr>
            <a:spLocks noGrp="1"/>
          </p:cNvSpPr>
          <p:nvPr>
            <p:ph type="sldNum" sz="quarter" idx="12"/>
          </p:nvPr>
        </p:nvSpPr>
        <p:spPr/>
        <p:txBody>
          <a:bodyPr/>
          <a:lstStyle/>
          <a:p>
            <a:fld id="{CBD803B2-A378-42BD-B5EC-F7748F169FE0}" type="slidenum">
              <a:rPr lang="en-US" smtClean="0"/>
              <a:pPr/>
              <a:t>30</a:t>
            </a:fld>
            <a:endParaRPr lang="en-US" dirty="0"/>
          </a:p>
        </p:txBody>
      </p:sp>
      <p:sp>
        <p:nvSpPr>
          <p:cNvPr id="6" name="Title 5">
            <a:extLst>
              <a:ext uri="{FF2B5EF4-FFF2-40B4-BE49-F238E27FC236}">
                <a16:creationId xmlns:a16="http://schemas.microsoft.com/office/drawing/2014/main" id="{E910E8B2-E0BC-4B8D-B537-6004073F9F04}"/>
              </a:ext>
            </a:extLst>
          </p:cNvPr>
          <p:cNvSpPr>
            <a:spLocks noGrp="1"/>
          </p:cNvSpPr>
          <p:nvPr>
            <p:ph type="title"/>
          </p:nvPr>
        </p:nvSpPr>
        <p:spPr/>
        <p:txBody>
          <a:bodyPr/>
          <a:lstStyle/>
          <a:p>
            <a:r>
              <a:rPr lang="en-US" dirty="0"/>
              <a:t>2. Create Your Own Example</a:t>
            </a:r>
          </a:p>
        </p:txBody>
      </p:sp>
    </p:spTree>
    <p:extLst>
      <p:ext uri="{BB962C8B-B14F-4D97-AF65-F5344CB8AC3E}">
        <p14:creationId xmlns:p14="http://schemas.microsoft.com/office/powerpoint/2010/main" val="2424410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0133B0-1B70-47D6-B051-2A87AFEE22E2}"/>
              </a:ext>
            </a:extLst>
          </p:cNvPr>
          <p:cNvSpPr>
            <a:spLocks noGrp="1"/>
          </p:cNvSpPr>
          <p:nvPr>
            <p:ph idx="1"/>
          </p:nvPr>
        </p:nvSpPr>
        <p:spPr/>
        <p:txBody>
          <a:bodyPr/>
          <a:lstStyle/>
          <a:p>
            <a:r>
              <a:rPr lang="en-US" dirty="0"/>
              <a:t>Logging to UI via </a:t>
            </a:r>
            <a:r>
              <a:rPr lang="en-US" dirty="0" err="1">
                <a:solidFill>
                  <a:srgbClr val="00BAB3"/>
                </a:solidFill>
              </a:rPr>
              <a:t>SlimsProxy</a:t>
            </a:r>
            <a:endParaRPr lang="en-US" dirty="0">
              <a:solidFill>
                <a:srgbClr val="00BAB3"/>
              </a:solidFill>
            </a:endParaRPr>
          </a:p>
          <a:p>
            <a:r>
              <a:rPr lang="en-US" dirty="0"/>
              <a:t>Error catching – always good practice:</a:t>
            </a:r>
          </a:p>
          <a:p>
            <a:pPr marL="342900" indent="-342900">
              <a:buFont typeface="Arial" panose="020B0604020202020204" pitchFamily="34" charset="0"/>
              <a:buChar char="•"/>
            </a:pPr>
            <a:r>
              <a:rPr lang="en-US" dirty="0"/>
              <a:t>Catch unhandled exceptions. Treat them and throw them again as a specific exception with a clearly stated message.</a:t>
            </a:r>
          </a:p>
          <a:p>
            <a:pPr marL="525780" lvl="1" indent="-342900"/>
            <a:endParaRPr lang="en-US" dirty="0"/>
          </a:p>
          <a:p>
            <a:pPr lvl="1" indent="0">
              <a:buNone/>
            </a:pPr>
            <a:r>
              <a:rPr lang="en-US" dirty="0">
                <a:solidFill>
                  <a:schemeClr val="accent1"/>
                </a:solidFill>
              </a:rPr>
              <a:t>Exercise:</a:t>
            </a:r>
          </a:p>
          <a:p>
            <a:pPr marL="525780" lvl="1" indent="-342900"/>
            <a:r>
              <a:rPr lang="en-US" dirty="0"/>
              <a:t>Add logging to the </a:t>
            </a:r>
            <a:r>
              <a:rPr lang="en-US" dirty="0" err="1"/>
              <a:t>sayHi</a:t>
            </a:r>
            <a:r>
              <a:rPr lang="en-US" dirty="0"/>
              <a:t> example.</a:t>
            </a:r>
          </a:p>
          <a:p>
            <a:pPr marL="525780" lvl="1" indent="-342900"/>
            <a:r>
              <a:rPr lang="en-US" dirty="0"/>
              <a:t>Throw a new </a:t>
            </a:r>
            <a:r>
              <a:rPr lang="en-US" dirty="0" err="1"/>
              <a:t>SlimsGateExceptionError</a:t>
            </a:r>
            <a:r>
              <a:rPr lang="en-US" dirty="0"/>
              <a:t> every time.</a:t>
            </a:r>
          </a:p>
        </p:txBody>
      </p:sp>
      <p:sp>
        <p:nvSpPr>
          <p:cNvPr id="3" name="Footer Placeholder 2">
            <a:extLst>
              <a:ext uri="{FF2B5EF4-FFF2-40B4-BE49-F238E27FC236}">
                <a16:creationId xmlns:a16="http://schemas.microsoft.com/office/drawing/2014/main" id="{DEA168F0-499A-4D76-A414-51813C0AAAF1}"/>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58EDC2EA-19D7-418E-A559-DA300E223A05}"/>
              </a:ext>
            </a:extLst>
          </p:cNvPr>
          <p:cNvSpPr>
            <a:spLocks noGrp="1"/>
          </p:cNvSpPr>
          <p:nvPr>
            <p:ph type="sldNum" sz="quarter" idx="12"/>
          </p:nvPr>
        </p:nvSpPr>
        <p:spPr/>
        <p:txBody>
          <a:bodyPr/>
          <a:lstStyle/>
          <a:p>
            <a:fld id="{CBD803B2-A378-42BD-B5EC-F7748F169FE0}" type="slidenum">
              <a:rPr lang="en-US" smtClean="0"/>
              <a:pPr/>
              <a:t>31</a:t>
            </a:fld>
            <a:endParaRPr lang="en-US" dirty="0"/>
          </a:p>
        </p:txBody>
      </p:sp>
      <p:sp>
        <p:nvSpPr>
          <p:cNvPr id="6" name="Title 5">
            <a:extLst>
              <a:ext uri="{FF2B5EF4-FFF2-40B4-BE49-F238E27FC236}">
                <a16:creationId xmlns:a16="http://schemas.microsoft.com/office/drawing/2014/main" id="{47478FE7-D5BF-4957-91E4-F9D6ADFC97D2}"/>
              </a:ext>
            </a:extLst>
          </p:cNvPr>
          <p:cNvSpPr>
            <a:spLocks noGrp="1"/>
          </p:cNvSpPr>
          <p:nvPr>
            <p:ph type="title"/>
          </p:nvPr>
        </p:nvSpPr>
        <p:spPr/>
        <p:txBody>
          <a:bodyPr/>
          <a:lstStyle/>
          <a:p>
            <a:r>
              <a:rPr lang="en-US" dirty="0"/>
              <a:t>3. Logging and Errors</a:t>
            </a:r>
          </a:p>
        </p:txBody>
      </p:sp>
    </p:spTree>
    <p:extLst>
      <p:ext uri="{BB962C8B-B14F-4D97-AF65-F5344CB8AC3E}">
        <p14:creationId xmlns:p14="http://schemas.microsoft.com/office/powerpoint/2010/main" val="34927595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0EC9BE-555C-4BA5-9D4B-6BA00368632F}"/>
              </a:ext>
            </a:extLst>
          </p:cNvPr>
          <p:cNvSpPr>
            <a:spLocks noGrp="1"/>
          </p:cNvSpPr>
          <p:nvPr>
            <p:ph idx="1"/>
          </p:nvPr>
        </p:nvSpPr>
        <p:spPr/>
        <p:txBody>
          <a:bodyPr>
            <a:normAutofit fontScale="92500" lnSpcReduction="10000"/>
          </a:bodyPr>
          <a:lstStyle/>
          <a:p>
            <a:pPr marL="342900" indent="-342900">
              <a:buFont typeface="Arial" panose="020B0604020202020204" pitchFamily="34" charset="0"/>
              <a:buChar char="•"/>
            </a:pPr>
            <a:r>
              <a:rPr lang="en-US" b="1" dirty="0">
                <a:latin typeface="Courier New" panose="02070309020205020404" pitchFamily="49" charset="0"/>
                <a:cs typeface="Courier New" panose="02070309020205020404" pitchFamily="49" charset="0"/>
              </a:rPr>
              <a:t>&lt;Table&gt;</a:t>
            </a:r>
            <a:r>
              <a:rPr lang="en-US" b="1" dirty="0" err="1">
                <a:latin typeface="Courier New" panose="02070309020205020404" pitchFamily="49" charset="0"/>
                <a:cs typeface="Courier New" panose="02070309020205020404" pitchFamily="49" charset="0"/>
              </a:rPr>
              <a:t>RecordQueries</a:t>
            </a:r>
            <a:r>
              <a:rPr lang="en-US" b="1" dirty="0">
                <a:latin typeface="Courier New" panose="02070309020205020404" pitchFamily="49" charset="0"/>
                <a:cs typeface="Courier New" panose="02070309020205020404" pitchFamily="49" charset="0"/>
              </a:rPr>
              <a:t> </a:t>
            </a:r>
            <a:r>
              <a:rPr lang="en-US" dirty="0"/>
              <a:t>– returns List of maps (key-value pairs) of the &lt;Table&gt; records</a:t>
            </a:r>
          </a:p>
          <a:p>
            <a:pPr marL="342900" indent="-342900">
              <a:buFont typeface="Arial" panose="020B0604020202020204" pitchFamily="34" charset="0"/>
              <a:buChar char="•"/>
            </a:pPr>
            <a:r>
              <a:rPr lang="en-US" b="1" dirty="0">
                <a:latin typeface="Courier New" panose="02070309020205020404" pitchFamily="49" charset="0"/>
                <a:cs typeface="Courier New" panose="02070309020205020404" pitchFamily="49" charset="0"/>
              </a:rPr>
              <a:t>&lt;Table&gt;Queries </a:t>
            </a:r>
            <a:r>
              <a:rPr lang="en-US" dirty="0"/>
              <a:t>– returns List of &lt;Table&gt;’s objects</a:t>
            </a:r>
          </a:p>
          <a:p>
            <a:pPr marL="342900" indent="-342900">
              <a:buFont typeface="Arial" panose="020B0604020202020204" pitchFamily="34" charset="0"/>
              <a:buChar char="•"/>
            </a:pPr>
            <a:endParaRPr lang="en-US" dirty="0"/>
          </a:p>
          <a:p>
            <a:r>
              <a:rPr lang="en-US" dirty="0">
                <a:solidFill>
                  <a:schemeClr val="accent4"/>
                </a:solidFill>
              </a:rPr>
              <a:t>NOTE: </a:t>
            </a:r>
            <a:r>
              <a:rPr lang="en-US" dirty="0"/>
              <a:t>Only </a:t>
            </a:r>
            <a:r>
              <a:rPr lang="en-US" dirty="0">
                <a:latin typeface="Courier New" panose="02070309020205020404" pitchFamily="49" charset="0"/>
                <a:cs typeface="Courier New" panose="02070309020205020404" pitchFamily="49" charset="0"/>
              </a:rPr>
              <a:t>&lt;Table&gt;</a:t>
            </a:r>
            <a:r>
              <a:rPr lang="en-US" dirty="0" err="1">
                <a:latin typeface="Courier New" panose="02070309020205020404" pitchFamily="49" charset="0"/>
                <a:cs typeface="Courier New" panose="02070309020205020404" pitchFamily="49" charset="0"/>
              </a:rPr>
              <a:t>RecordQueries</a:t>
            </a:r>
            <a:r>
              <a:rPr lang="en-US" dirty="0">
                <a:latin typeface="Courier New" panose="02070309020205020404" pitchFamily="49" charset="0"/>
                <a:cs typeface="Courier New" panose="02070309020205020404" pitchFamily="49" charset="0"/>
              </a:rPr>
              <a:t> </a:t>
            </a:r>
            <a:r>
              <a:rPr lang="en-US" dirty="0"/>
              <a:t>include custom fields.</a:t>
            </a:r>
          </a:p>
          <a:p>
            <a:r>
              <a:rPr lang="en-US" dirty="0"/>
              <a:t>	</a:t>
            </a:r>
            <a:r>
              <a:rPr lang="en-US" sz="1700" dirty="0">
                <a:latin typeface="Courier New" panose="02070309020205020404" pitchFamily="49" charset="0"/>
                <a:cs typeface="Courier New" panose="02070309020205020404" pitchFamily="49" charset="0"/>
              </a:rPr>
              <a:t>@Autowired</a:t>
            </a:r>
          </a:p>
          <a:p>
            <a:r>
              <a:rPr lang="en-US" sz="1700" dirty="0">
                <a:latin typeface="Courier New" panose="02070309020205020404" pitchFamily="49" charset="0"/>
                <a:cs typeface="Courier New" panose="02070309020205020404" pitchFamily="49" charset="0"/>
              </a:rPr>
              <a:t>	private </a:t>
            </a:r>
            <a:r>
              <a:rPr lang="en-US" sz="1700" dirty="0" err="1">
                <a:latin typeface="Courier New" panose="02070309020205020404" pitchFamily="49" charset="0"/>
                <a:cs typeface="Courier New" panose="02070309020205020404" pitchFamily="49" charset="0"/>
              </a:rPr>
              <a:t>ContentRecordQueries</a:t>
            </a:r>
            <a:r>
              <a:rPr lang="en-US" sz="1700" dirty="0">
                <a:latin typeface="Courier New" panose="02070309020205020404" pitchFamily="49" charset="0"/>
                <a:cs typeface="Courier New" panose="02070309020205020404" pitchFamily="49" charset="0"/>
              </a:rPr>
              <a:t> </a:t>
            </a:r>
            <a:r>
              <a:rPr lang="en-US" sz="1700" dirty="0" err="1">
                <a:latin typeface="Courier New" panose="02070309020205020404" pitchFamily="49" charset="0"/>
                <a:cs typeface="Courier New" panose="02070309020205020404" pitchFamily="49" charset="0"/>
              </a:rPr>
              <a:t>contentRecordQueries</a:t>
            </a:r>
            <a:r>
              <a:rPr lang="en-US" sz="1700" dirty="0">
                <a:latin typeface="Courier New" panose="02070309020205020404" pitchFamily="49" charset="0"/>
                <a:cs typeface="Courier New" panose="02070309020205020404" pitchFamily="49" charset="0"/>
              </a:rPr>
              <a:t>;</a:t>
            </a:r>
          </a:p>
          <a:p>
            <a:endParaRPr lang="en-US" sz="1700"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Optional&lt;Object&gt; </a:t>
            </a:r>
            <a:r>
              <a:rPr lang="en-US" dirty="0"/>
              <a:t>can be accessed with </a:t>
            </a:r>
            <a:r>
              <a:rPr lang="en-US" dirty="0">
                <a:latin typeface="Courier New" panose="02070309020205020404" pitchFamily="49" charset="0"/>
                <a:cs typeface="Courier New" panose="02070309020205020404" pitchFamily="49" charset="0"/>
              </a:rPr>
              <a:t>.get() </a:t>
            </a:r>
            <a:r>
              <a:rPr lang="en-US" dirty="0"/>
              <a:t>if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isPresent</a:t>
            </a:r>
            <a:r>
              <a:rPr lang="en-US" dirty="0">
                <a:latin typeface="Courier New" panose="02070309020205020404" pitchFamily="49" charset="0"/>
                <a:cs typeface="Courier New" panose="02070309020205020404" pitchFamily="49" charset="0"/>
              </a:rPr>
              <a:t>() </a:t>
            </a:r>
            <a:r>
              <a:rPr lang="en-US" dirty="0"/>
              <a:t>is true</a:t>
            </a:r>
          </a:p>
          <a:p>
            <a:endParaRPr lang="en-US" dirty="0"/>
          </a:p>
          <a:p>
            <a:r>
              <a:rPr lang="en-US" dirty="0">
                <a:solidFill>
                  <a:schemeClr val="accent1"/>
                </a:solidFill>
              </a:rPr>
              <a:t>Exercise:</a:t>
            </a:r>
          </a:p>
          <a:p>
            <a:pPr marL="342900" indent="-342900">
              <a:buFont typeface="Arial" panose="020B0604020202020204" pitchFamily="34" charset="0"/>
              <a:buChar char="•"/>
            </a:pPr>
            <a:r>
              <a:rPr lang="en-US" dirty="0"/>
              <a:t>Query the total number of contents and log it to the UI.</a:t>
            </a:r>
          </a:p>
          <a:p>
            <a:pPr marL="342900" indent="-342900">
              <a:buFont typeface="Arial" panose="020B0604020202020204" pitchFamily="34" charset="0"/>
              <a:buChar char="•"/>
            </a:pPr>
            <a:r>
              <a:rPr lang="en-US" dirty="0"/>
              <a:t>Query the custom field volume for each content and print it to the UI.</a:t>
            </a:r>
          </a:p>
        </p:txBody>
      </p:sp>
      <p:sp>
        <p:nvSpPr>
          <p:cNvPr id="3" name="Footer Placeholder 2">
            <a:extLst>
              <a:ext uri="{FF2B5EF4-FFF2-40B4-BE49-F238E27FC236}">
                <a16:creationId xmlns:a16="http://schemas.microsoft.com/office/drawing/2014/main" id="{1997000C-962C-406E-8DD4-A1C071106A30}"/>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F717A2C5-D628-48F9-9DD5-5F44D1307DD5}"/>
              </a:ext>
            </a:extLst>
          </p:cNvPr>
          <p:cNvSpPr>
            <a:spLocks noGrp="1"/>
          </p:cNvSpPr>
          <p:nvPr>
            <p:ph type="sldNum" sz="quarter" idx="12"/>
          </p:nvPr>
        </p:nvSpPr>
        <p:spPr/>
        <p:txBody>
          <a:bodyPr/>
          <a:lstStyle/>
          <a:p>
            <a:fld id="{CBD803B2-A378-42BD-B5EC-F7748F169FE0}" type="slidenum">
              <a:rPr lang="en-US" smtClean="0"/>
              <a:pPr/>
              <a:t>32</a:t>
            </a:fld>
            <a:endParaRPr lang="en-US" dirty="0"/>
          </a:p>
        </p:txBody>
      </p:sp>
      <p:sp>
        <p:nvSpPr>
          <p:cNvPr id="6" name="Title 5">
            <a:extLst>
              <a:ext uri="{FF2B5EF4-FFF2-40B4-BE49-F238E27FC236}">
                <a16:creationId xmlns:a16="http://schemas.microsoft.com/office/drawing/2014/main" id="{654C1DEF-211F-4DA0-88D3-D59E4856AFFB}"/>
              </a:ext>
            </a:extLst>
          </p:cNvPr>
          <p:cNvSpPr>
            <a:spLocks noGrp="1"/>
          </p:cNvSpPr>
          <p:nvPr>
            <p:ph type="title"/>
          </p:nvPr>
        </p:nvSpPr>
        <p:spPr/>
        <p:txBody>
          <a:bodyPr/>
          <a:lstStyle/>
          <a:p>
            <a:r>
              <a:rPr lang="en-US" dirty="0"/>
              <a:t>4. Database Queries</a:t>
            </a:r>
          </a:p>
        </p:txBody>
      </p:sp>
      <p:sp>
        <p:nvSpPr>
          <p:cNvPr id="7" name="Textfeld 24">
            <a:extLst>
              <a:ext uri="{FF2B5EF4-FFF2-40B4-BE49-F238E27FC236}">
                <a16:creationId xmlns:a16="http://schemas.microsoft.com/office/drawing/2014/main" id="{29448CDD-465C-4DFA-A7BB-96BEF97B77F6}"/>
              </a:ext>
            </a:extLst>
          </p:cNvPr>
          <p:cNvSpPr txBox="1"/>
          <p:nvPr/>
        </p:nvSpPr>
        <p:spPr>
          <a:xfrm>
            <a:off x="502920" y="3552777"/>
            <a:ext cx="2959607" cy="246221"/>
          </a:xfrm>
          <a:prstGeom prst="rect">
            <a:avLst/>
          </a:prstGeom>
          <a:solidFill>
            <a:srgbClr val="D1EEFF"/>
          </a:solidFill>
        </p:spPr>
        <p:txBody>
          <a:bodyPr wrap="square" rtlCol="0">
            <a:spAutoFit/>
          </a:bodyPr>
          <a:lstStyle/>
          <a:p>
            <a:r>
              <a:rPr lang="en-US" sz="1000" b="1" dirty="0"/>
              <a:t>Tip: </a:t>
            </a:r>
            <a:r>
              <a:rPr lang="en-US" sz="1000" dirty="0"/>
              <a:t>Both queries need to be </a:t>
            </a:r>
            <a:r>
              <a:rPr lang="en-US" sz="1000" dirty="0" err="1"/>
              <a:t>Autowired</a:t>
            </a:r>
            <a:r>
              <a:rPr lang="en-US" sz="1000" dirty="0"/>
              <a:t>.</a:t>
            </a:r>
            <a:endParaRPr lang="en-US" sz="1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763227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C6C7EE-471E-47CE-A908-B81D3AFC2C27}"/>
              </a:ext>
            </a:extLst>
          </p:cNvPr>
          <p:cNvSpPr>
            <a:spLocks noGrp="1"/>
          </p:cNvSpPr>
          <p:nvPr>
            <p:ph idx="1"/>
          </p:nvPr>
        </p:nvSpPr>
        <p:spPr/>
        <p:txBody>
          <a:bodyPr>
            <a:normAutofit/>
          </a:bodyPr>
          <a:lstStyle/>
          <a:p>
            <a:r>
              <a:rPr lang="en-US" dirty="0"/>
              <a:t>Records are created/removed/updated using </a:t>
            </a:r>
            <a:r>
              <a:rPr lang="en-US" dirty="0" err="1"/>
              <a:t>Daos</a:t>
            </a:r>
            <a:r>
              <a:rPr lang="en-US" dirty="0"/>
              <a:t> (Data Access Objects).</a:t>
            </a:r>
          </a:p>
          <a:p>
            <a:endParaRPr lang="en-US" dirty="0"/>
          </a:p>
          <a:p>
            <a:r>
              <a:rPr lang="en-US" dirty="0"/>
              <a:t>	</a:t>
            </a:r>
            <a:r>
              <a:rPr lang="en-US" sz="1600" dirty="0">
                <a:latin typeface="Courier New" panose="02070309020205020404" pitchFamily="49" charset="0"/>
                <a:cs typeface="Courier New" panose="02070309020205020404" pitchFamily="49" charset="0"/>
              </a:rPr>
              <a:t>@Autowired</a:t>
            </a:r>
          </a:p>
          <a:p>
            <a:r>
              <a:rPr lang="en-US" sz="1600" dirty="0">
                <a:latin typeface="Courier New" panose="02070309020205020404" pitchFamily="49" charset="0"/>
                <a:cs typeface="Courier New" panose="02070309020205020404" pitchFamily="49" charset="0"/>
              </a:rPr>
              <a:t>	private Dao&lt;Content&gt; </a:t>
            </a:r>
            <a:r>
              <a:rPr lang="en-US" sz="1600" dirty="0" err="1">
                <a:latin typeface="Courier New" panose="02070309020205020404" pitchFamily="49" charset="0"/>
                <a:cs typeface="Courier New" panose="02070309020205020404" pitchFamily="49" charset="0"/>
              </a:rPr>
              <a:t>contentDao</a:t>
            </a:r>
            <a:r>
              <a:rPr lang="en-US" sz="1600" dirty="0">
                <a:latin typeface="Courier New" panose="02070309020205020404" pitchFamily="49" charset="0"/>
                <a:cs typeface="Courier New" panose="02070309020205020404" pitchFamily="49" charset="0"/>
              </a:rPr>
              <a:t>;</a:t>
            </a:r>
          </a:p>
          <a:p>
            <a:endParaRPr lang="en-US" dirty="0"/>
          </a:p>
          <a:p>
            <a:r>
              <a:rPr lang="en-US" dirty="0">
                <a:solidFill>
                  <a:schemeClr val="accent1"/>
                </a:solidFill>
              </a:rPr>
              <a:t>Exercise:</a:t>
            </a:r>
          </a:p>
          <a:p>
            <a:pPr marL="342900" indent="-342900">
              <a:buFont typeface="Arial" panose="020B0604020202020204" pitchFamily="34" charset="0"/>
              <a:buChar char="•"/>
            </a:pPr>
            <a:r>
              <a:rPr lang="en-US" dirty="0"/>
              <a:t>Create a new content record and log its barcode.</a:t>
            </a:r>
          </a:p>
          <a:p>
            <a:pPr marL="342900" indent="-342900">
              <a:buFont typeface="Arial" panose="020B0604020202020204" pitchFamily="34" charset="0"/>
              <a:buChar char="•"/>
            </a:pPr>
            <a:r>
              <a:rPr lang="en-US" dirty="0"/>
              <a:t>Edit the newly created content’s volume. Log its barcode and volume.</a:t>
            </a:r>
          </a:p>
          <a:p>
            <a:pPr marL="342900" indent="-342900">
              <a:buFont typeface="Arial" panose="020B0604020202020204" pitchFamily="34" charset="0"/>
              <a:buChar char="•"/>
            </a:pPr>
            <a:r>
              <a:rPr lang="en-US" dirty="0"/>
              <a:t>Remove previously created content and log its barcode.</a:t>
            </a:r>
          </a:p>
          <a:p>
            <a:pPr marL="342900" indent="-342900">
              <a:buFont typeface="Arial" panose="020B0604020202020204" pitchFamily="34" charset="0"/>
              <a:buChar char="•"/>
            </a:pPr>
            <a:r>
              <a:rPr lang="en-US" dirty="0"/>
              <a:t>For each exercise, verify whether the content and its values exist or not in the UI.</a:t>
            </a:r>
          </a:p>
        </p:txBody>
      </p:sp>
      <p:sp>
        <p:nvSpPr>
          <p:cNvPr id="3" name="Footer Placeholder 2">
            <a:extLst>
              <a:ext uri="{FF2B5EF4-FFF2-40B4-BE49-F238E27FC236}">
                <a16:creationId xmlns:a16="http://schemas.microsoft.com/office/drawing/2014/main" id="{758F171B-9AF7-4EE3-969C-B98CB2FB0E36}"/>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89E81246-A2A9-4530-A811-295B384A053F}"/>
              </a:ext>
            </a:extLst>
          </p:cNvPr>
          <p:cNvSpPr>
            <a:spLocks noGrp="1"/>
          </p:cNvSpPr>
          <p:nvPr>
            <p:ph type="sldNum" sz="quarter" idx="12"/>
          </p:nvPr>
        </p:nvSpPr>
        <p:spPr/>
        <p:txBody>
          <a:bodyPr/>
          <a:lstStyle/>
          <a:p>
            <a:fld id="{CBD803B2-A378-42BD-B5EC-F7748F169FE0}" type="slidenum">
              <a:rPr lang="en-US" smtClean="0"/>
              <a:pPr/>
              <a:t>33</a:t>
            </a:fld>
            <a:endParaRPr lang="en-US" dirty="0"/>
          </a:p>
        </p:txBody>
      </p:sp>
      <p:sp>
        <p:nvSpPr>
          <p:cNvPr id="6" name="Title 5">
            <a:extLst>
              <a:ext uri="{FF2B5EF4-FFF2-40B4-BE49-F238E27FC236}">
                <a16:creationId xmlns:a16="http://schemas.microsoft.com/office/drawing/2014/main" id="{6175DA97-85C0-49AF-9C4B-3533FAF29D69}"/>
              </a:ext>
            </a:extLst>
          </p:cNvPr>
          <p:cNvSpPr>
            <a:spLocks noGrp="1"/>
          </p:cNvSpPr>
          <p:nvPr>
            <p:ph type="title"/>
          </p:nvPr>
        </p:nvSpPr>
        <p:spPr/>
        <p:txBody>
          <a:bodyPr/>
          <a:lstStyle/>
          <a:p>
            <a:r>
              <a:rPr lang="en-US" dirty="0"/>
              <a:t>5. Updating/Adding Records</a:t>
            </a:r>
          </a:p>
        </p:txBody>
      </p:sp>
      <p:sp>
        <p:nvSpPr>
          <p:cNvPr id="7" name="Textfeld 24">
            <a:extLst>
              <a:ext uri="{FF2B5EF4-FFF2-40B4-BE49-F238E27FC236}">
                <a16:creationId xmlns:a16="http://schemas.microsoft.com/office/drawing/2014/main" id="{AA5B99DC-DC16-4E9B-A9B4-3B92506C4C98}"/>
              </a:ext>
            </a:extLst>
          </p:cNvPr>
          <p:cNvSpPr txBox="1"/>
          <p:nvPr/>
        </p:nvSpPr>
        <p:spPr>
          <a:xfrm>
            <a:off x="502920" y="1809037"/>
            <a:ext cx="2959607" cy="246221"/>
          </a:xfrm>
          <a:prstGeom prst="rect">
            <a:avLst/>
          </a:prstGeom>
          <a:solidFill>
            <a:srgbClr val="D1EEFF"/>
          </a:solidFill>
        </p:spPr>
        <p:txBody>
          <a:bodyPr wrap="square" rtlCol="0">
            <a:spAutoFit/>
          </a:bodyPr>
          <a:lstStyle/>
          <a:p>
            <a:r>
              <a:rPr lang="en-US" sz="1000" b="1" dirty="0"/>
              <a:t>Tip: </a:t>
            </a:r>
            <a:r>
              <a:rPr lang="en-US" sz="1000" dirty="0"/>
              <a:t>A Dao must be @Autowired.</a:t>
            </a:r>
            <a:endParaRPr lang="en-US" sz="1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106682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372B2F-D3A0-4511-99AA-D8732FE0F9FA}"/>
              </a:ext>
            </a:extLst>
          </p:cNvPr>
          <p:cNvSpPr>
            <a:spLocks noGrp="1"/>
          </p:cNvSpPr>
          <p:nvPr>
            <p:ph idx="1"/>
          </p:nvPr>
        </p:nvSpPr>
        <p:spPr/>
        <p:txBody>
          <a:bodyPr/>
          <a:lstStyle/>
          <a:p>
            <a:pPr marL="342900" indent="-342900">
              <a:buFont typeface="Arial" panose="020B0604020202020204" pitchFamily="34" charset="0"/>
              <a:buChar char="•"/>
            </a:pPr>
            <a:r>
              <a:rPr lang="en-US" dirty="0"/>
              <a:t>PublicApi.java lists all available services that conduct internal SLIMS business logic.</a:t>
            </a:r>
          </a:p>
          <a:p>
            <a:pPr marL="342900" indent="-342900">
              <a:buFont typeface="Arial" panose="020B0604020202020204" pitchFamily="34" charset="0"/>
              <a:buChar char="•"/>
            </a:pPr>
            <a:r>
              <a:rPr lang="en-US" dirty="0">
                <a:solidFill>
                  <a:schemeClr val="accent4"/>
                </a:solidFill>
              </a:rPr>
              <a:t>Services need to be @Autowired.</a:t>
            </a:r>
          </a:p>
          <a:p>
            <a:r>
              <a:rPr lang="en-US" dirty="0"/>
              <a:t>	</a:t>
            </a:r>
            <a:r>
              <a:rPr lang="en-US" sz="1800" dirty="0">
                <a:latin typeface="Courier New" panose="02070309020205020404" pitchFamily="49" charset="0"/>
                <a:cs typeface="Courier New" panose="02070309020205020404" pitchFamily="49" charset="0"/>
              </a:rPr>
              <a:t>@Autowired</a:t>
            </a:r>
          </a:p>
          <a:p>
            <a:r>
              <a:rPr lang="en-US" sz="1800" dirty="0">
                <a:latin typeface="Courier New" panose="02070309020205020404" pitchFamily="49" charset="0"/>
                <a:cs typeface="Courier New" panose="02070309020205020404" pitchFamily="49" charset="0"/>
              </a:rPr>
              <a:t>	private </a:t>
            </a:r>
            <a:r>
              <a:rPr lang="en-US" sz="1800" dirty="0" err="1">
                <a:latin typeface="Courier New" panose="02070309020205020404" pitchFamily="49" charset="0"/>
                <a:cs typeface="Courier New" panose="02070309020205020404" pitchFamily="49" charset="0"/>
              </a:rPr>
              <a:t>AttachmentStore</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attachmentStore</a:t>
            </a:r>
            <a:r>
              <a:rPr lang="en-US" sz="1800" dirty="0">
                <a:latin typeface="Courier New" panose="02070309020205020404" pitchFamily="49" charset="0"/>
                <a:cs typeface="Courier New" panose="02070309020205020404" pitchFamily="49" charset="0"/>
              </a:rPr>
              <a:t>;</a:t>
            </a:r>
          </a:p>
          <a:p>
            <a:endParaRPr lang="en-US" dirty="0"/>
          </a:p>
          <a:p>
            <a:r>
              <a:rPr lang="en-US" dirty="0">
                <a:solidFill>
                  <a:schemeClr val="accent1"/>
                </a:solidFill>
              </a:rPr>
              <a:t>Exercise:</a:t>
            </a:r>
          </a:p>
          <a:p>
            <a:pPr marL="342900" indent="-342900">
              <a:buFont typeface="Arial" panose="020B0604020202020204" pitchFamily="34" charset="0"/>
              <a:buChar char="•"/>
            </a:pPr>
            <a:r>
              <a:rPr lang="en-US" dirty="0"/>
              <a:t>Create a new attachment record and link it to an existing content.</a:t>
            </a:r>
          </a:p>
          <a:p>
            <a:pPr marL="342900" indent="-342900">
              <a:buFont typeface="Arial" panose="020B0604020202020204" pitchFamily="34" charset="0"/>
              <a:buChar char="•"/>
            </a:pPr>
            <a:r>
              <a:rPr lang="en-US" dirty="0"/>
              <a:t>Verify in the UI whether the attachment and its values exist or not.</a:t>
            </a:r>
          </a:p>
        </p:txBody>
      </p:sp>
      <p:sp>
        <p:nvSpPr>
          <p:cNvPr id="3" name="Footer Placeholder 2">
            <a:extLst>
              <a:ext uri="{FF2B5EF4-FFF2-40B4-BE49-F238E27FC236}">
                <a16:creationId xmlns:a16="http://schemas.microsoft.com/office/drawing/2014/main" id="{EFAC633B-D871-4989-89AF-6BDA20682304}"/>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D3B111DA-38E2-4D0E-89F7-4D62542DBCC5}"/>
              </a:ext>
            </a:extLst>
          </p:cNvPr>
          <p:cNvSpPr>
            <a:spLocks noGrp="1"/>
          </p:cNvSpPr>
          <p:nvPr>
            <p:ph type="sldNum" sz="quarter" idx="12"/>
          </p:nvPr>
        </p:nvSpPr>
        <p:spPr/>
        <p:txBody>
          <a:bodyPr/>
          <a:lstStyle/>
          <a:p>
            <a:fld id="{CBD803B2-A378-42BD-B5EC-F7748F169FE0}" type="slidenum">
              <a:rPr lang="en-US" smtClean="0"/>
              <a:pPr/>
              <a:t>34</a:t>
            </a:fld>
            <a:endParaRPr lang="en-US" dirty="0"/>
          </a:p>
        </p:txBody>
      </p:sp>
      <p:sp>
        <p:nvSpPr>
          <p:cNvPr id="6" name="Title 5">
            <a:extLst>
              <a:ext uri="{FF2B5EF4-FFF2-40B4-BE49-F238E27FC236}">
                <a16:creationId xmlns:a16="http://schemas.microsoft.com/office/drawing/2014/main" id="{4B587031-DF84-4F27-93EE-549FB15DF9A4}"/>
              </a:ext>
            </a:extLst>
          </p:cNvPr>
          <p:cNvSpPr>
            <a:spLocks noGrp="1"/>
          </p:cNvSpPr>
          <p:nvPr>
            <p:ph type="title"/>
          </p:nvPr>
        </p:nvSpPr>
        <p:spPr/>
        <p:txBody>
          <a:bodyPr/>
          <a:lstStyle/>
          <a:p>
            <a:r>
              <a:rPr lang="en-US" dirty="0"/>
              <a:t>6. Use SLIMS Services</a:t>
            </a:r>
          </a:p>
        </p:txBody>
      </p:sp>
      <p:sp>
        <p:nvSpPr>
          <p:cNvPr id="7" name="Textfeld 24">
            <a:extLst>
              <a:ext uri="{FF2B5EF4-FFF2-40B4-BE49-F238E27FC236}">
                <a16:creationId xmlns:a16="http://schemas.microsoft.com/office/drawing/2014/main" id="{74F3BCFC-4A2E-4CD1-85CD-A0DA6E9EA9A0}"/>
              </a:ext>
            </a:extLst>
          </p:cNvPr>
          <p:cNvSpPr txBox="1"/>
          <p:nvPr/>
        </p:nvSpPr>
        <p:spPr>
          <a:xfrm>
            <a:off x="4226495" y="5537743"/>
            <a:ext cx="4368368" cy="400110"/>
          </a:xfrm>
          <a:prstGeom prst="rect">
            <a:avLst/>
          </a:prstGeom>
          <a:solidFill>
            <a:srgbClr val="D1EEFF"/>
          </a:solidFill>
        </p:spPr>
        <p:txBody>
          <a:bodyPr wrap="square" rtlCol="0">
            <a:spAutoFit/>
          </a:bodyPr>
          <a:lstStyle/>
          <a:p>
            <a:r>
              <a:rPr lang="en-US" sz="1000" b="1" dirty="0"/>
              <a:t>Hint: </a:t>
            </a:r>
            <a:r>
              <a:rPr lang="en-US" sz="1000" dirty="0"/>
              <a:t>Use a basic text file.</a:t>
            </a:r>
          </a:p>
          <a:p>
            <a:r>
              <a:rPr lang="en-US" sz="1000" dirty="0">
                <a:latin typeface="Courier New" panose="02070309020205020404" pitchFamily="49" charset="0"/>
                <a:cs typeface="Courier New" panose="02070309020205020404" pitchFamily="49" charset="0"/>
              </a:rPr>
              <a:t>new </a:t>
            </a:r>
            <a:r>
              <a:rPr lang="en-US" sz="1000" dirty="0" err="1">
                <a:latin typeface="Courier New" panose="02070309020205020404" pitchFamily="49" charset="0"/>
                <a:cs typeface="Courier New" panose="02070309020205020404" pitchFamily="49" charset="0"/>
              </a:rPr>
              <a:t>ByteArrayInputStream</a:t>
            </a:r>
            <a:r>
              <a:rPr lang="en-US" sz="1000" dirty="0">
                <a:latin typeface="Courier New" panose="02070309020205020404" pitchFamily="49" charset="0"/>
                <a:cs typeface="Courier New" panose="02070309020205020404" pitchFamily="49" charset="0"/>
              </a:rPr>
              <a:t>(“this is a file”.</a:t>
            </a:r>
            <a:r>
              <a:rPr lang="en-US" sz="1000" dirty="0" err="1">
                <a:latin typeface="Courier New" panose="02070309020205020404" pitchFamily="49" charset="0"/>
                <a:cs typeface="Courier New" panose="02070309020205020404" pitchFamily="49" charset="0"/>
              </a:rPr>
              <a:t>getBytes</a:t>
            </a:r>
            <a:r>
              <a:rPr lang="en-US" sz="1000" dirty="0">
                <a:latin typeface="Courier New" panose="02070309020205020404" pitchFamily="49" charset="0"/>
                <a:cs typeface="Courier New" panose="02070309020205020404" pitchFamily="49" charset="0"/>
              </a:rPr>
              <a:t>());</a:t>
            </a:r>
          </a:p>
        </p:txBody>
      </p:sp>
      <p:sp>
        <p:nvSpPr>
          <p:cNvPr id="8" name="Textfeld 24">
            <a:extLst>
              <a:ext uri="{FF2B5EF4-FFF2-40B4-BE49-F238E27FC236}">
                <a16:creationId xmlns:a16="http://schemas.microsoft.com/office/drawing/2014/main" id="{993B8816-EB99-4632-BCCE-5FA4F556D3CE}"/>
              </a:ext>
            </a:extLst>
          </p:cNvPr>
          <p:cNvSpPr txBox="1"/>
          <p:nvPr/>
        </p:nvSpPr>
        <p:spPr>
          <a:xfrm>
            <a:off x="7235509" y="1922673"/>
            <a:ext cx="4368368" cy="553998"/>
          </a:xfrm>
          <a:prstGeom prst="rect">
            <a:avLst/>
          </a:prstGeom>
          <a:solidFill>
            <a:srgbClr val="D1EEFF"/>
          </a:solidFill>
        </p:spPr>
        <p:txBody>
          <a:bodyPr wrap="square" rtlCol="0">
            <a:spAutoFit/>
          </a:bodyPr>
          <a:lstStyle/>
          <a:p>
            <a:r>
              <a:rPr lang="en-US" sz="1000" b="1" dirty="0"/>
              <a:t>Hint: </a:t>
            </a:r>
            <a:r>
              <a:rPr lang="en-US" sz="1000" dirty="0"/>
              <a:t>Shortcut for opening types/files.</a:t>
            </a:r>
            <a:endParaRPr lang="en-US" sz="1000" b="1" dirty="0"/>
          </a:p>
          <a:p>
            <a:r>
              <a:rPr lang="en-US" sz="1000" b="1" dirty="0"/>
              <a:t>Eclipse: </a:t>
            </a:r>
            <a:r>
              <a:rPr lang="en-US" sz="1000" dirty="0"/>
              <a:t>Ctrl or command + Shift + T</a:t>
            </a:r>
          </a:p>
          <a:p>
            <a:r>
              <a:rPr lang="en-US" sz="1000" b="1" dirty="0" err="1"/>
              <a:t>Intellij</a:t>
            </a:r>
            <a:r>
              <a:rPr lang="en-US" sz="1000" b="1" dirty="0"/>
              <a:t>: </a:t>
            </a:r>
            <a:r>
              <a:rPr lang="en-US" sz="1000" dirty="0"/>
              <a:t>Ctrl or command + Shift + O</a:t>
            </a:r>
          </a:p>
        </p:txBody>
      </p:sp>
    </p:spTree>
    <p:extLst>
      <p:ext uri="{BB962C8B-B14F-4D97-AF65-F5344CB8AC3E}">
        <p14:creationId xmlns:p14="http://schemas.microsoft.com/office/powerpoint/2010/main" val="6314675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70D0F9-22F5-4269-9F99-8E1EDC87B227}"/>
              </a:ext>
            </a:extLst>
          </p:cNvPr>
          <p:cNvSpPr>
            <a:spLocks noGrp="1"/>
          </p:cNvSpPr>
          <p:nvPr>
            <p:ph idx="1"/>
          </p:nvPr>
        </p:nvSpPr>
        <p:spPr/>
        <p:txBody>
          <a:bodyPr/>
          <a:lstStyle/>
          <a:p>
            <a:r>
              <a:rPr lang="en-US" dirty="0"/>
              <a:t>Input parameters can be used from the </a:t>
            </a:r>
            <a:r>
              <a:rPr lang="en-US" dirty="0" err="1">
                <a:solidFill>
                  <a:srgbClr val="00BAB3"/>
                </a:solidFill>
              </a:rPr>
              <a:t>InputParameterValue</a:t>
            </a:r>
            <a:r>
              <a:rPr lang="en-US" dirty="0"/>
              <a:t> map.</a:t>
            </a:r>
          </a:p>
          <a:p>
            <a:r>
              <a:rPr lang="en-US" dirty="0"/>
              <a:t>Add following parameter to the</a:t>
            </a:r>
            <a:r>
              <a:rPr lang="en-US" dirty="0">
                <a:solidFill>
                  <a:srgbClr val="00BAB3"/>
                </a:solidFill>
              </a:rPr>
              <a:t> </a:t>
            </a:r>
            <a:r>
              <a:rPr lang="en-US" dirty="0" err="1">
                <a:solidFill>
                  <a:srgbClr val="00BAB3"/>
                </a:solidFill>
              </a:rPr>
              <a:t>SayHi</a:t>
            </a:r>
            <a:r>
              <a:rPr lang="en-US" dirty="0">
                <a:solidFill>
                  <a:srgbClr val="00BAB3"/>
                </a:solidFill>
              </a:rPr>
              <a:t> </a:t>
            </a:r>
            <a:r>
              <a:rPr lang="en-US" dirty="0"/>
              <a:t>method:</a:t>
            </a:r>
          </a:p>
          <a:p>
            <a:r>
              <a:rPr lang="en-US" dirty="0"/>
              <a:t>	</a:t>
            </a:r>
            <a:r>
              <a:rPr lang="en-US" dirty="0">
                <a:latin typeface="Courier New" panose="02070309020205020404" pitchFamily="49" charset="0"/>
                <a:cs typeface="Courier New" panose="02070309020205020404" pitchFamily="49" charset="0"/>
              </a:rPr>
              <a:t>@Header(SlimsGateKeeperConstants.SLIMS_WORKFLOW_INIT_PARAMETER) </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SlimsFlowInitParam</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init</a:t>
            </a:r>
            <a:r>
              <a:rPr lang="en-US" dirty="0">
                <a:latin typeface="Courier New" panose="02070309020205020404" pitchFamily="49" charset="0"/>
                <a:cs typeface="Courier New" panose="02070309020205020404" pitchFamily="49" charset="0"/>
              </a:rPr>
              <a:t> Param</a:t>
            </a:r>
          </a:p>
          <a:p>
            <a:endParaRPr lang="en-US" dirty="0"/>
          </a:p>
          <a:p>
            <a:r>
              <a:rPr lang="en-US" dirty="0">
                <a:solidFill>
                  <a:schemeClr val="accent1"/>
                </a:solidFill>
              </a:rPr>
              <a:t>Exercise:</a:t>
            </a:r>
          </a:p>
          <a:p>
            <a:pPr marL="342900" indent="-342900">
              <a:buFont typeface="Arial" panose="020B0604020202020204" pitchFamily="34" charset="0"/>
              <a:buChar char="•"/>
            </a:pPr>
            <a:r>
              <a:rPr lang="en-US" dirty="0"/>
              <a:t>Edit slimsgate.xml to add an input parameter and log it in the UI.</a:t>
            </a:r>
          </a:p>
          <a:p>
            <a:pPr marL="342900" indent="-342900">
              <a:buFont typeface="Arial" panose="020B0604020202020204" pitchFamily="34" charset="0"/>
              <a:buChar char="•"/>
            </a:pPr>
            <a:r>
              <a:rPr lang="en-US" dirty="0"/>
              <a:t>Edit slimsgate.xml to add a second input parameter (of a different type) and log it in the UI + use it to edit a content.</a:t>
            </a:r>
          </a:p>
        </p:txBody>
      </p:sp>
      <p:sp>
        <p:nvSpPr>
          <p:cNvPr id="3" name="Footer Placeholder 2">
            <a:extLst>
              <a:ext uri="{FF2B5EF4-FFF2-40B4-BE49-F238E27FC236}">
                <a16:creationId xmlns:a16="http://schemas.microsoft.com/office/drawing/2014/main" id="{872D5AD1-B49B-48ED-9AB6-6BC9340E2071}"/>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EDC4C10D-69B9-42F9-AD54-139FFFF96E24}"/>
              </a:ext>
            </a:extLst>
          </p:cNvPr>
          <p:cNvSpPr>
            <a:spLocks noGrp="1"/>
          </p:cNvSpPr>
          <p:nvPr>
            <p:ph type="sldNum" sz="quarter" idx="12"/>
          </p:nvPr>
        </p:nvSpPr>
        <p:spPr/>
        <p:txBody>
          <a:bodyPr/>
          <a:lstStyle/>
          <a:p>
            <a:fld id="{CBD803B2-A378-42BD-B5EC-F7748F169FE0}" type="slidenum">
              <a:rPr lang="en-US" smtClean="0"/>
              <a:pPr/>
              <a:t>35</a:t>
            </a:fld>
            <a:endParaRPr lang="en-US" dirty="0"/>
          </a:p>
        </p:txBody>
      </p:sp>
      <p:sp>
        <p:nvSpPr>
          <p:cNvPr id="6" name="Title 5">
            <a:extLst>
              <a:ext uri="{FF2B5EF4-FFF2-40B4-BE49-F238E27FC236}">
                <a16:creationId xmlns:a16="http://schemas.microsoft.com/office/drawing/2014/main" id="{F0CF85BE-ECA7-4D31-B200-D51A7FBBD94B}"/>
              </a:ext>
            </a:extLst>
          </p:cNvPr>
          <p:cNvSpPr>
            <a:spLocks noGrp="1"/>
          </p:cNvSpPr>
          <p:nvPr>
            <p:ph type="title"/>
          </p:nvPr>
        </p:nvSpPr>
        <p:spPr/>
        <p:txBody>
          <a:bodyPr/>
          <a:lstStyle/>
          <a:p>
            <a:r>
              <a:rPr lang="en-US" dirty="0"/>
              <a:t>7. Use Input Parameter</a:t>
            </a:r>
          </a:p>
        </p:txBody>
      </p:sp>
    </p:spTree>
    <p:extLst>
      <p:ext uri="{BB962C8B-B14F-4D97-AF65-F5344CB8AC3E}">
        <p14:creationId xmlns:p14="http://schemas.microsoft.com/office/powerpoint/2010/main" val="3182864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B943A7-0AEE-4BB2-BADE-1C60C8F467C0}"/>
              </a:ext>
            </a:extLst>
          </p:cNvPr>
          <p:cNvSpPr>
            <a:spLocks noGrp="1"/>
          </p:cNvSpPr>
          <p:nvPr>
            <p:ph idx="1"/>
          </p:nvPr>
        </p:nvSpPr>
        <p:spPr/>
        <p:txBody>
          <a:bodyPr/>
          <a:lstStyle/>
          <a:p>
            <a:r>
              <a:rPr lang="en-US" dirty="0"/>
              <a:t>Custom configuration can be used by using:</a:t>
            </a:r>
          </a:p>
          <a:p>
            <a:r>
              <a:rPr lang="en-US" dirty="0"/>
              <a:t>	</a:t>
            </a:r>
            <a:r>
              <a:rPr lang="en-US" dirty="0">
                <a:latin typeface="Courier New" panose="02070309020205020404" pitchFamily="49" charset="0"/>
                <a:cs typeface="Courier New" panose="02070309020205020404" pitchFamily="49" charset="0"/>
              </a:rPr>
              <a:t>@Autowired private </a:t>
            </a:r>
            <a:r>
              <a:rPr lang="en-US" dirty="0" err="1">
                <a:latin typeface="Courier New" panose="02070309020205020404" pitchFamily="49" charset="0"/>
                <a:cs typeface="Courier New" panose="02070309020205020404" pitchFamily="49" charset="0"/>
              </a:rPr>
              <a:t>CustomConfiguration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customConfiguration</a:t>
            </a:r>
            <a:r>
              <a:rPr lang="en-US" dirty="0">
                <a:latin typeface="Courier New" panose="02070309020205020404" pitchFamily="49" charset="0"/>
                <a:cs typeface="Courier New" panose="02070309020205020404" pitchFamily="49" charset="0"/>
              </a:rPr>
              <a:t>;</a:t>
            </a:r>
          </a:p>
          <a:p>
            <a:r>
              <a:rPr lang="en-US" dirty="0"/>
              <a:t>And then calling the call to the right parameter:</a:t>
            </a:r>
          </a:p>
          <a:p>
            <a:r>
              <a:rPr lang="en-US" dirty="0"/>
              <a:t>	</a:t>
            </a:r>
            <a:r>
              <a:rPr lang="en-US" dirty="0" err="1">
                <a:latin typeface="Courier New" panose="02070309020205020404" pitchFamily="49" charset="0"/>
                <a:cs typeface="Courier New" panose="02070309020205020404" pitchFamily="49" charset="0"/>
              </a:rPr>
              <a:t>customConfiguration.getParameterOne</a:t>
            </a:r>
            <a:r>
              <a:rPr lang="en-US" dirty="0">
                <a:latin typeface="Courier New" panose="02070309020205020404" pitchFamily="49" charset="0"/>
                <a:cs typeface="Courier New" panose="02070309020205020404" pitchFamily="49" charset="0"/>
              </a:rPr>
              <a:t>();</a:t>
            </a:r>
          </a:p>
          <a:p>
            <a:endParaRPr lang="en-US" dirty="0"/>
          </a:p>
          <a:p>
            <a:r>
              <a:rPr lang="en-US" dirty="0">
                <a:solidFill>
                  <a:schemeClr val="accent1"/>
                </a:solidFill>
              </a:rPr>
              <a:t>Exercise:</a:t>
            </a:r>
          </a:p>
          <a:p>
            <a:pPr marL="342900" indent="-342900">
              <a:buFont typeface="Arial" panose="020B0604020202020204" pitchFamily="34" charset="0"/>
              <a:buChar char="•"/>
            </a:pPr>
            <a:r>
              <a:rPr lang="en-US" dirty="0"/>
              <a:t>Edit CustomConfiguration.java to add a configuration parameter and log it in the UI.</a:t>
            </a:r>
          </a:p>
          <a:p>
            <a:pPr marL="342900" indent="-342900">
              <a:buFont typeface="Arial" panose="020B0604020202020204" pitchFamily="34" charset="0"/>
              <a:buChar char="•"/>
            </a:pPr>
            <a:r>
              <a:rPr lang="en-US" dirty="0"/>
              <a:t>Edit CustomConfiguration.java to add a second configuration parameter (of a different type) and log it in the UI + use it to edit a content.</a:t>
            </a:r>
          </a:p>
        </p:txBody>
      </p:sp>
      <p:sp>
        <p:nvSpPr>
          <p:cNvPr id="3" name="Footer Placeholder 2">
            <a:extLst>
              <a:ext uri="{FF2B5EF4-FFF2-40B4-BE49-F238E27FC236}">
                <a16:creationId xmlns:a16="http://schemas.microsoft.com/office/drawing/2014/main" id="{5D072095-3392-457C-B452-F082078FBEF3}"/>
              </a:ext>
            </a:extLst>
          </p:cNvPr>
          <p:cNvSpPr>
            <a:spLocks noGrp="1"/>
          </p:cNvSpPr>
          <p:nvPr>
            <p:ph type="ftr" sz="quarter" idx="11"/>
          </p:nvPr>
        </p:nvSpPr>
        <p:spPr/>
        <p:txBody>
          <a:bodyPr/>
          <a:lstStyle/>
          <a:p>
            <a:r>
              <a:rPr lang="en-US"/>
              <a:t>SLIMS Java API Training          R4526A-CU660         For Research Use Only. Not for use in diagnostic procedures.</a:t>
            </a:r>
            <a:endParaRPr lang="en-US" dirty="0"/>
          </a:p>
        </p:txBody>
      </p:sp>
      <p:sp>
        <p:nvSpPr>
          <p:cNvPr id="4" name="Slide Number Placeholder 3">
            <a:extLst>
              <a:ext uri="{FF2B5EF4-FFF2-40B4-BE49-F238E27FC236}">
                <a16:creationId xmlns:a16="http://schemas.microsoft.com/office/drawing/2014/main" id="{37E216FE-83BE-4F83-BFAF-EA4B230BC825}"/>
              </a:ext>
            </a:extLst>
          </p:cNvPr>
          <p:cNvSpPr>
            <a:spLocks noGrp="1"/>
          </p:cNvSpPr>
          <p:nvPr>
            <p:ph type="sldNum" sz="quarter" idx="12"/>
          </p:nvPr>
        </p:nvSpPr>
        <p:spPr/>
        <p:txBody>
          <a:bodyPr/>
          <a:lstStyle/>
          <a:p>
            <a:fld id="{CBD803B2-A378-42BD-B5EC-F7748F169FE0}" type="slidenum">
              <a:rPr lang="en-US" smtClean="0"/>
              <a:pPr/>
              <a:t>36</a:t>
            </a:fld>
            <a:endParaRPr lang="en-US" dirty="0"/>
          </a:p>
        </p:txBody>
      </p:sp>
      <p:sp>
        <p:nvSpPr>
          <p:cNvPr id="6" name="Title 5">
            <a:extLst>
              <a:ext uri="{FF2B5EF4-FFF2-40B4-BE49-F238E27FC236}">
                <a16:creationId xmlns:a16="http://schemas.microsoft.com/office/drawing/2014/main" id="{2CC2D0FE-E252-4B83-B6B9-12DD34B285DD}"/>
              </a:ext>
            </a:extLst>
          </p:cNvPr>
          <p:cNvSpPr>
            <a:spLocks noGrp="1"/>
          </p:cNvSpPr>
          <p:nvPr>
            <p:ph type="title"/>
          </p:nvPr>
        </p:nvSpPr>
        <p:spPr/>
        <p:txBody>
          <a:bodyPr/>
          <a:lstStyle/>
          <a:p>
            <a:r>
              <a:rPr lang="en-US" dirty="0"/>
              <a:t>8. Use Custom Configuration</a:t>
            </a:r>
          </a:p>
        </p:txBody>
      </p:sp>
    </p:spTree>
    <p:extLst>
      <p:ext uri="{BB962C8B-B14F-4D97-AF65-F5344CB8AC3E}">
        <p14:creationId xmlns:p14="http://schemas.microsoft.com/office/powerpoint/2010/main" val="41776552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9FB04B-BE72-0824-0000-D50FD331A1DD}"/>
              </a:ext>
            </a:extLst>
          </p:cNvPr>
          <p:cNvSpPr>
            <a:spLocks noGrp="1"/>
          </p:cNvSpPr>
          <p:nvPr>
            <p:ph idx="1"/>
          </p:nvPr>
        </p:nvSpPr>
        <p:spPr/>
        <p:txBody>
          <a:bodyPr>
            <a:normAutofit/>
          </a:bodyPr>
          <a:lstStyle/>
          <a:p>
            <a:pPr marL="342900" indent="-342900">
              <a:buFontTx/>
              <a:buChar char="-"/>
            </a:pPr>
            <a:r>
              <a:rPr lang="en-US"/>
              <a:t>Use existing services if available: check the </a:t>
            </a:r>
            <a:r>
              <a:rPr lang="en-US" err="1"/>
              <a:t>publicApi</a:t>
            </a:r>
            <a:endParaRPr lang="en-US"/>
          </a:p>
          <a:p>
            <a:pPr marL="525780" lvl="1" indent="-342900">
              <a:buFontTx/>
              <a:buChar char="-"/>
            </a:pPr>
            <a:r>
              <a:rPr lang="en-US"/>
              <a:t>Can access the list in dev manual</a:t>
            </a:r>
          </a:p>
          <a:p>
            <a:endParaRPr lang="en-US"/>
          </a:p>
          <a:p>
            <a:pPr marL="342900" indent="-342900">
              <a:buFontTx/>
              <a:buChar char="-"/>
            </a:pPr>
            <a:r>
              <a:rPr lang="en-US"/>
              <a:t>Don’t hardcode Strings: either as configuration, or final static variables </a:t>
            </a:r>
          </a:p>
          <a:p>
            <a:pPr marL="525780" lvl="1" indent="-342900">
              <a:buFontTx/>
              <a:buChar char="-"/>
            </a:pPr>
            <a:r>
              <a:rPr lang="en-US"/>
              <a:t>don’t declare non-final variables in @Component classes</a:t>
            </a:r>
          </a:p>
          <a:p>
            <a:endParaRPr lang="en-US"/>
          </a:p>
          <a:p>
            <a:pPr marL="342900" indent="-342900">
              <a:buFontTx/>
              <a:buChar char="-"/>
            </a:pPr>
            <a:r>
              <a:rPr lang="en-US"/>
              <a:t>In case of working with a huge plugin or complex logic, don’t hesitate to reach out to us so that we can guide in the best direction and prevent performance issues </a:t>
            </a:r>
          </a:p>
          <a:p>
            <a:pPr marL="342900" indent="-342900">
              <a:buFontTx/>
              <a:buChar char="-"/>
            </a:pPr>
            <a:endParaRPr lang="en-US"/>
          </a:p>
        </p:txBody>
      </p:sp>
      <p:sp>
        <p:nvSpPr>
          <p:cNvPr id="3" name="Footer Placeholder 2">
            <a:extLst>
              <a:ext uri="{FF2B5EF4-FFF2-40B4-BE49-F238E27FC236}">
                <a16:creationId xmlns:a16="http://schemas.microsoft.com/office/drawing/2014/main" id="{67EADB82-183D-0F79-7E56-D5589A5D0365}"/>
              </a:ext>
            </a:extLst>
          </p:cNvPr>
          <p:cNvSpPr>
            <a:spLocks noGrp="1"/>
          </p:cNvSpPr>
          <p:nvPr>
            <p:ph type="ftr" sz="quarter" idx="11"/>
          </p:nvPr>
        </p:nvSpPr>
        <p:spPr/>
        <p:txBody>
          <a:bodyPr/>
          <a:lstStyle/>
          <a:p>
            <a:r>
              <a:rPr lang="en-US"/>
              <a:t>SLIMS Java API Training          R4526A-CU660         For Research Use Only. Not for use in diagnostic procedures.</a:t>
            </a:r>
          </a:p>
        </p:txBody>
      </p:sp>
      <p:sp>
        <p:nvSpPr>
          <p:cNvPr id="4" name="Slide Number Placeholder 3">
            <a:extLst>
              <a:ext uri="{FF2B5EF4-FFF2-40B4-BE49-F238E27FC236}">
                <a16:creationId xmlns:a16="http://schemas.microsoft.com/office/drawing/2014/main" id="{6B252A7A-8D51-FE8E-F0F8-730E8B0F43FA}"/>
              </a:ext>
            </a:extLst>
          </p:cNvPr>
          <p:cNvSpPr>
            <a:spLocks noGrp="1"/>
          </p:cNvSpPr>
          <p:nvPr>
            <p:ph type="sldNum" sz="quarter" idx="12"/>
          </p:nvPr>
        </p:nvSpPr>
        <p:spPr/>
        <p:txBody>
          <a:bodyPr/>
          <a:lstStyle/>
          <a:p>
            <a:fld id="{CBD803B2-A378-42BD-B5EC-F7748F169FE0}" type="slidenum">
              <a:rPr lang="en-US" smtClean="0"/>
              <a:pPr/>
              <a:t>37</a:t>
            </a:fld>
            <a:endParaRPr lang="en-US"/>
          </a:p>
        </p:txBody>
      </p:sp>
      <p:sp>
        <p:nvSpPr>
          <p:cNvPr id="5" name="Text Placeholder 4">
            <a:extLst>
              <a:ext uri="{FF2B5EF4-FFF2-40B4-BE49-F238E27FC236}">
                <a16:creationId xmlns:a16="http://schemas.microsoft.com/office/drawing/2014/main" id="{8F2DC18C-6529-42E9-3D78-99F48FDE482E}"/>
              </a:ext>
            </a:extLst>
          </p:cNvPr>
          <p:cNvSpPr>
            <a:spLocks noGrp="1"/>
          </p:cNvSpPr>
          <p:nvPr>
            <p:ph type="body" sz="quarter" idx="13"/>
          </p:nvPr>
        </p:nvSpPr>
        <p:spPr/>
        <p:txBody>
          <a:bodyPr>
            <a:normAutofit lnSpcReduction="10000"/>
          </a:bodyPr>
          <a:lstStyle/>
          <a:p>
            <a:r>
              <a:rPr lang="en-US"/>
              <a:t>Overall</a:t>
            </a:r>
          </a:p>
        </p:txBody>
      </p:sp>
      <p:sp>
        <p:nvSpPr>
          <p:cNvPr id="6" name="Title 5">
            <a:extLst>
              <a:ext uri="{FF2B5EF4-FFF2-40B4-BE49-F238E27FC236}">
                <a16:creationId xmlns:a16="http://schemas.microsoft.com/office/drawing/2014/main" id="{22F36EC9-5011-23AC-0553-53F0AB97775B}"/>
              </a:ext>
            </a:extLst>
          </p:cNvPr>
          <p:cNvSpPr>
            <a:spLocks noGrp="1"/>
          </p:cNvSpPr>
          <p:nvPr>
            <p:ph type="title"/>
          </p:nvPr>
        </p:nvSpPr>
        <p:spPr/>
        <p:txBody>
          <a:bodyPr/>
          <a:lstStyle/>
          <a:p>
            <a:r>
              <a:rPr lang="en-US"/>
              <a:t>Best practices</a:t>
            </a:r>
          </a:p>
        </p:txBody>
      </p:sp>
    </p:spTree>
    <p:extLst>
      <p:ext uri="{BB962C8B-B14F-4D97-AF65-F5344CB8AC3E}">
        <p14:creationId xmlns:p14="http://schemas.microsoft.com/office/powerpoint/2010/main" val="144234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95CC0-E9C8-F5D6-8D7D-FAC9BD002C3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BB791A-328D-DA4D-1EA8-8F79AC275689}"/>
              </a:ext>
            </a:extLst>
          </p:cNvPr>
          <p:cNvSpPr>
            <a:spLocks noGrp="1"/>
          </p:cNvSpPr>
          <p:nvPr>
            <p:ph idx="1"/>
          </p:nvPr>
        </p:nvSpPr>
        <p:spPr/>
        <p:txBody>
          <a:bodyPr>
            <a:normAutofit lnSpcReduction="10000"/>
          </a:bodyPr>
          <a:lstStyle/>
          <a:p>
            <a:pPr marL="342900" indent="-342900">
              <a:buFontTx/>
              <a:buChar char="-"/>
            </a:pPr>
            <a:r>
              <a:rPr lang="en-US"/>
              <a:t>Don’t fetch in loops</a:t>
            </a:r>
          </a:p>
          <a:p>
            <a:pPr marL="342900" indent="-342900">
              <a:buFontTx/>
              <a:buChar char="-"/>
            </a:pPr>
            <a:r>
              <a:rPr lang="en-US"/>
              <a:t>Don’t fetch custom fields if not needed -&gt; Queries and not </a:t>
            </a:r>
            <a:r>
              <a:rPr lang="en-US" err="1"/>
              <a:t>RecordQueries</a:t>
            </a:r>
            <a:endParaRPr lang="en-US"/>
          </a:p>
          <a:p>
            <a:pPr marL="342900" indent="-342900">
              <a:buFontTx/>
              <a:buChar char="-"/>
            </a:pPr>
            <a:r>
              <a:rPr lang="en-US"/>
              <a:t>Define which fields are needed to be fetch to not fetch them all </a:t>
            </a:r>
          </a:p>
          <a:p>
            <a:pPr lvl="1" indent="0">
              <a:buNone/>
            </a:pPr>
            <a:r>
              <a:rPr lang="en-US" sz="1600">
                <a:latin typeface="Consolas" panose="020B0609020204030204" pitchFamily="49" charset="0"/>
              </a:rPr>
              <a:t>	</a:t>
            </a:r>
            <a:r>
              <a:rPr lang="en-US" sz="1600" err="1">
                <a:latin typeface="Consolas" panose="020B0609020204030204" pitchFamily="49" charset="0"/>
              </a:rPr>
              <a:t>FetchRequest</a:t>
            </a:r>
            <a:r>
              <a:rPr lang="en-US" sz="1600">
                <a:latin typeface="Consolas" panose="020B0609020204030204" pitchFamily="49" charset="0"/>
              </a:rPr>
              <a:t> </a:t>
            </a:r>
            <a:r>
              <a:rPr lang="en-US" sz="1600" err="1">
                <a:latin typeface="Consolas" panose="020B0609020204030204" pitchFamily="49" charset="0"/>
              </a:rPr>
              <a:t>myFetchRequest</a:t>
            </a:r>
            <a:r>
              <a:rPr lang="en-US" sz="1600">
                <a:latin typeface="Consolas" panose="020B0609020204030204" pitchFamily="49" charset="0"/>
              </a:rPr>
              <a:t> = new </a:t>
            </a:r>
            <a:r>
              <a:rPr lang="en-US" sz="1600" err="1">
                <a:latin typeface="Consolas" panose="020B0609020204030204" pitchFamily="49" charset="0"/>
              </a:rPr>
              <a:t>FetchRequestImpl</a:t>
            </a:r>
            <a:r>
              <a:rPr lang="en-US" sz="1600">
                <a:latin typeface="Consolas" panose="020B0609020204030204" pitchFamily="49" charset="0"/>
              </a:rPr>
              <a:t>()</a:t>
            </a:r>
          </a:p>
          <a:p>
            <a:pPr lvl="2" indent="0">
              <a:buNone/>
            </a:pPr>
            <a:r>
              <a:rPr lang="en-US" sz="1600">
                <a:latin typeface="Consolas" panose="020B0609020204030204" pitchFamily="49" charset="0"/>
              </a:rPr>
              <a:t>		.</a:t>
            </a:r>
            <a:r>
              <a:rPr lang="en-US" sz="1600" err="1">
                <a:latin typeface="Consolas" panose="020B0609020204030204" pitchFamily="49" charset="0"/>
              </a:rPr>
              <a:t>setCriterion</a:t>
            </a:r>
            <a:r>
              <a:rPr lang="en-US" sz="1600">
                <a:latin typeface="Consolas" panose="020B0609020204030204" pitchFamily="49" charset="0"/>
              </a:rPr>
              <a:t>(</a:t>
            </a:r>
            <a:r>
              <a:rPr lang="en-US" sz="1600" err="1">
                <a:latin typeface="Consolas" panose="020B0609020204030204" pitchFamily="49" charset="0"/>
              </a:rPr>
              <a:t>slimsRestriction</a:t>
            </a:r>
            <a:r>
              <a:rPr lang="en-US" sz="1600">
                <a:latin typeface="Consolas" panose="020B0609020204030204" pitchFamily="49" charset="0"/>
              </a:rPr>
              <a:t>) </a:t>
            </a:r>
            <a:r>
              <a:rPr lang="en-US" sz="1600">
                <a:solidFill>
                  <a:srgbClr val="C3C5C7"/>
                </a:solidFill>
                <a:latin typeface="Consolas" panose="020B0609020204030204" pitchFamily="49" charset="0"/>
              </a:rPr>
              <a:t>// restriction to fetch the entries you want</a:t>
            </a:r>
          </a:p>
          <a:p>
            <a:pPr lvl="2" indent="0">
              <a:buNone/>
            </a:pPr>
            <a:r>
              <a:rPr lang="en-US" sz="1600">
                <a:latin typeface="Consolas" panose="020B0609020204030204" pitchFamily="49" charset="0"/>
              </a:rPr>
              <a:t>		.</a:t>
            </a:r>
            <a:r>
              <a:rPr lang="en-US" sz="1600" err="1">
                <a:latin typeface="Consolas" panose="020B0609020204030204" pitchFamily="49" charset="0"/>
              </a:rPr>
              <a:t>setAddDisplayFields</a:t>
            </a:r>
            <a:r>
              <a:rPr lang="en-US" sz="1600">
                <a:latin typeface="Consolas" panose="020B0609020204030204" pitchFamily="49" charset="0"/>
              </a:rPr>
              <a:t>(false) </a:t>
            </a:r>
            <a:r>
              <a:rPr lang="en-US" sz="1600">
                <a:solidFill>
                  <a:srgbClr val="C3C5C7"/>
                </a:solidFill>
                <a:latin typeface="Consolas" panose="020B0609020204030204" pitchFamily="49" charset="0"/>
              </a:rPr>
              <a:t>// don’t fetch the display fields of custom fields</a:t>
            </a:r>
          </a:p>
          <a:p>
            <a:pPr lvl="2" indent="0">
              <a:buNone/>
            </a:pPr>
            <a:r>
              <a:rPr lang="en-US" sz="1600">
                <a:latin typeface="Consolas" panose="020B0609020204030204" pitchFamily="49" charset="0"/>
              </a:rPr>
              <a:t>		.</a:t>
            </a:r>
            <a:r>
              <a:rPr lang="en-US" sz="1600" err="1">
                <a:latin typeface="Consolas" panose="020B0609020204030204" pitchFamily="49" charset="0"/>
              </a:rPr>
              <a:t>setLimitedCustomFields</a:t>
            </a:r>
            <a:r>
              <a:rPr lang="en-US" sz="1600">
                <a:latin typeface="Consolas" panose="020B0609020204030204" pitchFamily="49" charset="0"/>
              </a:rPr>
              <a:t>(</a:t>
            </a:r>
            <a:r>
              <a:rPr lang="en-US" sz="1600" err="1">
                <a:latin typeface="Consolas" panose="020B0609020204030204" pitchFamily="49" charset="0"/>
              </a:rPr>
              <a:t>Optional.of</a:t>
            </a:r>
            <a:r>
              <a:rPr lang="en-US" sz="1600">
                <a:latin typeface="Consolas" panose="020B0609020204030204" pitchFamily="49" charset="0"/>
              </a:rPr>
              <a:t>(</a:t>
            </a:r>
            <a:r>
              <a:rPr lang="en-US" sz="1600" err="1">
                <a:latin typeface="Consolas" panose="020B0609020204030204" pitchFamily="49" charset="0"/>
              </a:rPr>
              <a:t>List.of</a:t>
            </a:r>
            <a:r>
              <a:rPr lang="en-US" sz="1600">
                <a:latin typeface="Consolas" panose="020B0609020204030204" pitchFamily="49" charset="0"/>
              </a:rPr>
              <a:t>(</a:t>
            </a:r>
            <a:r>
              <a:rPr lang="en-US" sz="1600" i="1">
                <a:latin typeface="Consolas" panose="020B0609020204030204" pitchFamily="49" charset="0"/>
              </a:rPr>
              <a:t>field1, field2, …</a:t>
            </a:r>
            <a:r>
              <a:rPr lang="en-US" sz="1600">
                <a:latin typeface="Consolas" panose="020B0609020204030204" pitchFamily="49" charset="0"/>
              </a:rPr>
              <a:t>)));</a:t>
            </a:r>
          </a:p>
          <a:p>
            <a:pPr lvl="2" indent="0">
              <a:buNone/>
            </a:pPr>
            <a:r>
              <a:rPr lang="en-US" sz="1600">
                <a:latin typeface="Consolas" panose="020B0609020204030204" pitchFamily="49" charset="0"/>
              </a:rPr>
              <a:t>	List&lt;Map&lt;</a:t>
            </a:r>
            <a:r>
              <a:rPr lang="en-US" sz="1600" err="1">
                <a:latin typeface="Consolas" panose="020B0609020204030204" pitchFamily="49" charset="0"/>
              </a:rPr>
              <a:t>String,Object</a:t>
            </a:r>
            <a:r>
              <a:rPr lang="en-US" sz="1600">
                <a:latin typeface="Consolas" panose="020B0609020204030204" pitchFamily="49" charset="0"/>
              </a:rPr>
              <a:t>&gt;&gt; contents = </a:t>
            </a:r>
            <a:r>
              <a:rPr lang="en-US" sz="1600" err="1">
                <a:latin typeface="Consolas" panose="020B0609020204030204" pitchFamily="49" charset="0"/>
              </a:rPr>
              <a:t>contentDao.fetch</a:t>
            </a:r>
            <a:r>
              <a:rPr lang="en-US" sz="1600">
                <a:latin typeface="Consolas" panose="020B0609020204030204" pitchFamily="49" charset="0"/>
              </a:rPr>
              <a:t>(</a:t>
            </a:r>
            <a:r>
              <a:rPr lang="en-US" sz="1600" err="1">
                <a:latin typeface="Consolas" panose="020B0609020204030204" pitchFamily="49" charset="0"/>
              </a:rPr>
              <a:t>myFetchRequest</a:t>
            </a:r>
            <a:r>
              <a:rPr lang="en-US" sz="1600">
                <a:latin typeface="Consolas" panose="020B0609020204030204" pitchFamily="49" charset="0"/>
              </a:rPr>
              <a:t>).</a:t>
            </a:r>
            <a:r>
              <a:rPr lang="en-US" sz="1600" err="1">
                <a:latin typeface="Consolas" panose="020B0609020204030204" pitchFamily="49" charset="0"/>
              </a:rPr>
              <a:t>getResultList</a:t>
            </a:r>
            <a:r>
              <a:rPr lang="en-US" sz="1600">
                <a:latin typeface="Consolas" panose="020B0609020204030204" pitchFamily="49" charset="0"/>
              </a:rPr>
              <a:t>();</a:t>
            </a:r>
          </a:p>
          <a:p>
            <a:pPr marL="342900" indent="-342900">
              <a:buFontTx/>
              <a:buChar char="-"/>
            </a:pPr>
            <a:r>
              <a:rPr lang="en-US"/>
              <a:t>Only fetch what you plan to use (only the x more recent) </a:t>
            </a:r>
          </a:p>
          <a:p>
            <a:pPr marL="525780" lvl="1" indent="-342900">
              <a:buFontTx/>
              <a:buChar char="-"/>
            </a:pPr>
            <a:r>
              <a:rPr lang="en-US" i="1"/>
              <a:t>See the example in DeleteSomeContents.java of the cookbook</a:t>
            </a:r>
          </a:p>
          <a:p>
            <a:pPr marL="342900" indent="-342900">
              <a:buFontTx/>
              <a:buChar char="-"/>
            </a:pPr>
            <a:r>
              <a:rPr lang="en-US"/>
              <a:t>Prefer to have good restrictions/criteria in your fetch than fetch everything and then loop on the results to filter what you want</a:t>
            </a:r>
          </a:p>
          <a:p>
            <a:pPr marL="342900" indent="-342900">
              <a:buFontTx/>
              <a:buChar char="-"/>
            </a:pPr>
            <a:r>
              <a:rPr lang="en-US"/>
              <a:t>Prefer to use count method and not fetch if you’re only interested in the number of entries</a:t>
            </a:r>
          </a:p>
          <a:p>
            <a:pPr marL="342900" indent="-342900">
              <a:buFontTx/>
              <a:buChar char="-"/>
            </a:pPr>
            <a:endParaRPr lang="en-US"/>
          </a:p>
          <a:p>
            <a:pPr marL="342900" indent="-342900">
              <a:buFontTx/>
              <a:buChar char="-"/>
            </a:pPr>
            <a:endParaRPr lang="en-US"/>
          </a:p>
        </p:txBody>
      </p:sp>
      <p:sp>
        <p:nvSpPr>
          <p:cNvPr id="3" name="Footer Placeholder 2">
            <a:extLst>
              <a:ext uri="{FF2B5EF4-FFF2-40B4-BE49-F238E27FC236}">
                <a16:creationId xmlns:a16="http://schemas.microsoft.com/office/drawing/2014/main" id="{793971B3-1494-C538-0A9A-AA5097D3CC27}"/>
              </a:ext>
            </a:extLst>
          </p:cNvPr>
          <p:cNvSpPr>
            <a:spLocks noGrp="1"/>
          </p:cNvSpPr>
          <p:nvPr>
            <p:ph type="ftr" sz="quarter" idx="11"/>
          </p:nvPr>
        </p:nvSpPr>
        <p:spPr/>
        <p:txBody>
          <a:bodyPr/>
          <a:lstStyle/>
          <a:p>
            <a:r>
              <a:rPr lang="en-US"/>
              <a:t>SLIMS Java API Training          R4526A-CU660         For Research Use Only. Not for use in diagnostic procedures.</a:t>
            </a:r>
          </a:p>
        </p:txBody>
      </p:sp>
      <p:sp>
        <p:nvSpPr>
          <p:cNvPr id="4" name="Slide Number Placeholder 3">
            <a:extLst>
              <a:ext uri="{FF2B5EF4-FFF2-40B4-BE49-F238E27FC236}">
                <a16:creationId xmlns:a16="http://schemas.microsoft.com/office/drawing/2014/main" id="{85FA73B5-3BE1-D03D-7463-F452B2C5C0FB}"/>
              </a:ext>
            </a:extLst>
          </p:cNvPr>
          <p:cNvSpPr>
            <a:spLocks noGrp="1"/>
          </p:cNvSpPr>
          <p:nvPr>
            <p:ph type="sldNum" sz="quarter" idx="12"/>
          </p:nvPr>
        </p:nvSpPr>
        <p:spPr/>
        <p:txBody>
          <a:bodyPr/>
          <a:lstStyle/>
          <a:p>
            <a:fld id="{CBD803B2-A378-42BD-B5EC-F7748F169FE0}" type="slidenum">
              <a:rPr lang="en-US" smtClean="0"/>
              <a:pPr/>
              <a:t>38</a:t>
            </a:fld>
            <a:endParaRPr lang="en-US"/>
          </a:p>
        </p:txBody>
      </p:sp>
      <p:sp>
        <p:nvSpPr>
          <p:cNvPr id="5" name="Text Placeholder 4">
            <a:extLst>
              <a:ext uri="{FF2B5EF4-FFF2-40B4-BE49-F238E27FC236}">
                <a16:creationId xmlns:a16="http://schemas.microsoft.com/office/drawing/2014/main" id="{27D69A05-66B5-CE4D-EC4F-E6456400C042}"/>
              </a:ext>
            </a:extLst>
          </p:cNvPr>
          <p:cNvSpPr>
            <a:spLocks noGrp="1"/>
          </p:cNvSpPr>
          <p:nvPr>
            <p:ph type="body" sz="quarter" idx="13"/>
          </p:nvPr>
        </p:nvSpPr>
        <p:spPr/>
        <p:txBody>
          <a:bodyPr>
            <a:normAutofit lnSpcReduction="10000"/>
          </a:bodyPr>
          <a:lstStyle/>
          <a:p>
            <a:r>
              <a:rPr lang="en-US"/>
              <a:t>Performances</a:t>
            </a:r>
          </a:p>
        </p:txBody>
      </p:sp>
      <p:sp>
        <p:nvSpPr>
          <p:cNvPr id="6" name="Title 5">
            <a:extLst>
              <a:ext uri="{FF2B5EF4-FFF2-40B4-BE49-F238E27FC236}">
                <a16:creationId xmlns:a16="http://schemas.microsoft.com/office/drawing/2014/main" id="{619016BE-CB92-7E76-9838-BEABCC990AF3}"/>
              </a:ext>
            </a:extLst>
          </p:cNvPr>
          <p:cNvSpPr>
            <a:spLocks noGrp="1"/>
          </p:cNvSpPr>
          <p:nvPr>
            <p:ph type="title"/>
          </p:nvPr>
        </p:nvSpPr>
        <p:spPr/>
        <p:txBody>
          <a:bodyPr/>
          <a:lstStyle/>
          <a:p>
            <a:r>
              <a:rPr lang="en-US"/>
              <a:t>Best practices</a:t>
            </a:r>
          </a:p>
        </p:txBody>
      </p:sp>
    </p:spTree>
    <p:extLst>
      <p:ext uri="{BB962C8B-B14F-4D97-AF65-F5344CB8AC3E}">
        <p14:creationId xmlns:p14="http://schemas.microsoft.com/office/powerpoint/2010/main" val="1811897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BA7C9A-8EF9-FB3C-E166-A1E2514968BD}"/>
              </a:ext>
            </a:extLst>
          </p:cNvPr>
          <p:cNvSpPr>
            <a:spLocks noGrp="1"/>
          </p:cNvSpPr>
          <p:nvPr>
            <p:ph idx="1"/>
          </p:nvPr>
        </p:nvSpPr>
        <p:spPr/>
        <p:txBody>
          <a:bodyPr>
            <a:normAutofit/>
          </a:bodyPr>
          <a:lstStyle/>
          <a:p>
            <a:r>
              <a:rPr lang="en-US"/>
              <a:t>Util classes from </a:t>
            </a:r>
            <a:r>
              <a:rPr lang="en-US" err="1"/>
              <a:t>com.genohm.slims.server.util</a:t>
            </a:r>
            <a:endParaRPr lang="en-US"/>
          </a:p>
          <a:p>
            <a:r>
              <a:rPr lang="en-US"/>
              <a:t>	</a:t>
            </a:r>
            <a:r>
              <a:rPr lang="en-US" err="1"/>
              <a:t>StringUtil</a:t>
            </a:r>
            <a:endParaRPr lang="en-US"/>
          </a:p>
          <a:p>
            <a:r>
              <a:rPr lang="en-US"/>
              <a:t>	</a:t>
            </a:r>
            <a:r>
              <a:rPr lang="en-US" err="1"/>
              <a:t>MapUtil</a:t>
            </a:r>
            <a:endParaRPr lang="en-US"/>
          </a:p>
          <a:p>
            <a:r>
              <a:rPr lang="en-US"/>
              <a:t>	</a:t>
            </a:r>
            <a:r>
              <a:rPr lang="en-US" err="1"/>
              <a:t>SetUtil</a:t>
            </a:r>
            <a:endParaRPr lang="en-US"/>
          </a:p>
          <a:p>
            <a:r>
              <a:rPr lang="en-US"/>
              <a:t>	…</a:t>
            </a:r>
          </a:p>
          <a:p>
            <a:endParaRPr lang="en-US"/>
          </a:p>
          <a:p>
            <a:r>
              <a:rPr lang="en-US" err="1"/>
              <a:t>DaoUtil</a:t>
            </a:r>
            <a:endParaRPr lang="en-US"/>
          </a:p>
          <a:p>
            <a:r>
              <a:rPr lang="en-US" err="1"/>
              <a:t>DaoConstant</a:t>
            </a:r>
            <a:endParaRPr lang="en-US"/>
          </a:p>
          <a:p>
            <a:r>
              <a:rPr lang="en-US"/>
              <a:t>…Meta</a:t>
            </a:r>
          </a:p>
        </p:txBody>
      </p:sp>
      <p:sp>
        <p:nvSpPr>
          <p:cNvPr id="3" name="Footer Placeholder 2">
            <a:extLst>
              <a:ext uri="{FF2B5EF4-FFF2-40B4-BE49-F238E27FC236}">
                <a16:creationId xmlns:a16="http://schemas.microsoft.com/office/drawing/2014/main" id="{D568D1F1-8A76-4A98-6FAC-95F8C62F4F24}"/>
              </a:ext>
            </a:extLst>
          </p:cNvPr>
          <p:cNvSpPr>
            <a:spLocks noGrp="1"/>
          </p:cNvSpPr>
          <p:nvPr>
            <p:ph type="ftr" sz="quarter" idx="11"/>
          </p:nvPr>
        </p:nvSpPr>
        <p:spPr/>
        <p:txBody>
          <a:bodyPr/>
          <a:lstStyle/>
          <a:p>
            <a:r>
              <a:rPr lang="en-US"/>
              <a:t>SLIMS Java API Training          R4526A-CU660         For Research Use Only. Not for use in diagnostic procedures.</a:t>
            </a:r>
          </a:p>
        </p:txBody>
      </p:sp>
      <p:sp>
        <p:nvSpPr>
          <p:cNvPr id="4" name="Slide Number Placeholder 3">
            <a:extLst>
              <a:ext uri="{FF2B5EF4-FFF2-40B4-BE49-F238E27FC236}">
                <a16:creationId xmlns:a16="http://schemas.microsoft.com/office/drawing/2014/main" id="{61ACED1D-9310-4D3B-00A0-93C85D91C3FD}"/>
              </a:ext>
            </a:extLst>
          </p:cNvPr>
          <p:cNvSpPr>
            <a:spLocks noGrp="1"/>
          </p:cNvSpPr>
          <p:nvPr>
            <p:ph type="sldNum" sz="quarter" idx="12"/>
          </p:nvPr>
        </p:nvSpPr>
        <p:spPr/>
        <p:txBody>
          <a:bodyPr/>
          <a:lstStyle/>
          <a:p>
            <a:fld id="{CBD803B2-A378-42BD-B5EC-F7748F169FE0}" type="slidenum">
              <a:rPr lang="en-US" smtClean="0"/>
              <a:pPr/>
              <a:t>39</a:t>
            </a:fld>
            <a:endParaRPr lang="en-US"/>
          </a:p>
        </p:txBody>
      </p:sp>
      <p:sp>
        <p:nvSpPr>
          <p:cNvPr id="5" name="Text Placeholder 4">
            <a:extLst>
              <a:ext uri="{FF2B5EF4-FFF2-40B4-BE49-F238E27FC236}">
                <a16:creationId xmlns:a16="http://schemas.microsoft.com/office/drawing/2014/main" id="{E5FBA50A-69FF-212A-CA1D-E5CE61BA2623}"/>
              </a:ext>
            </a:extLst>
          </p:cNvPr>
          <p:cNvSpPr>
            <a:spLocks noGrp="1"/>
          </p:cNvSpPr>
          <p:nvPr>
            <p:ph type="body" sz="quarter" idx="13"/>
          </p:nvPr>
        </p:nvSpPr>
        <p:spPr/>
        <p:txBody>
          <a:bodyPr>
            <a:normAutofit lnSpcReduction="10000"/>
          </a:bodyPr>
          <a:lstStyle/>
          <a:p>
            <a:endParaRPr lang="en-US"/>
          </a:p>
        </p:txBody>
      </p:sp>
      <p:sp>
        <p:nvSpPr>
          <p:cNvPr id="6" name="Title 5">
            <a:extLst>
              <a:ext uri="{FF2B5EF4-FFF2-40B4-BE49-F238E27FC236}">
                <a16:creationId xmlns:a16="http://schemas.microsoft.com/office/drawing/2014/main" id="{082FCED6-E11F-1D99-AC3C-1C44FCF9121A}"/>
              </a:ext>
            </a:extLst>
          </p:cNvPr>
          <p:cNvSpPr>
            <a:spLocks noGrp="1"/>
          </p:cNvSpPr>
          <p:nvPr>
            <p:ph type="title"/>
          </p:nvPr>
        </p:nvSpPr>
        <p:spPr/>
        <p:txBody>
          <a:bodyPr/>
          <a:lstStyle/>
          <a:p>
            <a:r>
              <a:rPr lang="en-US"/>
              <a:t>Useful services</a:t>
            </a:r>
          </a:p>
        </p:txBody>
      </p:sp>
    </p:spTree>
    <p:extLst>
      <p:ext uri="{BB962C8B-B14F-4D97-AF65-F5344CB8AC3E}">
        <p14:creationId xmlns:p14="http://schemas.microsoft.com/office/powerpoint/2010/main" val="11376301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C6FEEF-DC3C-AA95-090F-D990059A7D0F}"/>
              </a:ext>
            </a:extLst>
          </p:cNvPr>
          <p:cNvSpPr>
            <a:spLocks noGrp="1"/>
          </p:cNvSpPr>
          <p:nvPr>
            <p:ph idx="1"/>
          </p:nvPr>
        </p:nvSpPr>
        <p:spPr>
          <a:xfrm>
            <a:off x="625823" y="1248336"/>
            <a:ext cx="11198597" cy="5024907"/>
          </a:xfrm>
        </p:spPr>
        <p:txBody>
          <a:bodyPr vert="horz" lIns="0" tIns="45720" rIns="91440" bIns="45720" rtlCol="0" anchor="t">
            <a:normAutofit/>
          </a:bodyPr>
          <a:lstStyle/>
          <a:p>
            <a:r>
              <a:rPr lang="en-GB" b="1">
                <a:latin typeface="Arial"/>
                <a:ea typeface="Roboto"/>
                <a:cs typeface="Arial"/>
              </a:rPr>
              <a:t>Parse a CSV / Excel file for record data and build a </a:t>
            </a:r>
            <a:r>
              <a:rPr lang="en-GB" b="1" err="1">
                <a:latin typeface="Arial"/>
                <a:ea typeface="Roboto"/>
                <a:cs typeface="Arial"/>
              </a:rPr>
              <a:t>CellsDetailTable</a:t>
            </a:r>
            <a:endParaRPr lang="en-US" b="1"/>
          </a:p>
          <a:p>
            <a:r>
              <a:rPr lang="en-GB" sz="2000" err="1">
                <a:latin typeface="Consolas" panose="020B0609020204030204" pitchFamily="49" charset="0"/>
                <a:ea typeface="Roboto"/>
                <a:cs typeface="Arial"/>
              </a:rPr>
              <a:t>CellDetailsTable</a:t>
            </a:r>
            <a:r>
              <a:rPr lang="en-GB" sz="2000">
                <a:latin typeface="Consolas" panose="020B0609020204030204" pitchFamily="49" charset="0"/>
                <a:ea typeface="Roboto"/>
                <a:cs typeface="Arial"/>
              </a:rPr>
              <a:t> </a:t>
            </a:r>
            <a:r>
              <a:rPr lang="en-GB" sz="2000" err="1">
                <a:latin typeface="Consolas" panose="020B0609020204030204" pitchFamily="49" charset="0"/>
                <a:ea typeface="Roboto"/>
                <a:cs typeface="Arial"/>
              </a:rPr>
              <a:t>parseCsv</a:t>
            </a:r>
            <a:r>
              <a:rPr lang="en-GB" sz="2000">
                <a:latin typeface="Consolas" panose="020B0609020204030204" pitchFamily="49" charset="0"/>
                <a:ea typeface="Roboto"/>
                <a:cs typeface="Arial"/>
              </a:rPr>
              <a:t>(byte[] file) throws </a:t>
            </a:r>
            <a:r>
              <a:rPr lang="en-GB" sz="2000" err="1">
                <a:latin typeface="Consolas" panose="020B0609020204030204" pitchFamily="49" charset="0"/>
                <a:ea typeface="Roboto"/>
                <a:cs typeface="Arial"/>
              </a:rPr>
              <a:t>InteractiveImportException</a:t>
            </a:r>
            <a:r>
              <a:rPr lang="en-GB" sz="2000">
                <a:latin typeface="Consolas" panose="020B0609020204030204" pitchFamily="49" charset="0"/>
                <a:ea typeface="Roboto"/>
                <a:cs typeface="Arial"/>
              </a:rPr>
              <a:t>;</a:t>
            </a:r>
            <a:endParaRPr lang="en-US" sz="2000">
              <a:latin typeface="Consolas" panose="020B0609020204030204" pitchFamily="49" charset="0"/>
              <a:ea typeface="Roboto"/>
              <a:cs typeface="Arial"/>
            </a:endParaRPr>
          </a:p>
          <a:p>
            <a:r>
              <a:rPr lang="en-GB" sz="2000" err="1">
                <a:latin typeface="Consolas" panose="020B0609020204030204" pitchFamily="49" charset="0"/>
                <a:ea typeface="Roboto"/>
                <a:cs typeface="Arial"/>
              </a:rPr>
              <a:t>CellDetailsTable</a:t>
            </a:r>
            <a:r>
              <a:rPr lang="en-GB" sz="2000">
                <a:latin typeface="Consolas" panose="020B0609020204030204" pitchFamily="49" charset="0"/>
                <a:ea typeface="Roboto"/>
                <a:cs typeface="Arial"/>
              </a:rPr>
              <a:t> </a:t>
            </a:r>
            <a:r>
              <a:rPr lang="en-GB" sz="2000" err="1">
                <a:latin typeface="Consolas" panose="020B0609020204030204" pitchFamily="49" charset="0"/>
                <a:ea typeface="Roboto"/>
                <a:cs typeface="Arial"/>
              </a:rPr>
              <a:t>parseExcel</a:t>
            </a:r>
            <a:r>
              <a:rPr lang="en-GB" sz="2000">
                <a:latin typeface="Consolas" panose="020B0609020204030204" pitchFamily="49" charset="0"/>
                <a:ea typeface="Roboto"/>
                <a:cs typeface="Arial"/>
              </a:rPr>
              <a:t>(byte[] file) throws </a:t>
            </a:r>
            <a:r>
              <a:rPr lang="en-GB" sz="2000" err="1">
                <a:latin typeface="Consolas" panose="020B0609020204030204" pitchFamily="49" charset="0"/>
                <a:ea typeface="Roboto"/>
                <a:cs typeface="Arial"/>
              </a:rPr>
              <a:t>InteractiveImportException</a:t>
            </a:r>
            <a:r>
              <a:rPr lang="en-GB" sz="2000">
                <a:latin typeface="Consolas" panose="020B0609020204030204" pitchFamily="49" charset="0"/>
                <a:ea typeface="Roboto"/>
                <a:cs typeface="Arial"/>
              </a:rPr>
              <a:t>;</a:t>
            </a:r>
          </a:p>
          <a:p>
            <a:endParaRPr lang="en-GB"/>
          </a:p>
          <a:p>
            <a:r>
              <a:rPr lang="en-GB" sz="2000" err="1">
                <a:solidFill>
                  <a:srgbClr val="53565A"/>
                </a:solidFill>
                <a:latin typeface="Consolas" panose="020B0609020204030204" pitchFamily="49" charset="0"/>
                <a:ea typeface="Roboto"/>
                <a:cs typeface="Arial"/>
              </a:rPr>
              <a:t>CellDetailsTable</a:t>
            </a:r>
            <a:r>
              <a:rPr lang="en-GB" sz="2000">
                <a:solidFill>
                  <a:srgbClr val="53565A"/>
                </a:solidFill>
                <a:latin typeface="Consolas" panose="020B0609020204030204" pitchFamily="49" charset="0"/>
                <a:ea typeface="Roboto"/>
                <a:cs typeface="Arial"/>
              </a:rPr>
              <a:t> </a:t>
            </a:r>
            <a:r>
              <a:rPr lang="en-GB" sz="2000" err="1">
                <a:solidFill>
                  <a:srgbClr val="53565A"/>
                </a:solidFill>
                <a:latin typeface="Consolas" panose="020B0609020204030204" pitchFamily="49" charset="0"/>
                <a:ea typeface="Roboto"/>
                <a:cs typeface="Arial"/>
              </a:rPr>
              <a:t>cellDetails</a:t>
            </a:r>
            <a:r>
              <a:rPr lang="en-GB" sz="2000">
                <a:solidFill>
                  <a:srgbClr val="53565A"/>
                </a:solidFill>
                <a:latin typeface="Consolas" panose="020B0609020204030204" pitchFamily="49" charset="0"/>
                <a:ea typeface="Roboto"/>
                <a:cs typeface="Arial"/>
              </a:rPr>
              <a:t> = </a:t>
            </a:r>
            <a:r>
              <a:rPr lang="en-GB" sz="2000" err="1">
                <a:solidFill>
                  <a:srgbClr val="53565A"/>
                </a:solidFill>
                <a:latin typeface="Consolas" panose="020B0609020204030204" pitchFamily="49" charset="0"/>
                <a:ea typeface="Roboto"/>
                <a:cs typeface="Arial"/>
              </a:rPr>
              <a:t>interactiveImportApi.parseCsv</a:t>
            </a:r>
            <a:r>
              <a:rPr lang="en-GB" sz="2000">
                <a:solidFill>
                  <a:srgbClr val="53565A"/>
                </a:solidFill>
                <a:latin typeface="Consolas" panose="020B0609020204030204" pitchFamily="49" charset="0"/>
                <a:ea typeface="Roboto"/>
                <a:cs typeface="Arial"/>
              </a:rPr>
              <a:t>(</a:t>
            </a:r>
            <a:r>
              <a:rPr lang="en-GB" sz="2000" err="1">
                <a:solidFill>
                  <a:srgbClr val="53565A"/>
                </a:solidFill>
                <a:latin typeface="Consolas" panose="020B0609020204030204" pitchFamily="49" charset="0"/>
                <a:ea typeface="Roboto"/>
                <a:cs typeface="Arial"/>
              </a:rPr>
              <a:t>fileBytes</a:t>
            </a:r>
            <a:r>
              <a:rPr lang="en-GB" sz="2000">
                <a:solidFill>
                  <a:srgbClr val="53565A"/>
                </a:solidFill>
                <a:latin typeface="Consolas" panose="020B0609020204030204" pitchFamily="49" charset="0"/>
                <a:ea typeface="Roboto"/>
                <a:cs typeface="Arial"/>
              </a:rPr>
              <a:t>);</a:t>
            </a:r>
            <a:endParaRPr lang="en-GB" sz="2000">
              <a:solidFill>
                <a:srgbClr val="53565A"/>
              </a:solidFill>
              <a:latin typeface="Consolas" panose="020B0609020204030204" pitchFamily="49" charset="0"/>
              <a:ea typeface="Roboto"/>
            </a:endParaRPr>
          </a:p>
          <a:p>
            <a:r>
              <a:rPr lang="en-GB" sz="2000">
                <a:solidFill>
                  <a:srgbClr val="53565A"/>
                </a:solidFill>
                <a:latin typeface="Consolas" panose="020B0609020204030204" pitchFamily="49" charset="0"/>
                <a:ea typeface="Roboto"/>
                <a:cs typeface="Arial"/>
              </a:rPr>
              <a:t>List&lt;Map&lt;String, Object&gt;&gt; records = </a:t>
            </a:r>
            <a:r>
              <a:rPr lang="en-GB" sz="2000" err="1">
                <a:solidFill>
                  <a:srgbClr val="53565A"/>
                </a:solidFill>
                <a:latin typeface="Consolas" panose="020B0609020204030204" pitchFamily="49" charset="0"/>
                <a:ea typeface="Roboto"/>
                <a:cs typeface="Arial"/>
              </a:rPr>
              <a:t>cellDetails.getAsRecordList</a:t>
            </a:r>
            <a:r>
              <a:rPr lang="en-GB" sz="2000">
                <a:solidFill>
                  <a:srgbClr val="53565A"/>
                </a:solidFill>
                <a:latin typeface="Consolas" panose="020B0609020204030204" pitchFamily="49" charset="0"/>
                <a:ea typeface="Roboto"/>
                <a:cs typeface="Arial"/>
              </a:rPr>
              <a:t>();</a:t>
            </a:r>
          </a:p>
          <a:p>
            <a:r>
              <a:rPr lang="en-GB" b="1">
                <a:latin typeface="Arial"/>
                <a:ea typeface="Roboto"/>
                <a:cs typeface="Arial"/>
              </a:rPr>
              <a:t>Import records into SLIMS from a parsed data file</a:t>
            </a:r>
            <a:endParaRPr lang="en-GB" b="1">
              <a:latin typeface="Arial"/>
              <a:cs typeface="Arial"/>
            </a:endParaRPr>
          </a:p>
          <a:p>
            <a:r>
              <a:rPr lang="en-GB" sz="2000">
                <a:solidFill>
                  <a:srgbClr val="53565A"/>
                </a:solidFill>
                <a:latin typeface="Consolas" panose="020B0609020204030204" pitchFamily="49" charset="0"/>
                <a:ea typeface="Roboto"/>
                <a:cs typeface="Arial"/>
              </a:rPr>
              <a:t>List&lt;Map&lt;String, Object&gt;&gt; </a:t>
            </a:r>
            <a:r>
              <a:rPr lang="en-GB" sz="2000" err="1">
                <a:solidFill>
                  <a:srgbClr val="53565A"/>
                </a:solidFill>
                <a:latin typeface="Consolas" panose="020B0609020204030204" pitchFamily="49" charset="0"/>
                <a:ea typeface="Roboto"/>
                <a:cs typeface="Arial"/>
              </a:rPr>
              <a:t>importRecords</a:t>
            </a:r>
            <a:r>
              <a:rPr lang="en-GB" sz="2000">
                <a:solidFill>
                  <a:srgbClr val="53565A"/>
                </a:solidFill>
                <a:latin typeface="Consolas" panose="020B0609020204030204" pitchFamily="49" charset="0"/>
                <a:ea typeface="Roboto"/>
                <a:cs typeface="Arial"/>
              </a:rPr>
              <a:t>(</a:t>
            </a:r>
            <a:br>
              <a:rPr lang="en-GB" sz="2000">
                <a:latin typeface="Consolas" panose="020B0609020204030204" pitchFamily="49" charset="0"/>
                <a:ea typeface="Roboto"/>
              </a:rPr>
            </a:br>
            <a:r>
              <a:rPr lang="en-GB" sz="2000">
                <a:solidFill>
                  <a:srgbClr val="53565A"/>
                </a:solidFill>
                <a:latin typeface="Consolas" panose="020B0609020204030204" pitchFamily="49" charset="0"/>
                <a:ea typeface="Roboto"/>
                <a:cs typeface="Arial"/>
              </a:rPr>
              <a:t>       </a:t>
            </a:r>
            <a:r>
              <a:rPr lang="en-GB" sz="2000" err="1">
                <a:solidFill>
                  <a:srgbClr val="53565A"/>
                </a:solidFill>
                <a:latin typeface="Consolas" panose="020B0609020204030204" pitchFamily="49" charset="0"/>
                <a:ea typeface="Roboto"/>
                <a:cs typeface="Arial"/>
              </a:rPr>
              <a:t>CellDetailsTable</a:t>
            </a:r>
            <a:r>
              <a:rPr lang="en-GB" sz="2000">
                <a:solidFill>
                  <a:srgbClr val="53565A"/>
                </a:solidFill>
                <a:latin typeface="Consolas" panose="020B0609020204030204" pitchFamily="49" charset="0"/>
                <a:ea typeface="Roboto"/>
                <a:cs typeface="Arial"/>
              </a:rPr>
              <a:t> </a:t>
            </a:r>
            <a:r>
              <a:rPr lang="en-GB" sz="2000" err="1">
                <a:solidFill>
                  <a:srgbClr val="53565A"/>
                </a:solidFill>
                <a:latin typeface="Consolas" panose="020B0609020204030204" pitchFamily="49" charset="0"/>
                <a:ea typeface="Roboto"/>
                <a:cs typeface="Arial"/>
              </a:rPr>
              <a:t>cellDetailTable</a:t>
            </a:r>
            <a:r>
              <a:rPr lang="en-GB" sz="2000">
                <a:solidFill>
                  <a:srgbClr val="53565A"/>
                </a:solidFill>
                <a:latin typeface="Consolas" panose="020B0609020204030204" pitchFamily="49" charset="0"/>
                <a:ea typeface="Roboto"/>
                <a:cs typeface="Arial"/>
              </a:rPr>
              <a:t>,</a:t>
            </a:r>
            <a:br>
              <a:rPr lang="en-GB" sz="2000">
                <a:latin typeface="Consolas" panose="020B0609020204030204" pitchFamily="49" charset="0"/>
                <a:ea typeface="Roboto"/>
              </a:rPr>
            </a:br>
            <a:r>
              <a:rPr lang="en-GB" sz="2000">
                <a:solidFill>
                  <a:srgbClr val="53565A"/>
                </a:solidFill>
                <a:latin typeface="Consolas" panose="020B0609020204030204" pitchFamily="49" charset="0"/>
                <a:ea typeface="Roboto"/>
                <a:cs typeface="Arial"/>
              </a:rPr>
              <a:t>       String[] </a:t>
            </a:r>
            <a:r>
              <a:rPr lang="en-GB" sz="2000" err="1">
                <a:solidFill>
                  <a:srgbClr val="53565A"/>
                </a:solidFill>
                <a:latin typeface="Consolas" panose="020B0609020204030204" pitchFamily="49" charset="0"/>
                <a:ea typeface="Roboto"/>
                <a:cs typeface="Arial"/>
              </a:rPr>
              <a:t>importKeyFields</a:t>
            </a:r>
            <a:r>
              <a:rPr lang="en-GB" sz="2000">
                <a:solidFill>
                  <a:srgbClr val="53565A"/>
                </a:solidFill>
                <a:latin typeface="Consolas" panose="020B0609020204030204" pitchFamily="49" charset="0"/>
                <a:ea typeface="Roboto"/>
                <a:cs typeface="Arial"/>
              </a:rPr>
              <a:t>,</a:t>
            </a:r>
            <a:br>
              <a:rPr lang="en-GB" sz="2000">
                <a:latin typeface="Consolas" panose="020B0609020204030204" pitchFamily="49" charset="0"/>
                <a:ea typeface="Roboto"/>
              </a:rPr>
            </a:br>
            <a:r>
              <a:rPr lang="en-GB" sz="2000">
                <a:solidFill>
                  <a:srgbClr val="53565A"/>
                </a:solidFill>
                <a:latin typeface="Consolas" panose="020B0609020204030204" pitchFamily="49" charset="0"/>
                <a:ea typeface="Roboto"/>
                <a:cs typeface="Arial"/>
              </a:rPr>
              <a:t>       String table,</a:t>
            </a:r>
            <a:br>
              <a:rPr lang="en-GB" sz="2000">
                <a:latin typeface="Consolas" panose="020B0609020204030204" pitchFamily="49" charset="0"/>
                <a:ea typeface="Roboto"/>
              </a:rPr>
            </a:br>
            <a:r>
              <a:rPr lang="en-GB" sz="2000">
                <a:solidFill>
                  <a:srgbClr val="53565A"/>
                </a:solidFill>
                <a:latin typeface="Consolas" panose="020B0609020204030204" pitchFamily="49" charset="0"/>
                <a:ea typeface="Roboto"/>
                <a:cs typeface="Arial"/>
              </a:rPr>
              <a:t>       Feedback </a:t>
            </a:r>
            <a:r>
              <a:rPr lang="en-GB" sz="2000" err="1">
                <a:solidFill>
                  <a:srgbClr val="53565A"/>
                </a:solidFill>
                <a:latin typeface="Consolas" panose="020B0609020204030204" pitchFamily="49" charset="0"/>
                <a:ea typeface="Roboto"/>
                <a:cs typeface="Arial"/>
              </a:rPr>
              <a:t>feedback</a:t>
            </a:r>
            <a:r>
              <a:rPr lang="en-GB" sz="2000">
                <a:solidFill>
                  <a:srgbClr val="53565A"/>
                </a:solidFill>
                <a:latin typeface="Consolas" panose="020B0609020204030204" pitchFamily="49" charset="0"/>
                <a:ea typeface="Roboto"/>
                <a:cs typeface="Arial"/>
              </a:rPr>
              <a:t>,</a:t>
            </a:r>
            <a:br>
              <a:rPr lang="en-GB" sz="2000">
                <a:latin typeface="Consolas" panose="020B0609020204030204" pitchFamily="49" charset="0"/>
                <a:ea typeface="Roboto"/>
              </a:rPr>
            </a:br>
            <a:r>
              <a:rPr lang="en-GB" sz="2000">
                <a:solidFill>
                  <a:srgbClr val="53565A"/>
                </a:solidFill>
                <a:latin typeface="Consolas" panose="020B0609020204030204" pitchFamily="49" charset="0"/>
                <a:ea typeface="Roboto"/>
                <a:cs typeface="Arial"/>
              </a:rPr>
              <a:t>       User user) throws </a:t>
            </a:r>
            <a:r>
              <a:rPr lang="en-GB" sz="2000" err="1">
                <a:solidFill>
                  <a:srgbClr val="53565A"/>
                </a:solidFill>
                <a:latin typeface="Consolas" panose="020B0609020204030204" pitchFamily="49" charset="0"/>
                <a:ea typeface="Roboto"/>
                <a:cs typeface="Arial"/>
              </a:rPr>
              <a:t>InteractiveImportException</a:t>
            </a:r>
            <a:r>
              <a:rPr lang="en-GB" sz="2000">
                <a:solidFill>
                  <a:srgbClr val="53565A"/>
                </a:solidFill>
                <a:latin typeface="Consolas" panose="020B0609020204030204" pitchFamily="49" charset="0"/>
                <a:ea typeface="Roboto"/>
                <a:cs typeface="Arial"/>
              </a:rPr>
              <a:t>;</a:t>
            </a:r>
            <a:endParaRPr lang="en-GB" sz="2000">
              <a:latin typeface="Consolas" panose="020B0609020204030204" pitchFamily="49" charset="0"/>
            </a:endParaRPr>
          </a:p>
          <a:p>
            <a:endParaRPr lang="en-GB">
              <a:ea typeface="Roboto"/>
            </a:endParaRPr>
          </a:p>
        </p:txBody>
      </p:sp>
      <p:sp>
        <p:nvSpPr>
          <p:cNvPr id="3" name="Footer Placeholder 2">
            <a:extLst>
              <a:ext uri="{FF2B5EF4-FFF2-40B4-BE49-F238E27FC236}">
                <a16:creationId xmlns:a16="http://schemas.microsoft.com/office/drawing/2014/main" id="{90B14B20-8595-A1AF-C287-054B1E0DFEB2}"/>
              </a:ext>
            </a:extLst>
          </p:cNvPr>
          <p:cNvSpPr>
            <a:spLocks noGrp="1"/>
          </p:cNvSpPr>
          <p:nvPr>
            <p:ph type="ftr" sz="quarter" idx="11"/>
          </p:nvPr>
        </p:nvSpPr>
        <p:spPr/>
        <p:txBody>
          <a:bodyPr/>
          <a:lstStyle/>
          <a:p>
            <a:r>
              <a:rPr lang="en-US"/>
              <a:t>SLIMS Java API Training          R4526A-CU660         For Research Use Only. Not for use in diagnostic procedures.</a:t>
            </a:r>
          </a:p>
        </p:txBody>
      </p:sp>
      <p:sp>
        <p:nvSpPr>
          <p:cNvPr id="4" name="Slide Number Placeholder 3">
            <a:extLst>
              <a:ext uri="{FF2B5EF4-FFF2-40B4-BE49-F238E27FC236}">
                <a16:creationId xmlns:a16="http://schemas.microsoft.com/office/drawing/2014/main" id="{98E01157-593E-D096-F83C-4700DE34DEB3}"/>
              </a:ext>
            </a:extLst>
          </p:cNvPr>
          <p:cNvSpPr>
            <a:spLocks noGrp="1"/>
          </p:cNvSpPr>
          <p:nvPr>
            <p:ph type="sldNum" sz="quarter" idx="12"/>
          </p:nvPr>
        </p:nvSpPr>
        <p:spPr/>
        <p:txBody>
          <a:bodyPr/>
          <a:lstStyle/>
          <a:p>
            <a:fld id="{CBD803B2-A378-42BD-B5EC-F7748F169FE0}" type="slidenum">
              <a:rPr lang="en-US" smtClean="0"/>
              <a:pPr/>
              <a:t>40</a:t>
            </a:fld>
            <a:endParaRPr lang="en-US"/>
          </a:p>
        </p:txBody>
      </p:sp>
      <p:sp>
        <p:nvSpPr>
          <p:cNvPr id="5" name="Text Placeholder 4">
            <a:extLst>
              <a:ext uri="{FF2B5EF4-FFF2-40B4-BE49-F238E27FC236}">
                <a16:creationId xmlns:a16="http://schemas.microsoft.com/office/drawing/2014/main" id="{B087123A-3959-5E11-D734-A4B1B61B4AFF}"/>
              </a:ext>
            </a:extLst>
          </p:cNvPr>
          <p:cNvSpPr>
            <a:spLocks noGrp="1"/>
          </p:cNvSpPr>
          <p:nvPr>
            <p:ph type="body" sz="quarter" idx="13"/>
          </p:nvPr>
        </p:nvSpPr>
        <p:spPr/>
        <p:txBody>
          <a:bodyPr vert="horz" lIns="0" tIns="45720" rIns="91440" bIns="45720" rtlCol="0" anchor="t">
            <a:normAutofit fontScale="92500" lnSpcReduction="10000"/>
          </a:bodyPr>
          <a:lstStyle/>
          <a:p>
            <a:r>
              <a:rPr lang="en-GB" err="1">
                <a:latin typeface="Arial"/>
                <a:ea typeface="Roboto"/>
                <a:cs typeface="Arial"/>
              </a:rPr>
              <a:t>InteractiveImportApi</a:t>
            </a:r>
          </a:p>
        </p:txBody>
      </p:sp>
      <p:sp>
        <p:nvSpPr>
          <p:cNvPr id="6" name="Title 5">
            <a:extLst>
              <a:ext uri="{FF2B5EF4-FFF2-40B4-BE49-F238E27FC236}">
                <a16:creationId xmlns:a16="http://schemas.microsoft.com/office/drawing/2014/main" id="{6A8D0BE0-867D-E159-FDD6-468FE5A6353D}"/>
              </a:ext>
            </a:extLst>
          </p:cNvPr>
          <p:cNvSpPr>
            <a:spLocks noGrp="1"/>
          </p:cNvSpPr>
          <p:nvPr>
            <p:ph type="title"/>
          </p:nvPr>
        </p:nvSpPr>
        <p:spPr/>
        <p:txBody>
          <a:bodyPr/>
          <a:lstStyle/>
          <a:p>
            <a:r>
              <a:rPr lang="en-GB">
                <a:latin typeface="Arial"/>
                <a:ea typeface="Roboto Medium"/>
                <a:cs typeface="Arial"/>
              </a:rPr>
              <a:t>Useful services</a:t>
            </a:r>
            <a:endParaRPr lang="en-GB"/>
          </a:p>
        </p:txBody>
      </p:sp>
    </p:spTree>
    <p:extLst>
      <p:ext uri="{BB962C8B-B14F-4D97-AF65-F5344CB8AC3E}">
        <p14:creationId xmlns:p14="http://schemas.microsoft.com/office/powerpoint/2010/main" val="14087848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24AE9F-8BAC-CA9C-CC61-C96FCC87CD2C}"/>
              </a:ext>
            </a:extLst>
          </p:cNvPr>
          <p:cNvSpPr>
            <a:spLocks noGrp="1"/>
          </p:cNvSpPr>
          <p:nvPr>
            <p:ph idx="1"/>
          </p:nvPr>
        </p:nvSpPr>
        <p:spPr/>
        <p:txBody>
          <a:bodyPr vert="horz" lIns="0" tIns="45720" rIns="91440" bIns="45720" rtlCol="0" anchor="t">
            <a:normAutofit/>
          </a:bodyPr>
          <a:lstStyle/>
          <a:p>
            <a:r>
              <a:rPr lang="en-GB" dirty="0">
                <a:latin typeface="Arial"/>
                <a:ea typeface="Roboto"/>
                <a:cs typeface="Arial"/>
              </a:rPr>
              <a:t>Converts </a:t>
            </a:r>
          </a:p>
          <a:p>
            <a:pPr marL="342900" indent="-342900">
              <a:buFontTx/>
              <a:buChar char="-"/>
            </a:pPr>
            <a:r>
              <a:rPr lang="en-GB" dirty="0">
                <a:latin typeface="Arial"/>
                <a:ea typeface="Roboto"/>
                <a:cs typeface="Arial"/>
              </a:rPr>
              <a:t>an entity in the display format (i. e. with fields having display values) </a:t>
            </a:r>
          </a:p>
          <a:p>
            <a:pPr marL="342900" indent="-342900">
              <a:buFontTx/>
              <a:buChar char="-"/>
            </a:pPr>
            <a:r>
              <a:rPr lang="en-GB" dirty="0">
                <a:latin typeface="Arial"/>
                <a:ea typeface="Roboto"/>
                <a:cs typeface="Arial"/>
              </a:rPr>
              <a:t>to an entity in the internal SLIMS format (i. e. with fields having the right internal value).</a:t>
            </a:r>
          </a:p>
          <a:p>
            <a:endParaRPr lang="en-GB" dirty="0"/>
          </a:p>
          <a:p>
            <a:r>
              <a:rPr lang="en-GB" sz="2000" dirty="0">
                <a:latin typeface="Consolas" panose="020B0609020204030204" pitchFamily="49" charset="0"/>
                <a:ea typeface="Roboto"/>
                <a:cs typeface="Arial"/>
              </a:rPr>
              <a:t>Map&lt;String, Object&gt; </a:t>
            </a:r>
            <a:r>
              <a:rPr lang="en-GB" sz="2000" dirty="0" err="1">
                <a:latin typeface="Consolas" panose="020B0609020204030204" pitchFamily="49" charset="0"/>
                <a:ea typeface="Roboto"/>
                <a:cs typeface="Arial"/>
              </a:rPr>
              <a:t>convertToInternalFormat</a:t>
            </a:r>
            <a:r>
              <a:rPr lang="en-GB" sz="2000" dirty="0">
                <a:latin typeface="Consolas" panose="020B0609020204030204" pitchFamily="49" charset="0"/>
                <a:ea typeface="Roboto"/>
                <a:cs typeface="Arial"/>
              </a:rPr>
              <a:t>(Map&lt;String, Object&gt; external, String table);</a:t>
            </a:r>
            <a:endParaRPr lang="en-GB" sz="2000" dirty="0">
              <a:latin typeface="Consolas" panose="020B0609020204030204" pitchFamily="49" charset="0"/>
            </a:endParaRPr>
          </a:p>
          <a:p>
            <a:endParaRPr lang="en-GB" dirty="0">
              <a:latin typeface="Arial"/>
              <a:ea typeface="Roboto"/>
              <a:cs typeface="Arial"/>
            </a:endParaRPr>
          </a:p>
          <a:p>
            <a:r>
              <a:rPr lang="en-GB" sz="2000" dirty="0" err="1">
                <a:latin typeface="Consolas" panose="020B0609020204030204" pitchFamily="49" charset="0"/>
                <a:ea typeface="Roboto"/>
                <a:cs typeface="Arial"/>
              </a:rPr>
              <a:t>convertRecordService.convertToInternalFormat</a:t>
            </a:r>
            <a:r>
              <a:rPr lang="en-GB" sz="2000" dirty="0">
                <a:latin typeface="Consolas" panose="020B0609020204030204" pitchFamily="49" charset="0"/>
                <a:ea typeface="Roboto"/>
                <a:cs typeface="Arial"/>
              </a:rPr>
              <a:t>(record, </a:t>
            </a:r>
            <a:r>
              <a:rPr lang="en-GB" sz="2000" dirty="0" err="1">
                <a:latin typeface="Consolas" panose="020B0609020204030204" pitchFamily="49" charset="0"/>
                <a:ea typeface="Roboto"/>
                <a:cs typeface="Arial"/>
              </a:rPr>
              <a:t>DaoConstants.CONTENT</a:t>
            </a:r>
            <a:r>
              <a:rPr lang="en-GB" sz="2000" dirty="0">
                <a:latin typeface="Consolas" panose="020B0609020204030204" pitchFamily="49" charset="0"/>
                <a:ea typeface="Roboto"/>
                <a:cs typeface="Arial"/>
              </a:rPr>
              <a:t>);</a:t>
            </a:r>
          </a:p>
          <a:p>
            <a:endParaRPr lang="en-GB" dirty="0"/>
          </a:p>
          <a:p>
            <a:endParaRPr lang="en-GB" dirty="0"/>
          </a:p>
        </p:txBody>
      </p:sp>
      <p:sp>
        <p:nvSpPr>
          <p:cNvPr id="3" name="Footer Placeholder 2">
            <a:extLst>
              <a:ext uri="{FF2B5EF4-FFF2-40B4-BE49-F238E27FC236}">
                <a16:creationId xmlns:a16="http://schemas.microsoft.com/office/drawing/2014/main" id="{BB400A5F-2CD1-C5EE-BC8C-D51D4B8E3FDF}"/>
              </a:ext>
            </a:extLst>
          </p:cNvPr>
          <p:cNvSpPr>
            <a:spLocks noGrp="1"/>
          </p:cNvSpPr>
          <p:nvPr>
            <p:ph type="ftr" sz="quarter" idx="11"/>
          </p:nvPr>
        </p:nvSpPr>
        <p:spPr/>
        <p:txBody>
          <a:bodyPr/>
          <a:lstStyle/>
          <a:p>
            <a:r>
              <a:rPr lang="en-US"/>
              <a:t>SLIMS Java API Training          R4526A-CU660         For Research Use Only. Not for use in diagnostic procedures.</a:t>
            </a:r>
          </a:p>
        </p:txBody>
      </p:sp>
      <p:sp>
        <p:nvSpPr>
          <p:cNvPr id="4" name="Slide Number Placeholder 3">
            <a:extLst>
              <a:ext uri="{FF2B5EF4-FFF2-40B4-BE49-F238E27FC236}">
                <a16:creationId xmlns:a16="http://schemas.microsoft.com/office/drawing/2014/main" id="{1ECD04C0-4020-349B-DB89-242BA456F67E}"/>
              </a:ext>
            </a:extLst>
          </p:cNvPr>
          <p:cNvSpPr>
            <a:spLocks noGrp="1"/>
          </p:cNvSpPr>
          <p:nvPr>
            <p:ph type="sldNum" sz="quarter" idx="12"/>
          </p:nvPr>
        </p:nvSpPr>
        <p:spPr/>
        <p:txBody>
          <a:bodyPr/>
          <a:lstStyle/>
          <a:p>
            <a:fld id="{CBD803B2-A378-42BD-B5EC-F7748F169FE0}" type="slidenum">
              <a:rPr lang="en-US" smtClean="0"/>
              <a:pPr/>
              <a:t>41</a:t>
            </a:fld>
            <a:endParaRPr lang="en-US"/>
          </a:p>
        </p:txBody>
      </p:sp>
      <p:sp>
        <p:nvSpPr>
          <p:cNvPr id="5" name="Text Placeholder 4">
            <a:extLst>
              <a:ext uri="{FF2B5EF4-FFF2-40B4-BE49-F238E27FC236}">
                <a16:creationId xmlns:a16="http://schemas.microsoft.com/office/drawing/2014/main" id="{2914303F-DD06-47FF-4E8D-95A4EEA6C3F0}"/>
              </a:ext>
            </a:extLst>
          </p:cNvPr>
          <p:cNvSpPr>
            <a:spLocks noGrp="1"/>
          </p:cNvSpPr>
          <p:nvPr>
            <p:ph type="body" sz="quarter" idx="13"/>
          </p:nvPr>
        </p:nvSpPr>
        <p:spPr/>
        <p:txBody>
          <a:bodyPr vert="horz" lIns="0" tIns="45720" rIns="91440" bIns="45720" rtlCol="0" anchor="t">
            <a:normAutofit lnSpcReduction="10000"/>
          </a:bodyPr>
          <a:lstStyle/>
          <a:p>
            <a:r>
              <a:rPr lang="en-GB" dirty="0" err="1">
                <a:latin typeface="Arial"/>
                <a:ea typeface="Roboto"/>
                <a:cs typeface="Arial"/>
              </a:rPr>
              <a:t>ConvertRecordService</a:t>
            </a:r>
            <a:r>
              <a:rPr lang="en-GB" dirty="0">
                <a:latin typeface="Arial"/>
                <a:ea typeface="Roboto"/>
                <a:cs typeface="Arial"/>
              </a:rPr>
              <a:t> - </a:t>
            </a:r>
            <a:r>
              <a:rPr lang="en-GB" i="1" dirty="0">
                <a:latin typeface="Arial"/>
                <a:ea typeface="Roboto"/>
                <a:cs typeface="Arial"/>
              </a:rPr>
              <a:t>Display to PK</a:t>
            </a:r>
            <a:endParaRPr lang="en-GB" i="1" dirty="0"/>
          </a:p>
        </p:txBody>
      </p:sp>
      <p:sp>
        <p:nvSpPr>
          <p:cNvPr id="6" name="Title 5">
            <a:extLst>
              <a:ext uri="{FF2B5EF4-FFF2-40B4-BE49-F238E27FC236}">
                <a16:creationId xmlns:a16="http://schemas.microsoft.com/office/drawing/2014/main" id="{5D188F50-47AC-AFB8-28BF-E76DB61564CF}"/>
              </a:ext>
            </a:extLst>
          </p:cNvPr>
          <p:cNvSpPr>
            <a:spLocks noGrp="1"/>
          </p:cNvSpPr>
          <p:nvPr>
            <p:ph type="title"/>
          </p:nvPr>
        </p:nvSpPr>
        <p:spPr/>
        <p:txBody>
          <a:bodyPr>
            <a:normAutofit/>
          </a:bodyPr>
          <a:lstStyle/>
          <a:p>
            <a:r>
              <a:rPr lang="en-GB">
                <a:latin typeface="Arial"/>
                <a:ea typeface="Roboto Medium"/>
                <a:cs typeface="Arial"/>
              </a:rPr>
              <a:t>Useful services</a:t>
            </a:r>
            <a:endParaRPr lang="en-GB">
              <a:solidFill>
                <a:srgbClr val="000000"/>
              </a:solidFill>
              <a:latin typeface="Arial"/>
              <a:ea typeface="Roboto Medium"/>
              <a:cs typeface="Arial"/>
            </a:endParaRPr>
          </a:p>
        </p:txBody>
      </p:sp>
    </p:spTree>
    <p:extLst>
      <p:ext uri="{BB962C8B-B14F-4D97-AF65-F5344CB8AC3E}">
        <p14:creationId xmlns:p14="http://schemas.microsoft.com/office/powerpoint/2010/main" val="27173264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52C514D-F88B-4D9B-BF8C-27E26AC206F3}"/>
              </a:ext>
            </a:extLst>
          </p:cNvPr>
          <p:cNvSpPr>
            <a:spLocks noGrp="1"/>
          </p:cNvSpPr>
          <p:nvPr>
            <p:ph type="ftr" sz="quarter" idx="4294967295"/>
          </p:nvPr>
        </p:nvSpPr>
        <p:spPr>
          <a:xfrm>
            <a:off x="2615616" y="6619875"/>
            <a:ext cx="5395913" cy="119063"/>
          </a:xfrm>
        </p:spPr>
        <p:txBody>
          <a:bodyPr/>
          <a:lstStyle/>
          <a:p>
            <a:r>
              <a:rPr lang="en-US" dirty="0"/>
              <a:t>SLIMS Java API Training          R4526A-CU660         For Research Use Only. Not for use in diagnostic procedures.</a:t>
            </a:r>
          </a:p>
        </p:txBody>
      </p:sp>
      <p:sp>
        <p:nvSpPr>
          <p:cNvPr id="4" name="Slide Number Placeholder 3">
            <a:extLst>
              <a:ext uri="{FF2B5EF4-FFF2-40B4-BE49-F238E27FC236}">
                <a16:creationId xmlns:a16="http://schemas.microsoft.com/office/drawing/2014/main" id="{49E8A740-F84B-4003-9A3E-EA9208787493}"/>
              </a:ext>
            </a:extLst>
          </p:cNvPr>
          <p:cNvSpPr>
            <a:spLocks noGrp="1"/>
          </p:cNvSpPr>
          <p:nvPr>
            <p:ph type="sldNum" sz="quarter" idx="4294967295"/>
          </p:nvPr>
        </p:nvSpPr>
        <p:spPr>
          <a:xfrm>
            <a:off x="495449" y="6619875"/>
            <a:ext cx="530225" cy="119063"/>
          </a:xfrm>
        </p:spPr>
        <p:txBody>
          <a:bodyPr/>
          <a:lstStyle/>
          <a:p>
            <a:fld id="{CBD803B2-A378-42BD-B5EC-F7748F169FE0}" type="slidenum">
              <a:rPr lang="en-US" smtClean="0"/>
              <a:pPr/>
              <a:t>42</a:t>
            </a:fld>
            <a:endParaRPr lang="en-US" dirty="0"/>
          </a:p>
        </p:txBody>
      </p:sp>
      <p:pic>
        <p:nvPicPr>
          <p:cNvPr id="8" name="Picture 7">
            <a:extLst>
              <a:ext uri="{FF2B5EF4-FFF2-40B4-BE49-F238E27FC236}">
                <a16:creationId xmlns:a16="http://schemas.microsoft.com/office/drawing/2014/main" id="{F34A1E25-A947-4E30-83A7-B271A52FCE63}"/>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800986" y="0"/>
            <a:ext cx="10590028" cy="6486391"/>
          </a:xfrm>
          <a:prstGeom prst="rect">
            <a:avLst/>
          </a:prstGeom>
        </p:spPr>
      </p:pic>
      <p:sp>
        <p:nvSpPr>
          <p:cNvPr id="11" name="TextBox 10">
            <a:extLst>
              <a:ext uri="{FF2B5EF4-FFF2-40B4-BE49-F238E27FC236}">
                <a16:creationId xmlns:a16="http://schemas.microsoft.com/office/drawing/2014/main" id="{A06EE0C1-A772-41D9-B2F6-726E975AB070}"/>
              </a:ext>
            </a:extLst>
          </p:cNvPr>
          <p:cNvSpPr txBox="1"/>
          <p:nvPr/>
        </p:nvSpPr>
        <p:spPr>
          <a:xfrm>
            <a:off x="3861253" y="3348415"/>
            <a:ext cx="4469493" cy="1107996"/>
          </a:xfrm>
          <a:prstGeom prst="rect">
            <a:avLst/>
          </a:prstGeom>
          <a:noFill/>
        </p:spPr>
        <p:txBody>
          <a:bodyPr wrap="none" rtlCol="0">
            <a:spAutoFit/>
          </a:bodyPr>
          <a:lstStyle/>
          <a:p>
            <a:r>
              <a:rPr lang="en-US" sz="6600" dirty="0">
                <a:solidFill>
                  <a:schemeClr val="bg1"/>
                </a:solidFill>
              </a:rPr>
              <a:t>Questions?</a:t>
            </a:r>
          </a:p>
        </p:txBody>
      </p:sp>
    </p:spTree>
    <p:extLst>
      <p:ext uri="{BB962C8B-B14F-4D97-AF65-F5344CB8AC3E}">
        <p14:creationId xmlns:p14="http://schemas.microsoft.com/office/powerpoint/2010/main" val="734904185"/>
      </p:ext>
    </p:extLst>
  </p:cSld>
  <p:clrMapOvr>
    <a:masterClrMapping/>
  </p:clrMapOvr>
</p:sld>
</file>

<file path=ppt/theme/theme1.xml><?xml version="1.0" encoding="utf-8"?>
<a:theme xmlns:a="http://schemas.openxmlformats.org/drawingml/2006/main" name="AGILENT 16-9">
  <a:themeElements>
    <a:clrScheme name="AGILENT COLORS">
      <a:dk1>
        <a:srgbClr val="53565A"/>
      </a:dk1>
      <a:lt1>
        <a:srgbClr val="FFFFFF"/>
      </a:lt1>
      <a:dk2>
        <a:srgbClr val="000000"/>
      </a:dk2>
      <a:lt2>
        <a:srgbClr val="FFFFFF"/>
      </a:lt2>
      <a:accent1>
        <a:srgbClr val="0085D5"/>
      </a:accent1>
      <a:accent2>
        <a:srgbClr val="F2A900"/>
      </a:accent2>
      <a:accent3>
        <a:srgbClr val="84BD00"/>
      </a:accent3>
      <a:accent4>
        <a:srgbClr val="00A9E0"/>
      </a:accent4>
      <a:accent5>
        <a:srgbClr val="00426A"/>
      </a:accent5>
      <a:accent6>
        <a:srgbClr val="D6001C"/>
      </a:accent6>
      <a:hlink>
        <a:srgbClr val="0085D5"/>
      </a:hlink>
      <a:folHlink>
        <a:srgbClr val="80276C"/>
      </a:folHlink>
    </a:clrScheme>
    <a:fontScheme name="AGILENT PPT &amp; OUTLOO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dirty="0" smtClean="0"/>
        </a:defPPr>
      </a:lstStyle>
    </a:txDef>
  </a:objectDefaults>
  <a:extraClrSchemeLst/>
  <a:extLst>
    <a:ext uri="{05A4C25C-085E-4340-85A3-A5531E510DB2}">
      <thm15:themeFamily xmlns:thm15="http://schemas.microsoft.com/office/thememl/2012/main" name="Agilent 16-9" id="{7E841060-D5C7-486A-8711-D22BC8274CDC}" vid="{DD1B3FA0-2D25-4DD8-BF65-1DF48D86B6B2}"/>
    </a:ext>
  </a:extLst>
</a:theme>
</file>

<file path=ppt/theme/theme2.xml><?xml version="1.0" encoding="utf-8"?>
<a:theme xmlns:a="http://schemas.openxmlformats.org/drawingml/2006/main" name="Office Theme">
  <a:themeElements>
    <a:clrScheme name="AGILENT COLORS">
      <a:dk1>
        <a:srgbClr val="000000"/>
      </a:dk1>
      <a:lt1>
        <a:srgbClr val="FFFFFF"/>
      </a:lt1>
      <a:dk2>
        <a:srgbClr val="292929"/>
      </a:dk2>
      <a:lt2>
        <a:srgbClr val="FFFFFF"/>
      </a:lt2>
      <a:accent1>
        <a:srgbClr val="0085D5"/>
      </a:accent1>
      <a:accent2>
        <a:srgbClr val="FFBA00"/>
      </a:accent2>
      <a:accent3>
        <a:srgbClr val="7EAC28"/>
      </a:accent3>
      <a:accent4>
        <a:srgbClr val="672069"/>
      </a:accent4>
      <a:accent5>
        <a:srgbClr val="003972"/>
      </a:accent5>
      <a:accent6>
        <a:srgbClr val="B21811"/>
      </a:accent6>
      <a:hlink>
        <a:srgbClr val="0085D5"/>
      </a:hlink>
      <a:folHlink>
        <a:srgbClr val="672069"/>
      </a:folHlink>
    </a:clrScheme>
    <a:fontScheme name="AGILENT PPT &amp; OUTLOOK">
      <a:majorFont>
        <a:latin typeface="Arial"/>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GILENT COLORS">
      <a:dk1>
        <a:srgbClr val="000000"/>
      </a:dk1>
      <a:lt1>
        <a:srgbClr val="FFFFFF"/>
      </a:lt1>
      <a:dk2>
        <a:srgbClr val="292929"/>
      </a:dk2>
      <a:lt2>
        <a:srgbClr val="FFFFFF"/>
      </a:lt2>
      <a:accent1>
        <a:srgbClr val="0085D5"/>
      </a:accent1>
      <a:accent2>
        <a:srgbClr val="FFBA00"/>
      </a:accent2>
      <a:accent3>
        <a:srgbClr val="7EAC28"/>
      </a:accent3>
      <a:accent4>
        <a:srgbClr val="672069"/>
      </a:accent4>
      <a:accent5>
        <a:srgbClr val="003972"/>
      </a:accent5>
      <a:accent6>
        <a:srgbClr val="B21811"/>
      </a:accent6>
      <a:hlink>
        <a:srgbClr val="0085D5"/>
      </a:hlink>
      <a:folHlink>
        <a:srgbClr val="672069"/>
      </a:folHlink>
    </a:clrScheme>
    <a:fontScheme name="AGILENT PPT &amp; OUTLOOK">
      <a:majorFont>
        <a:latin typeface="Arial"/>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2700F89596C9545BF0C4ECBD7ECD4DC" ma:contentTypeVersion="8" ma:contentTypeDescription="Create a new document." ma:contentTypeScope="" ma:versionID="152f40ec7e4caf7457b8bc1d1b73ed0d">
  <xsd:schema xmlns:xsd="http://www.w3.org/2001/XMLSchema" xmlns:xs="http://www.w3.org/2001/XMLSchema" xmlns:p="http://schemas.microsoft.com/office/2006/metadata/properties" xmlns:ns2="217fdf54-a9eb-4459-8102-27f3c91db165" targetNamespace="http://schemas.microsoft.com/office/2006/metadata/properties" ma:root="true" ma:fieldsID="67ef2521221f64a23b1ddc3db791309b" ns2:_="">
    <xsd:import namespace="217fdf54-a9eb-4459-8102-27f3c91db165"/>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7fdf54-a9eb-4459-8102-27f3c91db1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1D32320-118A-445F-B8C8-EDE3FB0F23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7fdf54-a9eb-4459-8102-27f3c91db1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AB871D6-81B8-499C-9C04-C457CAF978E4}">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110400df-9620-42a6-89b4-69cbb669b51b"/>
    <ds:schemaRef ds:uri="be442299-cdc3-4791-b5fd-6fccd5a09cd9"/>
    <ds:schemaRef ds:uri="http://purl.org/dc/term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C9584F15-3D4C-44C7-A5D6-DE964780DD3B}">
  <ds:schemaRefs>
    <ds:schemaRef ds:uri="http://schemas.microsoft.com/sharepoint/v3/contenttype/forms"/>
  </ds:schemaRefs>
</ds:datastoreItem>
</file>

<file path=docMetadata/LabelInfo.xml><?xml version="1.0" encoding="utf-8"?>
<clbl:labelList xmlns:clbl="http://schemas.microsoft.com/office/2020/mipLabelMetadata">
  <clbl:label id="{8fcaca1c-04b8-40d7-944e-e72f4105afe1}" enabled="1" method="Standard" siteId="{a9c0bc09-8b46-4206-9351-2ba12fb4a5c0}" removed="0"/>
</clbl:labelList>
</file>

<file path=docProps/app.xml><?xml version="1.0" encoding="utf-8"?>
<Properties xmlns="http://schemas.openxmlformats.org/officeDocument/2006/extended-properties" xmlns:vt="http://schemas.openxmlformats.org/officeDocument/2006/docPropsVTypes">
  <TotalTime>0</TotalTime>
  <Words>5405</Words>
  <Application>Microsoft Office PowerPoint</Application>
  <PresentationFormat>Widescreen</PresentationFormat>
  <Paragraphs>845</Paragraphs>
  <Slides>42</Slides>
  <Notes>30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Arial</vt:lpstr>
      <vt:lpstr>Calibri</vt:lpstr>
      <vt:lpstr>Consolas</vt:lpstr>
      <vt:lpstr>Courier New</vt:lpstr>
      <vt:lpstr>Lucida Console</vt:lpstr>
      <vt:lpstr>Open Sans</vt:lpstr>
      <vt:lpstr>Roboto</vt:lpstr>
      <vt:lpstr>Roboto Light</vt:lpstr>
      <vt:lpstr>Segoe UI Emoji</vt:lpstr>
      <vt:lpstr>Wingdings</vt:lpstr>
      <vt:lpstr>AGILENT 16-9</vt:lpstr>
      <vt:lpstr>SLIMS Java API Training</vt:lpstr>
      <vt:lpstr>Agenda</vt:lpstr>
      <vt:lpstr>SLIMS Architecture</vt:lpstr>
      <vt:lpstr>SLIMS Architecture</vt:lpstr>
      <vt:lpstr>SLIMS Rest API</vt:lpstr>
      <vt:lpstr>SLIMS Python API</vt:lpstr>
      <vt:lpstr>SLIMS GATE – Java API</vt:lpstr>
      <vt:lpstr>SLIMS GATE – Java API</vt:lpstr>
      <vt:lpstr>SLIMS GATE - Plugin</vt:lpstr>
      <vt:lpstr>0. Set up the environment</vt:lpstr>
      <vt:lpstr>Demonstration: Say Hello Example</vt:lpstr>
      <vt:lpstr>settings.gradle</vt:lpstr>
      <vt:lpstr>build.gradle</vt:lpstr>
      <vt:lpstr>plugin.properties and CustomConfiguration</vt:lpstr>
      <vt:lpstr>Set the plugin.properties</vt:lpstr>
      <vt:lpstr>Set the CustomConfiguration</vt:lpstr>
      <vt:lpstr>plugin.properties</vt:lpstr>
      <vt:lpstr>Say Hello Example</vt:lpstr>
      <vt:lpstr>SpringConfig.java</vt:lpstr>
      <vt:lpstr>slimsgate.xml</vt:lpstr>
      <vt:lpstr>slimsgate.xml - Parameters</vt:lpstr>
      <vt:lpstr>slimsgate.xml – Step Parameters</vt:lpstr>
      <vt:lpstr>slimsgate.xml – Input Parameters</vt:lpstr>
      <vt:lpstr>slimsgate.xml – Output Parameters</vt:lpstr>
      <vt:lpstr>Camel-context.xml</vt:lpstr>
      <vt:lpstr>SayHelloBuilder.xml</vt:lpstr>
      <vt:lpstr>SayHello.java</vt:lpstr>
      <vt:lpstr>SayHello.java</vt:lpstr>
      <vt:lpstr>1. Test the Example</vt:lpstr>
      <vt:lpstr>2. Create Your Own Example</vt:lpstr>
      <vt:lpstr>3. Logging and Errors</vt:lpstr>
      <vt:lpstr>4. Database Queries</vt:lpstr>
      <vt:lpstr>5. Updating/Adding Records</vt:lpstr>
      <vt:lpstr>6. Use SLIMS Services</vt:lpstr>
      <vt:lpstr>7. Use Input Parameter</vt:lpstr>
      <vt:lpstr>8. Use Custom Configuration</vt:lpstr>
      <vt:lpstr>Best practices</vt:lpstr>
      <vt:lpstr>Best practices</vt:lpstr>
      <vt:lpstr>Useful services</vt:lpstr>
      <vt:lpstr>Useful services</vt:lpstr>
      <vt:lpstr>Useful services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2021-03-15T11:22:59Z</dcterms:created>
  <dcterms:modified xsi:type="dcterms:W3CDTF">2026-02-23T08:58:25Z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0x010100E2700F89596C9545BF0C4ECBD7ECD4DC</vt:lpwstr>
  </property>
</Properties>
</file>